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1"/>
  </p:sldMasterIdLst>
  <p:notesMasterIdLst>
    <p:notesMasterId r:id="rId35"/>
  </p:notesMasterIdLst>
  <p:sldIdLst>
    <p:sldId id="1580" r:id="rId2"/>
    <p:sldId id="1792" r:id="rId3"/>
    <p:sldId id="319" r:id="rId4"/>
    <p:sldId id="1812" r:id="rId5"/>
    <p:sldId id="1796" r:id="rId6"/>
    <p:sldId id="1799" r:id="rId7"/>
    <p:sldId id="1810" r:id="rId8"/>
    <p:sldId id="1818" r:id="rId9"/>
    <p:sldId id="1793" r:id="rId10"/>
    <p:sldId id="1809" r:id="rId11"/>
    <p:sldId id="1784" r:id="rId12"/>
    <p:sldId id="1785" r:id="rId13"/>
    <p:sldId id="1786" r:id="rId14"/>
    <p:sldId id="1787" r:id="rId15"/>
    <p:sldId id="1807" r:id="rId16"/>
    <p:sldId id="1806" r:id="rId17"/>
    <p:sldId id="1800" r:id="rId18"/>
    <p:sldId id="258" r:id="rId19"/>
    <p:sldId id="1819" r:id="rId20"/>
    <p:sldId id="1808" r:id="rId21"/>
    <p:sldId id="1801" r:id="rId22"/>
    <p:sldId id="1802" r:id="rId23"/>
    <p:sldId id="1814" r:id="rId24"/>
    <p:sldId id="1820" r:id="rId25"/>
    <p:sldId id="1815" r:id="rId26"/>
    <p:sldId id="1817" r:id="rId27"/>
    <p:sldId id="1827" r:id="rId28"/>
    <p:sldId id="1822" r:id="rId29"/>
    <p:sldId id="1823" r:id="rId30"/>
    <p:sldId id="1805" r:id="rId31"/>
    <p:sldId id="1789" r:id="rId32"/>
    <p:sldId id="1791" r:id="rId33"/>
    <p:sldId id="1811" r:id="rId34"/>
  </p:sldIdLst>
  <p:sldSz cx="9144000" cy="5143500" type="screen16x9"/>
  <p:notesSz cx="6858000" cy="9144000"/>
  <p:defaultTextStyle>
    <a:defPPr>
      <a:defRPr lang="pl-P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5047"/>
    <p:restoredTop sz="94631"/>
  </p:normalViewPr>
  <p:slideViewPr>
    <p:cSldViewPr snapToGrid="0" snapToObjects="1">
      <p:cViewPr varScale="1">
        <p:scale>
          <a:sx n="109" d="100"/>
          <a:sy n="109" d="100"/>
        </p:scale>
        <p:origin x="192" y="3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3402D6-52B6-5541-8BB9-797FC43F58CD}" type="datetimeFigureOut">
              <a:t>7.10.2026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8FC547-15F3-F143-B10C-B928029B9414}" type="slidenum"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74761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ADB71-6E60-0573-927D-468815CC6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5A4255-6ACD-255E-82D4-ADA3A69810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0C9E97-BB59-124D-DC2C-09541DB83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79554-B511-8497-314B-BFD796E8FE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121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1B762-6796-86CF-FBAF-9A6D9CF50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CBACDD-8F77-7627-082F-0341A4DB4C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0AFC03-DDA0-D1FA-D969-77E518433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2A9F9-3B9F-E11A-9C99-C313B3A5A6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3494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D1C15-FCB7-0D8C-E4D5-8DFC3A1BB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153C38-BC91-D008-6DF1-0909BB59C4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C6FCAE-A7E4-436F-760D-50089EC851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9E97B-C891-4196-5F39-438FB2E082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636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/>
              <a:t>7.10.2026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81027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/>
              <a:t>7.10.2026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85167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/>
              <a:t>7.10.2026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98230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/>
              <a:t>7.10.2026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16062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/>
              <a:t>7.10.2026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37283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/>
              <a:t>7.10.2026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73412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/>
              <a:t>7.10.2026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53090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/>
              <a:t>7.10.2026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7217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wa - Praw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ymbol zastępczy tekstu 6"/>
          <p:cNvSpPr>
            <a:spLocks noGrp="1"/>
          </p:cNvSpPr>
          <p:nvPr>
            <p:ph type="body" sz="quarter" idx="10"/>
          </p:nvPr>
        </p:nvSpPr>
        <p:spPr>
          <a:xfrm>
            <a:off x="985899" y="1806180"/>
            <a:ext cx="3240088" cy="912019"/>
          </a:xfrm>
        </p:spPr>
        <p:txBody>
          <a:bodyPr anchor="ctr"/>
          <a:lstStyle>
            <a:lvl1pPr marL="0" indent="0" algn="r">
              <a:buNone/>
              <a:defRPr sz="3300"/>
            </a:lvl1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8" name="Symbol zastępczy tekstu 6"/>
          <p:cNvSpPr>
            <a:spLocks noGrp="1"/>
          </p:cNvSpPr>
          <p:nvPr>
            <p:ph type="body" sz="quarter" idx="11"/>
          </p:nvPr>
        </p:nvSpPr>
        <p:spPr>
          <a:xfrm>
            <a:off x="4422180" y="1806180"/>
            <a:ext cx="3240088" cy="912019"/>
          </a:xfrm>
        </p:spPr>
        <p:txBody>
          <a:bodyPr anchor="ctr"/>
          <a:lstStyle>
            <a:lvl1pPr marL="0" indent="0" algn="l">
              <a:buNone/>
              <a:defRPr sz="3300"/>
            </a:lvl1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3539996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l-PL"/>
              <a:t>Kliknij ikonę, aby dodać obraz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/>
              <a:t>7.10.2026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8663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/>
              <a:t>7.10.2026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81139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/>
              <a:t>7.10.2026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158945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815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6805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tint val="75000"/>
                  </a:schemeClr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</a:lstStyle>
          <a:p>
            <a:fld id="{91FA8B05-0052-1A4C-B7E6-43F0EFB84FAB}" type="datetimeFigureOut">
              <a:rPr lang="pl-PL" smtClean="0"/>
              <a:t>7.10.2026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i="0">
                <a:solidFill>
                  <a:schemeClr val="tx1">
                    <a:tint val="75000"/>
                  </a:schemeClr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tint val="75000"/>
                  </a:schemeClr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</a:lstStyle>
          <a:p>
            <a:fld id="{9CF64DEC-F64D-4E40-99B7-A86FBEE60E7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2500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</p:sldLayoutIdLst>
  <p:txStyles>
    <p:titleStyle>
      <a:lvl1pPr algn="ctr" defTabSz="685800" rtl="0" eaLnBrk="1" latinLnBrk="0" hangingPunct="1">
        <a:spcBef>
          <a:spcPct val="0"/>
        </a:spcBef>
        <a:buNone/>
        <a:defRPr sz="33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>
            <a:extLst>
              <a:ext uri="{FF2B5EF4-FFF2-40B4-BE49-F238E27FC236}">
                <a16:creationId xmlns:a16="http://schemas.microsoft.com/office/drawing/2014/main" id="{D1D8119D-A7B9-424E-9DF4-F1C78DAE42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chemeClr val="bg1">
                    <a:lumMod val="50000"/>
                  </a:schemeClr>
                </a:solidFill>
              </a:rPr>
              <a:t>Complexity:</a:t>
            </a:r>
            <a:r>
              <a:rPr lang="en-US" sz="4400" dirty="0"/>
              <a:t> data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7B14458-ECCD-C9A2-F2F8-AF7E6A8133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41152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>
            <a:extLst>
              <a:ext uri="{FF2B5EF4-FFF2-40B4-BE49-F238E27FC236}">
                <a16:creationId xmlns:a16="http://schemas.microsoft.com/office/drawing/2014/main" id="{D1D8119D-A7B9-424E-9DF4-F1C78DAE42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Extraction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7B14458-ECCD-C9A2-F2F8-AF7E6A8133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56457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 3">
            <a:extLst>
              <a:ext uri="{FF2B5EF4-FFF2-40B4-BE49-F238E27FC236}">
                <a16:creationId xmlns:a16="http://schemas.microsoft.com/office/drawing/2014/main" id="{F6FB1EBB-8F4E-A1CE-35C6-D7CFB2700AB2}"/>
              </a:ext>
            </a:extLst>
          </p:cNvPr>
          <p:cNvSpPr/>
          <p:nvPr/>
        </p:nvSpPr>
        <p:spPr>
          <a:xfrm>
            <a:off x="118532" y="544286"/>
            <a:ext cx="2722639" cy="3080657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4708C597-3785-046E-2B3E-121F62C60EFF}"/>
              </a:ext>
            </a:extLst>
          </p:cNvPr>
          <p:cNvSpPr/>
          <p:nvPr/>
        </p:nvSpPr>
        <p:spPr>
          <a:xfrm>
            <a:off x="2991153" y="544286"/>
            <a:ext cx="4374847" cy="3080657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/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C1A7FA72-D8A4-9E48-D5E1-EECE70EB9CB9}"/>
              </a:ext>
            </a:extLst>
          </p:cNvPr>
          <p:cNvSpPr/>
          <p:nvPr/>
        </p:nvSpPr>
        <p:spPr>
          <a:xfrm>
            <a:off x="7461554" y="544285"/>
            <a:ext cx="1563914" cy="4146248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/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4B5A0B7E-0969-D56D-D9F7-D7584B4E9B27}"/>
              </a:ext>
            </a:extLst>
          </p:cNvPr>
          <p:cNvSpPr/>
          <p:nvPr/>
        </p:nvSpPr>
        <p:spPr>
          <a:xfrm>
            <a:off x="217414" y="774095"/>
            <a:ext cx="1032329" cy="546706"/>
          </a:xfrm>
          <a:prstGeom prst="rect">
            <a:avLst/>
          </a:prstGeom>
          <a:solidFill>
            <a:schemeClr val="accent4"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40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BFFC6624-C17E-CDA7-BFF5-87E6D25E0731}"/>
              </a:ext>
            </a:extLst>
          </p:cNvPr>
          <p:cNvSpPr/>
          <p:nvPr/>
        </p:nvSpPr>
        <p:spPr>
          <a:xfrm>
            <a:off x="214090" y="2634038"/>
            <a:ext cx="1032329" cy="744463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8FC5AC4F-B5E5-E92B-083D-E4C1D26DADE7}"/>
              </a:ext>
            </a:extLst>
          </p:cNvPr>
          <p:cNvSpPr/>
          <p:nvPr/>
        </p:nvSpPr>
        <p:spPr>
          <a:xfrm>
            <a:off x="1590224" y="2634038"/>
            <a:ext cx="1032329" cy="744463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9A0218DC-624A-1251-D9EA-2E7F4AED5841}"/>
              </a:ext>
            </a:extLst>
          </p:cNvPr>
          <p:cNvSpPr/>
          <p:nvPr/>
        </p:nvSpPr>
        <p:spPr>
          <a:xfrm>
            <a:off x="3184976" y="2634038"/>
            <a:ext cx="1032329" cy="744463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DB5DC1AD-FA1C-D9A8-5119-0C9BEEC67F99}"/>
              </a:ext>
            </a:extLst>
          </p:cNvPr>
          <p:cNvSpPr/>
          <p:nvPr/>
        </p:nvSpPr>
        <p:spPr>
          <a:xfrm>
            <a:off x="4641847" y="2634038"/>
            <a:ext cx="1032329" cy="744463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1EDFDCDF-0551-C40E-CA50-7FF7730A9FFD}"/>
              </a:ext>
            </a:extLst>
          </p:cNvPr>
          <p:cNvSpPr/>
          <p:nvPr/>
        </p:nvSpPr>
        <p:spPr>
          <a:xfrm>
            <a:off x="6098718" y="2634038"/>
            <a:ext cx="1032329" cy="744463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71D787BF-B53B-6227-2691-4C4F25CB2B1F}"/>
              </a:ext>
            </a:extLst>
          </p:cNvPr>
          <p:cNvSpPr/>
          <p:nvPr/>
        </p:nvSpPr>
        <p:spPr>
          <a:xfrm>
            <a:off x="7559522" y="2634038"/>
            <a:ext cx="1032329" cy="744463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AB625936-29EE-DE31-E6DD-289635BFC4BA}"/>
              </a:ext>
            </a:extLst>
          </p:cNvPr>
          <p:cNvSpPr/>
          <p:nvPr/>
        </p:nvSpPr>
        <p:spPr>
          <a:xfrm>
            <a:off x="7559522" y="3763886"/>
            <a:ext cx="1032329" cy="469448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Prostokąt 16">
            <a:extLst>
              <a:ext uri="{FF2B5EF4-FFF2-40B4-BE49-F238E27FC236}">
                <a16:creationId xmlns:a16="http://schemas.microsoft.com/office/drawing/2014/main" id="{159412C8-233A-80AE-B563-7226D4CA8C93}"/>
              </a:ext>
            </a:extLst>
          </p:cNvPr>
          <p:cNvSpPr/>
          <p:nvPr/>
        </p:nvSpPr>
        <p:spPr>
          <a:xfrm>
            <a:off x="2082800" y="3996267"/>
            <a:ext cx="1328961" cy="602947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Prostokąt 17">
            <a:extLst>
              <a:ext uri="{FF2B5EF4-FFF2-40B4-BE49-F238E27FC236}">
                <a16:creationId xmlns:a16="http://schemas.microsoft.com/office/drawing/2014/main" id="{CEC98D2F-3146-4BD0-AB84-97E3CE91258F}"/>
              </a:ext>
            </a:extLst>
          </p:cNvPr>
          <p:cNvSpPr/>
          <p:nvPr/>
        </p:nvSpPr>
        <p:spPr>
          <a:xfrm>
            <a:off x="4107696" y="3996267"/>
            <a:ext cx="1328961" cy="602947"/>
          </a:xfrm>
          <a:prstGeom prst="rect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0" name="Łącznik prosty ze strzałką 19">
            <a:extLst>
              <a:ext uri="{FF2B5EF4-FFF2-40B4-BE49-F238E27FC236}">
                <a16:creationId xmlns:a16="http://schemas.microsoft.com/office/drawing/2014/main" id="{D97487EA-6853-58F7-D126-D57D60BD993C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733579" y="1320801"/>
            <a:ext cx="0" cy="22980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50D33394-B0FE-ADED-AC23-AA43EE1E840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730254" y="2295073"/>
            <a:ext cx="1" cy="33896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Łącznik prosty ze strzałką 24">
            <a:extLst>
              <a:ext uri="{FF2B5EF4-FFF2-40B4-BE49-F238E27FC236}">
                <a16:creationId xmlns:a16="http://schemas.microsoft.com/office/drawing/2014/main" id="{50260218-9319-4641-2A99-96F4F3A40F7C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249743" y="3006269"/>
            <a:ext cx="340481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Łącznik prosty ze strzałką 27">
            <a:extLst>
              <a:ext uri="{FF2B5EF4-FFF2-40B4-BE49-F238E27FC236}">
                <a16:creationId xmlns:a16="http://schemas.microsoft.com/office/drawing/2014/main" id="{564E564F-01F6-CF97-2BE2-D7F561591235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622553" y="3006269"/>
            <a:ext cx="562423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Łącznik prosty ze strzałką 30">
            <a:extLst>
              <a:ext uri="{FF2B5EF4-FFF2-40B4-BE49-F238E27FC236}">
                <a16:creationId xmlns:a16="http://schemas.microsoft.com/office/drawing/2014/main" id="{BC68A571-0561-B950-E52D-8E753CCA0D70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4217305" y="3006270"/>
            <a:ext cx="42454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Łącznik prosty ze strzałką 31">
            <a:extLst>
              <a:ext uri="{FF2B5EF4-FFF2-40B4-BE49-F238E27FC236}">
                <a16:creationId xmlns:a16="http://schemas.microsoft.com/office/drawing/2014/main" id="{FD6EF649-BB33-16F7-719D-434B0834A3DB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5674176" y="3006270"/>
            <a:ext cx="42454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Łącznik prosty ze strzałką 32">
            <a:extLst>
              <a:ext uri="{FF2B5EF4-FFF2-40B4-BE49-F238E27FC236}">
                <a16:creationId xmlns:a16="http://schemas.microsoft.com/office/drawing/2014/main" id="{497B2EB8-CF19-E5CB-FE7E-A2CAFD39CE4B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3411761" y="4297741"/>
            <a:ext cx="69593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Łącznik prosty ze strzałką 39">
            <a:extLst>
              <a:ext uri="{FF2B5EF4-FFF2-40B4-BE49-F238E27FC236}">
                <a16:creationId xmlns:a16="http://schemas.microsoft.com/office/drawing/2014/main" id="{DFC4AAAA-B703-9D4A-645E-5AF4AF4B8C54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7131047" y="3006270"/>
            <a:ext cx="42847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Łącznik prosty ze strzałką 46">
            <a:extLst>
              <a:ext uri="{FF2B5EF4-FFF2-40B4-BE49-F238E27FC236}">
                <a16:creationId xmlns:a16="http://schemas.microsoft.com/office/drawing/2014/main" id="{5B10881D-1383-A2D2-B9DF-1F87A8373A30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8075687" y="3378501"/>
            <a:ext cx="0" cy="38538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Łącznik łamany 50">
            <a:extLst>
              <a:ext uri="{FF2B5EF4-FFF2-40B4-BE49-F238E27FC236}">
                <a16:creationId xmlns:a16="http://schemas.microsoft.com/office/drawing/2014/main" id="{DAACFCA3-2BFF-D74A-8F2D-6955DFDA1B37}"/>
              </a:ext>
            </a:extLst>
          </p:cNvPr>
          <p:cNvCxnSpPr>
            <a:cxnSpLocks/>
            <a:endCxn id="18" idx="3"/>
          </p:cNvCxnSpPr>
          <p:nvPr/>
        </p:nvCxnSpPr>
        <p:spPr>
          <a:xfrm rot="10800000" flipV="1">
            <a:off x="5436658" y="3202665"/>
            <a:ext cx="2117119" cy="1095075"/>
          </a:xfrm>
          <a:prstGeom prst="bentConnector3">
            <a:avLst>
              <a:gd name="adj1" fmla="val 6809"/>
            </a:avLst>
          </a:prstGeom>
          <a:ln>
            <a:solidFill>
              <a:schemeClr val="bg1">
                <a:lumMod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wal 54">
            <a:extLst>
              <a:ext uri="{FF2B5EF4-FFF2-40B4-BE49-F238E27FC236}">
                <a16:creationId xmlns:a16="http://schemas.microsoft.com/office/drawing/2014/main" id="{3702B4B5-FAE0-974A-6C13-F4570B5BC3FB}"/>
              </a:ext>
            </a:extLst>
          </p:cNvPr>
          <p:cNvSpPr/>
          <p:nvPr/>
        </p:nvSpPr>
        <p:spPr>
          <a:xfrm>
            <a:off x="8268237" y="637655"/>
            <a:ext cx="658349" cy="658349"/>
          </a:xfrm>
          <a:prstGeom prst="ellipse">
            <a:avLst/>
          </a:prstGeom>
          <a:solidFill>
            <a:schemeClr val="accent3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6" name="Łącznik łamany 55">
            <a:extLst>
              <a:ext uri="{FF2B5EF4-FFF2-40B4-BE49-F238E27FC236}">
                <a16:creationId xmlns:a16="http://schemas.microsoft.com/office/drawing/2014/main" id="{D5E6FCC3-F583-FF3D-3140-EC2EC46F326A}"/>
              </a:ext>
            </a:extLst>
          </p:cNvPr>
          <p:cNvCxnSpPr>
            <a:cxnSpLocks/>
            <a:stCxn id="14" idx="3"/>
            <a:endCxn id="55" idx="4"/>
          </p:cNvCxnSpPr>
          <p:nvPr/>
        </p:nvCxnSpPr>
        <p:spPr>
          <a:xfrm flipV="1">
            <a:off x="8591851" y="1296004"/>
            <a:ext cx="5561" cy="1710266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Łącznik łamany 22">
            <a:extLst>
              <a:ext uri="{FF2B5EF4-FFF2-40B4-BE49-F238E27FC236}">
                <a16:creationId xmlns:a16="http://schemas.microsoft.com/office/drawing/2014/main" id="{4E365F28-858B-70A6-684F-E65A968F82DE}"/>
              </a:ext>
            </a:extLst>
          </p:cNvPr>
          <p:cNvCxnSpPr>
            <a:stCxn id="17" idx="1"/>
            <a:endCxn id="9" idx="2"/>
          </p:cNvCxnSpPr>
          <p:nvPr/>
        </p:nvCxnSpPr>
        <p:spPr>
          <a:xfrm rot="10800000">
            <a:off x="730256" y="3378501"/>
            <a:ext cx="1352545" cy="919240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rostokąt 1">
            <a:extLst>
              <a:ext uri="{FF2B5EF4-FFF2-40B4-BE49-F238E27FC236}">
                <a16:creationId xmlns:a16="http://schemas.microsoft.com/office/drawing/2014/main" id="{1E5E96FE-735B-0E41-F39A-0AAC9CE606D1}"/>
              </a:ext>
            </a:extLst>
          </p:cNvPr>
          <p:cNvSpPr/>
          <p:nvPr/>
        </p:nvSpPr>
        <p:spPr>
          <a:xfrm>
            <a:off x="214090" y="1550610"/>
            <a:ext cx="1032329" cy="744463"/>
          </a:xfrm>
          <a:prstGeom prst="rect">
            <a:avLst/>
          </a:prstGeom>
          <a:solidFill>
            <a:schemeClr val="accent1">
              <a:lumMod val="40000"/>
              <a:lumOff val="60000"/>
              <a:alpha val="7461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>
                <a:solidFill>
                  <a:schemeClr val="tx1"/>
                </a:solidFill>
              </a:rPr>
              <a:t>Extraction</a:t>
            </a:r>
          </a:p>
        </p:txBody>
      </p:sp>
    </p:spTree>
    <p:extLst>
      <p:ext uri="{BB962C8B-B14F-4D97-AF65-F5344CB8AC3E}">
        <p14:creationId xmlns:p14="http://schemas.microsoft.com/office/powerpoint/2010/main" val="1402147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FFA4D-4B17-A6A2-769D-941ABA9DA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A3BC300-65CA-87F8-7820-AC86EF8BFF2A}"/>
              </a:ext>
            </a:extLst>
          </p:cNvPr>
          <p:cNvSpPr/>
          <p:nvPr/>
        </p:nvSpPr>
        <p:spPr>
          <a:xfrm>
            <a:off x="685800" y="789385"/>
            <a:ext cx="7700963" cy="328613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>
            <a:noAutofit/>
          </a:bodyPr>
          <a:lstStyle/>
          <a:p>
            <a:pPr>
              <a:lnSpc>
                <a:spcPct val="123529"/>
              </a:lnSpc>
            </a:pPr>
            <a:r>
              <a:rPr lang="en-US" sz="2400" kern="0" spc="-17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new deficit is not capacity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C85F475-EEE2-728F-4C69-25F8DF890DFD}"/>
              </a:ext>
            </a:extLst>
          </p:cNvPr>
          <p:cNvSpPr/>
          <p:nvPr/>
        </p:nvSpPr>
        <p:spPr>
          <a:xfrm>
            <a:off x="685800" y="1289447"/>
            <a:ext cx="3786188" cy="2443163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3C4043">
                <a:alpha val="30000"/>
              </a:srgbClr>
            </a:outerShdw>
          </a:effectLst>
        </p:spPr>
        <p:txBody>
          <a:bodyPr/>
          <a:lstStyle/>
          <a:p>
            <a:endParaRPr lang="pl-PL" sz="16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3CC09E1-5F01-F3E0-69E4-9A547FFD194F}"/>
              </a:ext>
            </a:extLst>
          </p:cNvPr>
          <p:cNvSpPr/>
          <p:nvPr/>
        </p:nvSpPr>
        <p:spPr>
          <a:xfrm>
            <a:off x="685800" y="1289448"/>
            <a:ext cx="3786188" cy="35719"/>
          </a:xfrm>
          <a:prstGeom prst="rect">
            <a:avLst/>
          </a:prstGeom>
          <a:solidFill>
            <a:srgbClr val="BDC1C6"/>
          </a:solidFill>
          <a:ln/>
        </p:spPr>
        <p:txBody>
          <a:bodyPr/>
          <a:lstStyle/>
          <a:p>
            <a:endParaRPr lang="pl-PL" sz="16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21000D0-06DA-2A24-7861-6BF3AB8AEF5E}"/>
              </a:ext>
            </a:extLst>
          </p:cNvPr>
          <p:cNvSpPr/>
          <p:nvPr/>
        </p:nvSpPr>
        <p:spPr>
          <a:xfrm>
            <a:off x="942976" y="1546623"/>
            <a:ext cx="3599021" cy="160735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>
            <a:noAutofit/>
          </a:bodyPr>
          <a:lstStyle/>
          <a:p>
            <a:r>
              <a:rPr lang="en-US" sz="900" dirty="0">
                <a:solidFill>
                  <a:srgbClr val="9AA0A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2015 · technical problem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EF607E1-00A7-6183-F655-10F544ECD97B}"/>
              </a:ext>
            </a:extLst>
          </p:cNvPr>
          <p:cNvSpPr/>
          <p:nvPr/>
        </p:nvSpPr>
        <p:spPr>
          <a:xfrm>
            <a:off x="942976" y="1750219"/>
            <a:ext cx="3599021" cy="22860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>
            <a:noAutofit/>
          </a:bodyPr>
          <a:lstStyle/>
          <a:p>
            <a:pPr>
              <a:lnSpc>
                <a:spcPct val="127273"/>
              </a:lnSpc>
            </a:pPr>
            <a:r>
              <a:rPr lang="en-US" sz="14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Will we manage to store it?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B534934-136F-540A-F162-17A7DC9D3211}"/>
              </a:ext>
            </a:extLst>
          </p:cNvPr>
          <p:cNvSpPr/>
          <p:nvPr/>
        </p:nvSpPr>
        <p:spPr>
          <a:xfrm>
            <a:off x="942976" y="2050256"/>
            <a:ext cx="3599021" cy="1114426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Capacity was a real constraint and a cost factor.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B97F45F-7540-E76B-4406-B586B76D2A4F}"/>
              </a:ext>
            </a:extLst>
          </p:cNvPr>
          <p:cNvSpPr/>
          <p:nvPr/>
        </p:nvSpPr>
        <p:spPr>
          <a:xfrm>
            <a:off x="4672012" y="1289447"/>
            <a:ext cx="3786188" cy="2443163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3C4043">
                <a:alpha val="30000"/>
              </a:srgbClr>
            </a:outerShdw>
          </a:effectLst>
        </p:spPr>
        <p:txBody>
          <a:bodyPr/>
          <a:lstStyle/>
          <a:p>
            <a:endParaRPr lang="pl-PL" sz="16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199D845-E553-BE17-3895-1769939634E5}"/>
              </a:ext>
            </a:extLst>
          </p:cNvPr>
          <p:cNvSpPr/>
          <p:nvPr/>
        </p:nvSpPr>
        <p:spPr>
          <a:xfrm>
            <a:off x="4672012" y="1289448"/>
            <a:ext cx="3786188" cy="35719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pl-PL" sz="16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EB06EDE-4F03-8DB5-E95E-3BDA4269AC62}"/>
              </a:ext>
            </a:extLst>
          </p:cNvPr>
          <p:cNvSpPr/>
          <p:nvPr/>
        </p:nvSpPr>
        <p:spPr>
          <a:xfrm>
            <a:off x="4929188" y="1546623"/>
            <a:ext cx="3599021" cy="160735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>
            <a:noAutofit/>
          </a:bodyPr>
          <a:lstStyle/>
          <a:p>
            <a:r>
              <a:rPr lang="en-US" sz="900" dirty="0">
                <a:solidFill>
                  <a:srgbClr val="9AA0A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2026 · management issue</a:t>
            </a:r>
            <a:endParaRPr lang="en-US" sz="9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2436CAA-618E-C164-1D0F-74C7A5A9D40F}"/>
              </a:ext>
            </a:extLst>
          </p:cNvPr>
          <p:cNvSpPr/>
          <p:nvPr/>
        </p:nvSpPr>
        <p:spPr>
          <a:xfrm>
            <a:off x="4929188" y="1750219"/>
            <a:ext cx="3599021" cy="22860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>
            <a:noAutofit/>
          </a:bodyPr>
          <a:lstStyle/>
          <a:p>
            <a:pPr>
              <a:lnSpc>
                <a:spcPct val="127273"/>
              </a:lnSpc>
            </a:pPr>
            <a:r>
              <a:rPr lang="en-US" sz="14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trust it, and how to find it</a:t>
            </a: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276D963-C0C4-8110-EA2B-571D3B078387}"/>
              </a:ext>
            </a:extLst>
          </p:cNvPr>
          <p:cNvSpPr/>
          <p:nvPr/>
        </p:nvSpPr>
        <p:spPr>
          <a:xfrm>
            <a:off x="4929188" y="2050256"/>
            <a:ext cx="3599021" cy="1075134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Storage is cheap and feasible. 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Organisation, checking and ensuring compliance are costly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D87219A-6B2F-1655-C187-311EB44E0006}"/>
              </a:ext>
            </a:extLst>
          </p:cNvPr>
          <p:cNvSpPr/>
          <p:nvPr/>
        </p:nvSpPr>
        <p:spPr>
          <a:xfrm>
            <a:off x="5498504" y="3884213"/>
            <a:ext cx="2079026" cy="657225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>
            <a:noAutofit/>
          </a:bodyPr>
          <a:lstStyle/>
          <a:p>
            <a:r>
              <a:rPr lang="en-US" sz="5400" dirty="0">
                <a:solidFill>
                  <a:srgbClr val="4285F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&lt;$0,01</a:t>
            </a:r>
            <a:endParaRPr lang="en-US" sz="5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23B383F-626B-613F-F199-95A8ADF7417E}"/>
              </a:ext>
            </a:extLst>
          </p:cNvPr>
          <p:cNvSpPr/>
          <p:nvPr/>
        </p:nvSpPr>
        <p:spPr>
          <a:xfrm>
            <a:off x="5498504" y="4693041"/>
            <a:ext cx="2648903" cy="34290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>
            <a:normAutofit/>
          </a:bodyPr>
          <a:lstStyle/>
          <a:p>
            <a:pPr>
              <a:lnSpc>
                <a:spcPct val="137500"/>
              </a:lnSpc>
            </a:pPr>
            <a:r>
              <a:rPr lang="en-US" sz="10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price for 1 GB of storage per month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210940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ymbol zastępczy zawartości 1">
            <a:extLst>
              <a:ext uri="{FF2B5EF4-FFF2-40B4-BE49-F238E27FC236}">
                <a16:creationId xmlns:a16="http://schemas.microsoft.com/office/drawing/2014/main" id="{B3F0B3D8-40D3-CAB3-3380-B64A84336951}"/>
              </a:ext>
            </a:extLst>
          </p:cNvPr>
          <p:cNvSpPr txBox="1">
            <a:spLocks/>
          </p:cNvSpPr>
          <p:nvPr/>
        </p:nvSpPr>
        <p:spPr>
          <a:xfrm>
            <a:off x="363415" y="1965447"/>
            <a:ext cx="2838890" cy="1212605"/>
          </a:xfrm>
          <a:prstGeom prst="rect">
            <a:avLst/>
          </a:prstGeom>
        </p:spPr>
        <p:txBody>
          <a:bodyPr/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1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5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 dirty="0"/>
              <a:t>Data </a:t>
            </a:r>
            <a:r>
              <a:rPr lang="pl-PL" dirty="0" err="1"/>
              <a:t>formats</a:t>
            </a:r>
            <a:endParaRPr lang="pl-PL" dirty="0"/>
          </a:p>
        </p:txBody>
      </p:sp>
      <p:grpSp>
        <p:nvGrpSpPr>
          <p:cNvPr id="2" name="Grupa 1">
            <a:extLst>
              <a:ext uri="{FF2B5EF4-FFF2-40B4-BE49-F238E27FC236}">
                <a16:creationId xmlns:a16="http://schemas.microsoft.com/office/drawing/2014/main" id="{E0FAF199-39DF-B2FA-EA48-D7B14D96F5A5}"/>
              </a:ext>
            </a:extLst>
          </p:cNvPr>
          <p:cNvGrpSpPr/>
          <p:nvPr/>
        </p:nvGrpSpPr>
        <p:grpSpPr>
          <a:xfrm>
            <a:off x="482490" y="3067051"/>
            <a:ext cx="2576507" cy="1530349"/>
            <a:chOff x="482490" y="3067051"/>
            <a:chExt cx="2576507" cy="1530349"/>
          </a:xfrm>
        </p:grpSpPr>
        <p:sp>
          <p:nvSpPr>
            <p:cNvPr id="3" name="Prostokąt 2">
              <a:extLst>
                <a:ext uri="{FF2B5EF4-FFF2-40B4-BE49-F238E27FC236}">
                  <a16:creationId xmlns:a16="http://schemas.microsoft.com/office/drawing/2014/main" id="{0F4248F9-6668-C876-72D1-C1F4EC2415C9}"/>
                </a:ext>
              </a:extLst>
            </p:cNvPr>
            <p:cNvSpPr/>
            <p:nvPr/>
          </p:nvSpPr>
          <p:spPr>
            <a:xfrm>
              <a:off x="568346" y="3067051"/>
              <a:ext cx="2490651" cy="1530349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49818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80000"/>
              <a:r>
                <a:rPr lang="pl-PL" sz="1400">
                  <a:solidFill>
                    <a:schemeClr val="tx1"/>
                  </a:solidFill>
                  <a:latin typeface="Franklin Gothic Book" panose="020B0503020102020204" pitchFamily="34" charset="0"/>
                </a:rPr>
                <a:t>CSV &gt; parquet</a:t>
              </a:r>
              <a:endParaRPr lang="pl-PL" sz="1400">
                <a:solidFill>
                  <a:schemeClr val="tx1">
                    <a:lumMod val="50000"/>
                    <a:lumOff val="50000"/>
                  </a:schemeClr>
                </a:solidFill>
                <a:latin typeface="Franklin Gothic Book" panose="020B0503020102020204" pitchFamily="34" charset="0"/>
              </a:endParaRPr>
            </a:p>
          </p:txBody>
        </p:sp>
        <p:cxnSp>
          <p:nvCxnSpPr>
            <p:cNvPr id="4" name="Łącznik prosty 3">
              <a:extLst>
                <a:ext uri="{FF2B5EF4-FFF2-40B4-BE49-F238E27FC236}">
                  <a16:creationId xmlns:a16="http://schemas.microsoft.com/office/drawing/2014/main" id="{793CE99F-F913-A1F1-062E-1F63633702E6}"/>
                </a:ext>
              </a:extLst>
            </p:cNvPr>
            <p:cNvCxnSpPr>
              <a:cxnSpLocks/>
            </p:cNvCxnSpPr>
            <p:nvPr/>
          </p:nvCxnSpPr>
          <p:spPr>
            <a:xfrm>
              <a:off x="482490" y="3067051"/>
              <a:ext cx="0" cy="1530349"/>
            </a:xfrm>
            <a:prstGeom prst="line">
              <a:avLst/>
            </a:prstGeom>
            <a:ln w="349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Obraz 4">
            <a:extLst>
              <a:ext uri="{FF2B5EF4-FFF2-40B4-BE49-F238E27FC236}">
                <a16:creationId xmlns:a16="http://schemas.microsoft.com/office/drawing/2014/main" id="{DCD8C7EA-8794-CC7E-42A3-39FCADC28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549" y="915406"/>
            <a:ext cx="5084105" cy="331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337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ymbol zastępczy zawartości 1">
            <a:extLst>
              <a:ext uri="{FF2B5EF4-FFF2-40B4-BE49-F238E27FC236}">
                <a16:creationId xmlns:a16="http://schemas.microsoft.com/office/drawing/2014/main" id="{B3F0B3D8-40D3-CAB3-3380-B64A84336951}"/>
              </a:ext>
            </a:extLst>
          </p:cNvPr>
          <p:cNvSpPr txBox="1">
            <a:spLocks/>
          </p:cNvSpPr>
          <p:nvPr/>
        </p:nvSpPr>
        <p:spPr>
          <a:xfrm>
            <a:off x="363415" y="1965447"/>
            <a:ext cx="2838890" cy="1212605"/>
          </a:xfrm>
          <a:prstGeom prst="rect">
            <a:avLst/>
          </a:prstGeom>
        </p:spPr>
        <p:txBody>
          <a:bodyPr/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1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5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 dirty="0"/>
              <a:t>Storage</a:t>
            </a:r>
          </a:p>
        </p:txBody>
      </p:sp>
      <p:grpSp>
        <p:nvGrpSpPr>
          <p:cNvPr id="2" name="Grupa 1">
            <a:extLst>
              <a:ext uri="{FF2B5EF4-FFF2-40B4-BE49-F238E27FC236}">
                <a16:creationId xmlns:a16="http://schemas.microsoft.com/office/drawing/2014/main" id="{E0FAF199-39DF-B2FA-EA48-D7B14D96F5A5}"/>
              </a:ext>
            </a:extLst>
          </p:cNvPr>
          <p:cNvGrpSpPr/>
          <p:nvPr/>
        </p:nvGrpSpPr>
        <p:grpSpPr>
          <a:xfrm>
            <a:off x="482490" y="3067051"/>
            <a:ext cx="2576507" cy="1530349"/>
            <a:chOff x="482490" y="3067051"/>
            <a:chExt cx="2576507" cy="1530349"/>
          </a:xfrm>
        </p:grpSpPr>
        <p:sp>
          <p:nvSpPr>
            <p:cNvPr id="3" name="Prostokąt 2">
              <a:extLst>
                <a:ext uri="{FF2B5EF4-FFF2-40B4-BE49-F238E27FC236}">
                  <a16:creationId xmlns:a16="http://schemas.microsoft.com/office/drawing/2014/main" id="{0F4248F9-6668-C876-72D1-C1F4EC2415C9}"/>
                </a:ext>
              </a:extLst>
            </p:cNvPr>
            <p:cNvSpPr/>
            <p:nvPr/>
          </p:nvSpPr>
          <p:spPr>
            <a:xfrm>
              <a:off x="568346" y="3067051"/>
              <a:ext cx="2490651" cy="1530349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49818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80000"/>
              <a:r>
                <a:rPr lang="pl-PL" sz="1400" dirty="0" err="1">
                  <a:solidFill>
                    <a:schemeClr val="tx1"/>
                  </a:solidFill>
                  <a:latin typeface="Franklin Gothic Book" panose="020B0503020102020204" pitchFamily="34" charset="0"/>
                </a:rPr>
                <a:t>Bucket</a:t>
              </a:r>
              <a:endParaRPr lang="pl-PL" sz="1400" dirty="0">
                <a:solidFill>
                  <a:schemeClr val="tx1"/>
                </a:solidFill>
                <a:latin typeface="Franklin Gothic Book" panose="020B0503020102020204" pitchFamily="34" charset="0"/>
              </a:endParaRPr>
            </a:p>
            <a:p>
              <a:pPr marL="180000"/>
              <a:r>
                <a:rPr lang="pl-PL" sz="1400" dirty="0">
                  <a:solidFill>
                    <a:schemeClr val="tx1"/>
                  </a:solidFill>
                  <a:latin typeface="Franklin Gothic Book" panose="020B0503020102020204" pitchFamily="34" charset="0"/>
                </a:rPr>
                <a:t>SQL DB</a:t>
              </a:r>
            </a:p>
            <a:p>
              <a:pPr marL="180000"/>
              <a:r>
                <a:rPr lang="pl-PL" sz="1400" dirty="0" err="1">
                  <a:solidFill>
                    <a:schemeClr val="tx1"/>
                  </a:solidFill>
                  <a:latin typeface="Franklin Gothic Book" panose="020B0503020102020204" pitchFamily="34" charset="0"/>
                </a:rPr>
                <a:t>NoSQL</a:t>
              </a:r>
              <a:r>
                <a:rPr lang="pl-PL" sz="1400" dirty="0">
                  <a:solidFill>
                    <a:schemeClr val="tx1"/>
                  </a:solidFill>
                  <a:latin typeface="Franklin Gothic Book" panose="020B0503020102020204" pitchFamily="34" charset="0"/>
                </a:rPr>
                <a:t> DB</a:t>
              </a:r>
              <a:endParaRPr lang="pl-P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Franklin Gothic Book" panose="020B0503020102020204" pitchFamily="34" charset="0"/>
              </a:endParaRPr>
            </a:p>
          </p:txBody>
        </p:sp>
        <p:cxnSp>
          <p:nvCxnSpPr>
            <p:cNvPr id="4" name="Łącznik prosty 3">
              <a:extLst>
                <a:ext uri="{FF2B5EF4-FFF2-40B4-BE49-F238E27FC236}">
                  <a16:creationId xmlns:a16="http://schemas.microsoft.com/office/drawing/2014/main" id="{793CE99F-F913-A1F1-062E-1F63633702E6}"/>
                </a:ext>
              </a:extLst>
            </p:cNvPr>
            <p:cNvCxnSpPr>
              <a:cxnSpLocks/>
            </p:cNvCxnSpPr>
            <p:nvPr/>
          </p:nvCxnSpPr>
          <p:spPr>
            <a:xfrm>
              <a:off x="482490" y="3067051"/>
              <a:ext cx="0" cy="1530349"/>
            </a:xfrm>
            <a:prstGeom prst="line">
              <a:avLst/>
            </a:prstGeom>
            <a:ln w="349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Obraz 4">
            <a:extLst>
              <a:ext uri="{FF2B5EF4-FFF2-40B4-BE49-F238E27FC236}">
                <a16:creationId xmlns:a16="http://schemas.microsoft.com/office/drawing/2014/main" id="{C3F5BFEB-6FBC-322B-17DE-C71B78E8E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8160" y="1312602"/>
            <a:ext cx="5838481" cy="328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978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010C4-0C43-6386-26F1-91764D662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ymbol zastępczy zawartości 1">
            <a:extLst>
              <a:ext uri="{FF2B5EF4-FFF2-40B4-BE49-F238E27FC236}">
                <a16:creationId xmlns:a16="http://schemas.microsoft.com/office/drawing/2014/main" id="{4A86ED1A-0FCB-8200-65CA-A066BD1276E8}"/>
              </a:ext>
            </a:extLst>
          </p:cNvPr>
          <p:cNvSpPr txBox="1">
            <a:spLocks/>
          </p:cNvSpPr>
          <p:nvPr/>
        </p:nvSpPr>
        <p:spPr>
          <a:xfrm>
            <a:off x="363415" y="1965447"/>
            <a:ext cx="2838890" cy="1212605"/>
          </a:xfrm>
          <a:prstGeom prst="rect">
            <a:avLst/>
          </a:prstGeom>
        </p:spPr>
        <p:txBody>
          <a:bodyPr/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1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5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 dirty="0"/>
              <a:t>Storage</a:t>
            </a:r>
          </a:p>
        </p:txBody>
      </p:sp>
      <p:grpSp>
        <p:nvGrpSpPr>
          <p:cNvPr id="2" name="Grupa 1">
            <a:extLst>
              <a:ext uri="{FF2B5EF4-FFF2-40B4-BE49-F238E27FC236}">
                <a16:creationId xmlns:a16="http://schemas.microsoft.com/office/drawing/2014/main" id="{017398B2-2F90-6635-9200-FB9EEDF71AF4}"/>
              </a:ext>
            </a:extLst>
          </p:cNvPr>
          <p:cNvGrpSpPr/>
          <p:nvPr/>
        </p:nvGrpSpPr>
        <p:grpSpPr>
          <a:xfrm>
            <a:off x="482490" y="3067051"/>
            <a:ext cx="2576507" cy="1530349"/>
            <a:chOff x="482490" y="3067051"/>
            <a:chExt cx="2576507" cy="1530349"/>
          </a:xfrm>
        </p:grpSpPr>
        <p:sp>
          <p:nvSpPr>
            <p:cNvPr id="3" name="Prostokąt 2">
              <a:extLst>
                <a:ext uri="{FF2B5EF4-FFF2-40B4-BE49-F238E27FC236}">
                  <a16:creationId xmlns:a16="http://schemas.microsoft.com/office/drawing/2014/main" id="{4A8AC837-69AE-7DF5-DEAA-E0E9870F2FC9}"/>
                </a:ext>
              </a:extLst>
            </p:cNvPr>
            <p:cNvSpPr/>
            <p:nvPr/>
          </p:nvSpPr>
          <p:spPr>
            <a:xfrm>
              <a:off x="568346" y="3067051"/>
              <a:ext cx="2490651" cy="1530349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49818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80000"/>
              <a:r>
                <a:rPr lang="pl-PL" sz="1400" dirty="0" err="1">
                  <a:solidFill>
                    <a:schemeClr val="tx1"/>
                  </a:solidFill>
                  <a:latin typeface="Franklin Gothic Book" panose="020B0503020102020204" pitchFamily="34" charset="0"/>
                </a:rPr>
                <a:t>Bucket</a:t>
              </a:r>
              <a:endParaRPr lang="pl-PL" sz="1400" dirty="0">
                <a:solidFill>
                  <a:schemeClr val="tx1"/>
                </a:solidFill>
                <a:latin typeface="Franklin Gothic Book" panose="020B0503020102020204" pitchFamily="34" charset="0"/>
              </a:endParaRPr>
            </a:p>
            <a:p>
              <a:pPr marL="180000"/>
              <a:r>
                <a:rPr lang="pl-PL" sz="1400" dirty="0">
                  <a:solidFill>
                    <a:schemeClr val="tx1"/>
                  </a:solidFill>
                  <a:latin typeface="Franklin Gothic Book" panose="020B0503020102020204" pitchFamily="34" charset="0"/>
                </a:rPr>
                <a:t>SQL DB</a:t>
              </a:r>
            </a:p>
            <a:p>
              <a:pPr marL="180000"/>
              <a:r>
                <a:rPr lang="pl-PL" sz="1400" dirty="0" err="1">
                  <a:solidFill>
                    <a:schemeClr val="tx1"/>
                  </a:solidFill>
                  <a:latin typeface="Franklin Gothic Book" panose="020B0503020102020204" pitchFamily="34" charset="0"/>
                </a:rPr>
                <a:t>NoSQL</a:t>
              </a:r>
              <a:r>
                <a:rPr lang="pl-PL" sz="1400" dirty="0">
                  <a:solidFill>
                    <a:schemeClr val="tx1"/>
                  </a:solidFill>
                  <a:latin typeface="Franklin Gothic Book" panose="020B0503020102020204" pitchFamily="34" charset="0"/>
                </a:rPr>
                <a:t> DB</a:t>
              </a:r>
              <a:endParaRPr lang="pl-P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Franklin Gothic Book" panose="020B0503020102020204" pitchFamily="34" charset="0"/>
              </a:endParaRPr>
            </a:p>
          </p:txBody>
        </p:sp>
        <p:cxnSp>
          <p:nvCxnSpPr>
            <p:cNvPr id="4" name="Łącznik prosty 3">
              <a:extLst>
                <a:ext uri="{FF2B5EF4-FFF2-40B4-BE49-F238E27FC236}">
                  <a16:creationId xmlns:a16="http://schemas.microsoft.com/office/drawing/2014/main" id="{7AD951C5-8BA3-C33B-16FC-98DCF175374E}"/>
                </a:ext>
              </a:extLst>
            </p:cNvPr>
            <p:cNvCxnSpPr>
              <a:cxnSpLocks/>
            </p:cNvCxnSpPr>
            <p:nvPr/>
          </p:nvCxnSpPr>
          <p:spPr>
            <a:xfrm>
              <a:off x="482490" y="3067051"/>
              <a:ext cx="0" cy="1530349"/>
            </a:xfrm>
            <a:prstGeom prst="line">
              <a:avLst/>
            </a:prstGeom>
            <a:ln w="349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Obraz 5">
            <a:extLst>
              <a:ext uri="{FF2B5EF4-FFF2-40B4-BE49-F238E27FC236}">
                <a16:creationId xmlns:a16="http://schemas.microsoft.com/office/drawing/2014/main" id="{128F0A8D-0E99-0D03-54BE-BF6C5DD49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3017295"/>
            <a:ext cx="3735888" cy="1803943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FD259D7A-0361-4464-CBC3-82720A44F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560344"/>
            <a:ext cx="4800600" cy="180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661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99E7E-5A91-0D77-0A68-B0A53F3B9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4D0B72E-C4BF-C40A-A324-D26F14A04882}"/>
              </a:ext>
            </a:extLst>
          </p:cNvPr>
          <p:cNvSpPr/>
          <p:nvPr/>
        </p:nvSpPr>
        <p:spPr>
          <a:xfrm>
            <a:off x="685800" y="789385"/>
            <a:ext cx="7700963" cy="328613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>
            <a:noAutofit/>
          </a:bodyPr>
          <a:lstStyle/>
          <a:p>
            <a:pPr>
              <a:lnSpc>
                <a:spcPct val="123529"/>
              </a:lnSpc>
            </a:pPr>
            <a:r>
              <a:rPr lang="en-US" sz="2400" kern="0" spc="-17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Keeping data up to date comes at a cost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3094748-2483-8AF0-C652-492C1EE07091}"/>
              </a:ext>
            </a:extLst>
          </p:cNvPr>
          <p:cNvSpPr/>
          <p:nvPr/>
        </p:nvSpPr>
        <p:spPr>
          <a:xfrm>
            <a:off x="685800" y="1289447"/>
            <a:ext cx="3786188" cy="2443163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3C4043">
                <a:alpha val="3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0BCC573-57C5-CBD5-DC50-EA3CF3943F9B}"/>
              </a:ext>
            </a:extLst>
          </p:cNvPr>
          <p:cNvSpPr/>
          <p:nvPr/>
        </p:nvSpPr>
        <p:spPr>
          <a:xfrm>
            <a:off x="685800" y="1289448"/>
            <a:ext cx="3786188" cy="35719"/>
          </a:xfrm>
          <a:prstGeom prst="rect">
            <a:avLst/>
          </a:prstGeom>
          <a:solidFill>
            <a:srgbClr val="BDC1C6"/>
          </a:solidFill>
          <a:ln/>
        </p:spPr>
        <p:txBody>
          <a:bodyPr/>
          <a:lstStyle/>
          <a:p>
            <a:endParaRPr lang="pl-PL" sz="16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058D2C9-18DC-0FDA-1171-2B7B5F02DD9F}"/>
              </a:ext>
            </a:extLst>
          </p:cNvPr>
          <p:cNvSpPr/>
          <p:nvPr/>
        </p:nvSpPr>
        <p:spPr>
          <a:xfrm>
            <a:off x="942976" y="1546623"/>
            <a:ext cx="3599021" cy="160735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>
            <a:noAutofit/>
          </a:bodyPr>
          <a:lstStyle/>
          <a:p>
            <a:r>
              <a:rPr lang="en-US" sz="900" dirty="0">
                <a:solidFill>
                  <a:srgbClr val="9AA0A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2015 · technical problem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5FA93BC-3705-7C69-2A81-A2CB06483ABD}"/>
              </a:ext>
            </a:extLst>
          </p:cNvPr>
          <p:cNvSpPr/>
          <p:nvPr/>
        </p:nvSpPr>
        <p:spPr>
          <a:xfrm>
            <a:off x="942976" y="1750219"/>
            <a:ext cx="3599021" cy="22860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>
            <a:noAutofit/>
          </a:bodyPr>
          <a:lstStyle/>
          <a:p>
            <a:pPr>
              <a:lnSpc>
                <a:spcPct val="127273"/>
              </a:lnSpc>
            </a:pPr>
            <a:r>
              <a:rPr lang="pl-PL" sz="140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quickly will we deliver the data?</a:t>
            </a:r>
            <a:endParaRPr lang="en-US" sz="1400" dirty="0">
              <a:solidFill>
                <a:srgbClr val="202124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40D6A93-C426-1EAF-4239-DC1AE37651D3}"/>
              </a:ext>
            </a:extLst>
          </p:cNvPr>
          <p:cNvSpPr/>
          <p:nvPr/>
        </p:nvSpPr>
        <p:spPr>
          <a:xfrm>
            <a:off x="942976" y="2358482"/>
            <a:ext cx="3599021" cy="1114426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was an engineering challenge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317FD9B-4340-22AE-0B40-46FA12B90A61}"/>
              </a:ext>
            </a:extLst>
          </p:cNvPr>
          <p:cNvSpPr/>
          <p:nvPr/>
        </p:nvSpPr>
        <p:spPr>
          <a:xfrm>
            <a:off x="4672012" y="1289447"/>
            <a:ext cx="3786188" cy="2443163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3C4043">
                <a:alpha val="30000"/>
              </a:srgbClr>
            </a:outerShdw>
          </a:effectLst>
        </p:spPr>
        <p:txBody>
          <a:bodyPr/>
          <a:lstStyle/>
          <a:p>
            <a:endParaRPr lang="pl-PL" sz="16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2754EC1-A51A-B8A7-0F2E-06182F15549D}"/>
              </a:ext>
            </a:extLst>
          </p:cNvPr>
          <p:cNvSpPr/>
          <p:nvPr/>
        </p:nvSpPr>
        <p:spPr>
          <a:xfrm>
            <a:off x="4672012" y="1289448"/>
            <a:ext cx="3786188" cy="35719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pl-PL" sz="16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AFFFE6B-C3B9-249D-9A53-7723260BE5A8}"/>
              </a:ext>
            </a:extLst>
          </p:cNvPr>
          <p:cNvSpPr/>
          <p:nvPr/>
        </p:nvSpPr>
        <p:spPr>
          <a:xfrm>
            <a:off x="4929188" y="1546623"/>
            <a:ext cx="3599021" cy="160735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>
            <a:noAutofit/>
          </a:bodyPr>
          <a:lstStyle/>
          <a:p>
            <a:r>
              <a:rPr lang="en-US" sz="900" dirty="0">
                <a:solidFill>
                  <a:srgbClr val="9AA0A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2026 · management issue</a:t>
            </a:r>
            <a:endParaRPr lang="en-US" sz="9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8999C8F-B657-2798-DE5B-72A5E2FC44D9}"/>
              </a:ext>
            </a:extLst>
          </p:cNvPr>
          <p:cNvSpPr/>
          <p:nvPr/>
        </p:nvSpPr>
        <p:spPr>
          <a:xfrm>
            <a:off x="4929188" y="1750219"/>
            <a:ext cx="3599021" cy="22860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>
            <a:noAutofit/>
          </a:bodyPr>
          <a:lstStyle/>
          <a:p>
            <a:pPr>
              <a:lnSpc>
                <a:spcPct val="127273"/>
              </a:lnSpc>
            </a:pPr>
            <a:r>
              <a:rPr lang="en-US" sz="14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 we really need it every second?</a:t>
            </a: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BDC64F2-50CB-BE24-DC1A-98871CACF959}"/>
              </a:ext>
            </a:extLst>
          </p:cNvPr>
          <p:cNvSpPr/>
          <p:nvPr/>
        </p:nvSpPr>
        <p:spPr>
          <a:xfrm>
            <a:off x="4929188" y="2317381"/>
            <a:ext cx="3599021" cy="1075134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is possible, but it’s very expensive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9792336-C396-6C37-3584-6766018424BD}"/>
              </a:ext>
            </a:extLst>
          </p:cNvPr>
          <p:cNvSpPr/>
          <p:nvPr/>
        </p:nvSpPr>
        <p:spPr>
          <a:xfrm>
            <a:off x="5498504" y="3989786"/>
            <a:ext cx="2079026" cy="657225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>
            <a:noAutofit/>
          </a:bodyPr>
          <a:lstStyle/>
          <a:p>
            <a:r>
              <a:rPr lang="en-US" sz="5400" dirty="0">
                <a:solidFill>
                  <a:srgbClr val="4285F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~10x</a:t>
            </a:r>
            <a:endParaRPr lang="en-US" sz="5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F2125F9-02D4-0F6D-55D3-5DB1800021B5}"/>
              </a:ext>
            </a:extLst>
          </p:cNvPr>
          <p:cNvSpPr/>
          <p:nvPr/>
        </p:nvSpPr>
        <p:spPr>
          <a:xfrm>
            <a:off x="5498504" y="4693040"/>
            <a:ext cx="3193433" cy="450459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>
            <a:normAutofit/>
          </a:bodyPr>
          <a:lstStyle/>
          <a:p>
            <a:pPr>
              <a:lnSpc>
                <a:spcPct val="137500"/>
              </a:lnSpc>
            </a:pPr>
            <a:r>
              <a:rPr lang="en-US" sz="10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Streaming vs batch processing cost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058107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>
            <a:extLst>
              <a:ext uri="{FF2B5EF4-FFF2-40B4-BE49-F238E27FC236}">
                <a16:creationId xmlns:a16="http://schemas.microsoft.com/office/drawing/2014/main" id="{D1D8119D-A7B9-424E-9DF4-F1C78DAE42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Processing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7B14458-ECCD-C9A2-F2F8-AF7E6A8133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10032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05AB13F2-568D-4976-2944-3046ECFC2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7836"/>
            <a:ext cx="7772400" cy="4847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18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ymbol zastępczy zawartości 1">
            <a:extLst>
              <a:ext uri="{FF2B5EF4-FFF2-40B4-BE49-F238E27FC236}">
                <a16:creationId xmlns:a16="http://schemas.microsoft.com/office/drawing/2014/main" id="{B3F0B3D8-40D3-CAB3-3380-B64A84336951}"/>
              </a:ext>
            </a:extLst>
          </p:cNvPr>
          <p:cNvSpPr txBox="1">
            <a:spLocks/>
          </p:cNvSpPr>
          <p:nvPr/>
        </p:nvSpPr>
        <p:spPr>
          <a:xfrm>
            <a:off x="363415" y="1965447"/>
            <a:ext cx="2838890" cy="1212605"/>
          </a:xfrm>
          <a:prstGeom prst="rect">
            <a:avLst/>
          </a:prstGeom>
        </p:spPr>
        <p:txBody>
          <a:bodyPr/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1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5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 dirty="0"/>
              <a:t>Data </a:t>
            </a:r>
            <a:r>
              <a:rPr lang="pl-PL" dirty="0" err="1"/>
              <a:t>preparation</a:t>
            </a:r>
            <a:endParaRPr lang="pl-PL" dirty="0"/>
          </a:p>
        </p:txBody>
      </p:sp>
      <p:grpSp>
        <p:nvGrpSpPr>
          <p:cNvPr id="19" name="Grupa 18">
            <a:extLst>
              <a:ext uri="{FF2B5EF4-FFF2-40B4-BE49-F238E27FC236}">
                <a16:creationId xmlns:a16="http://schemas.microsoft.com/office/drawing/2014/main" id="{DCD55934-3D72-81E7-182B-0E591B3F9CCB}"/>
              </a:ext>
            </a:extLst>
          </p:cNvPr>
          <p:cNvGrpSpPr/>
          <p:nvPr/>
        </p:nvGrpSpPr>
        <p:grpSpPr>
          <a:xfrm>
            <a:off x="3670029" y="1602466"/>
            <a:ext cx="4543336" cy="566057"/>
            <a:chOff x="4384764" y="957942"/>
            <a:chExt cx="4543336" cy="566057"/>
          </a:xfrm>
        </p:grpSpPr>
        <p:sp>
          <p:nvSpPr>
            <p:cNvPr id="20" name="Prostokąt 19">
              <a:extLst>
                <a:ext uri="{FF2B5EF4-FFF2-40B4-BE49-F238E27FC236}">
                  <a16:creationId xmlns:a16="http://schemas.microsoft.com/office/drawing/2014/main" id="{B523AC7F-74F1-77AE-15AD-6A91EC4C9FEE}"/>
                </a:ext>
              </a:extLst>
            </p:cNvPr>
            <p:cNvSpPr/>
            <p:nvPr/>
          </p:nvSpPr>
          <p:spPr>
            <a:xfrm>
              <a:off x="4572000" y="957942"/>
              <a:ext cx="4356100" cy="566057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49818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21" name="Owal 20">
              <a:extLst>
                <a:ext uri="{FF2B5EF4-FFF2-40B4-BE49-F238E27FC236}">
                  <a16:creationId xmlns:a16="http://schemas.microsoft.com/office/drawing/2014/main" id="{81F07F24-0E34-E23A-20B5-A3748B159BD7}"/>
                </a:ext>
              </a:extLst>
            </p:cNvPr>
            <p:cNvSpPr/>
            <p:nvPr/>
          </p:nvSpPr>
          <p:spPr>
            <a:xfrm>
              <a:off x="4384764" y="957942"/>
              <a:ext cx="566057" cy="56605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/>
                <a:t>1</a:t>
              </a:r>
            </a:p>
          </p:txBody>
        </p:sp>
        <p:sp>
          <p:nvSpPr>
            <p:cNvPr id="22" name="pole tekstowe 21">
              <a:extLst>
                <a:ext uri="{FF2B5EF4-FFF2-40B4-BE49-F238E27FC236}">
                  <a16:creationId xmlns:a16="http://schemas.microsoft.com/office/drawing/2014/main" id="{E6F0483E-5DA5-A938-6BE1-4FAF880B1BD5}"/>
                </a:ext>
              </a:extLst>
            </p:cNvPr>
            <p:cNvSpPr txBox="1"/>
            <p:nvPr/>
          </p:nvSpPr>
          <p:spPr>
            <a:xfrm>
              <a:off x="5082913" y="1087081"/>
              <a:ext cx="34298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pl-PL" sz="1400" dirty="0"/>
                <a:t>Data </a:t>
              </a:r>
              <a:r>
                <a:rPr lang="pl-PL" sz="1400" dirty="0" err="1"/>
                <a:t>transformation</a:t>
              </a:r>
              <a:endParaRPr lang="pl-PL" sz="1400" dirty="0"/>
            </a:p>
          </p:txBody>
        </p:sp>
      </p:grpSp>
      <p:grpSp>
        <p:nvGrpSpPr>
          <p:cNvPr id="23" name="Grupa 22">
            <a:extLst>
              <a:ext uri="{FF2B5EF4-FFF2-40B4-BE49-F238E27FC236}">
                <a16:creationId xmlns:a16="http://schemas.microsoft.com/office/drawing/2014/main" id="{014C2A9F-A106-C659-AF8E-36EC6B5ADAED}"/>
              </a:ext>
            </a:extLst>
          </p:cNvPr>
          <p:cNvGrpSpPr/>
          <p:nvPr/>
        </p:nvGrpSpPr>
        <p:grpSpPr>
          <a:xfrm>
            <a:off x="3670029" y="2611995"/>
            <a:ext cx="4543336" cy="566057"/>
            <a:chOff x="4384764" y="957942"/>
            <a:chExt cx="4543336" cy="566057"/>
          </a:xfrm>
        </p:grpSpPr>
        <p:sp>
          <p:nvSpPr>
            <p:cNvPr id="24" name="Prostokąt 23">
              <a:extLst>
                <a:ext uri="{FF2B5EF4-FFF2-40B4-BE49-F238E27FC236}">
                  <a16:creationId xmlns:a16="http://schemas.microsoft.com/office/drawing/2014/main" id="{859ECCE3-3BC6-60CD-C7E1-C7DE37898701}"/>
                </a:ext>
              </a:extLst>
            </p:cNvPr>
            <p:cNvSpPr/>
            <p:nvPr/>
          </p:nvSpPr>
          <p:spPr>
            <a:xfrm>
              <a:off x="4571999" y="957942"/>
              <a:ext cx="4356099" cy="566057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49818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25" name="Owal 24">
              <a:extLst>
                <a:ext uri="{FF2B5EF4-FFF2-40B4-BE49-F238E27FC236}">
                  <a16:creationId xmlns:a16="http://schemas.microsoft.com/office/drawing/2014/main" id="{FFA3592B-6778-31FB-1742-AA9F4B2DDFBF}"/>
                </a:ext>
              </a:extLst>
            </p:cNvPr>
            <p:cNvSpPr/>
            <p:nvPr/>
          </p:nvSpPr>
          <p:spPr>
            <a:xfrm>
              <a:off x="4384764" y="957942"/>
              <a:ext cx="566057" cy="56605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/>
                <a:t>2</a:t>
              </a:r>
            </a:p>
          </p:txBody>
        </p:sp>
        <p:sp>
          <p:nvSpPr>
            <p:cNvPr id="26" name="pole tekstowe 25">
              <a:extLst>
                <a:ext uri="{FF2B5EF4-FFF2-40B4-BE49-F238E27FC236}">
                  <a16:creationId xmlns:a16="http://schemas.microsoft.com/office/drawing/2014/main" id="{C83C84BD-81EE-C3CC-098A-A4CC43B41DE2}"/>
                </a:ext>
              </a:extLst>
            </p:cNvPr>
            <p:cNvSpPr txBox="1"/>
            <p:nvPr/>
          </p:nvSpPr>
          <p:spPr>
            <a:xfrm>
              <a:off x="5082913" y="1087081"/>
              <a:ext cx="38451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1400" dirty="0" err="1"/>
                <a:t>Feature</a:t>
              </a:r>
              <a:r>
                <a:rPr lang="pl-PL" sz="1400" dirty="0"/>
                <a:t> engineering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5706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ymbol zastępczy zawartości 1">
            <a:extLst>
              <a:ext uri="{FF2B5EF4-FFF2-40B4-BE49-F238E27FC236}">
                <a16:creationId xmlns:a16="http://schemas.microsoft.com/office/drawing/2014/main" id="{B3F0B3D8-40D3-CAB3-3380-B64A84336951}"/>
              </a:ext>
            </a:extLst>
          </p:cNvPr>
          <p:cNvSpPr txBox="1">
            <a:spLocks/>
          </p:cNvSpPr>
          <p:nvPr/>
        </p:nvSpPr>
        <p:spPr>
          <a:xfrm>
            <a:off x="363415" y="1965447"/>
            <a:ext cx="2838890" cy="1212605"/>
          </a:xfrm>
          <a:prstGeom prst="rect">
            <a:avLst/>
          </a:prstGeom>
        </p:spPr>
        <p:txBody>
          <a:bodyPr/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1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5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/>
              <a:t>SQL</a:t>
            </a:r>
          </a:p>
        </p:txBody>
      </p:sp>
      <p:grpSp>
        <p:nvGrpSpPr>
          <p:cNvPr id="2" name="Grupa 1">
            <a:extLst>
              <a:ext uri="{FF2B5EF4-FFF2-40B4-BE49-F238E27FC236}">
                <a16:creationId xmlns:a16="http://schemas.microsoft.com/office/drawing/2014/main" id="{B53CCBCC-57B3-D445-3D1E-7BDEF215F4B5}"/>
              </a:ext>
            </a:extLst>
          </p:cNvPr>
          <p:cNvGrpSpPr/>
          <p:nvPr/>
        </p:nvGrpSpPr>
        <p:grpSpPr>
          <a:xfrm>
            <a:off x="482490" y="3067051"/>
            <a:ext cx="2576507" cy="1530349"/>
            <a:chOff x="482490" y="3067051"/>
            <a:chExt cx="2576507" cy="1530349"/>
          </a:xfrm>
        </p:grpSpPr>
        <p:sp>
          <p:nvSpPr>
            <p:cNvPr id="3" name="Prostokąt 2">
              <a:extLst>
                <a:ext uri="{FF2B5EF4-FFF2-40B4-BE49-F238E27FC236}">
                  <a16:creationId xmlns:a16="http://schemas.microsoft.com/office/drawing/2014/main" id="{9524158E-B156-EDBB-85A1-E5C50395F09A}"/>
                </a:ext>
              </a:extLst>
            </p:cNvPr>
            <p:cNvSpPr/>
            <p:nvPr/>
          </p:nvSpPr>
          <p:spPr>
            <a:xfrm>
              <a:off x="568346" y="3067051"/>
              <a:ext cx="2490651" cy="1530349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49818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80000"/>
              <a:r>
                <a:rPr lang="pl-PL" sz="1400" dirty="0" err="1">
                  <a:solidFill>
                    <a:schemeClr val="tx1"/>
                  </a:solidFill>
                  <a:latin typeface="Franklin Gothic Book" panose="020B0503020102020204" pitchFamily="34" charset="0"/>
                </a:rPr>
                <a:t>simple</a:t>
              </a:r>
              <a:r>
                <a:rPr lang="pl-PL" sz="1400" dirty="0">
                  <a:solidFill>
                    <a:schemeClr val="tx1"/>
                  </a:solidFill>
                  <a:latin typeface="Franklin Gothic Book" panose="020B0503020102020204" pitchFamily="34" charset="0"/>
                </a:rPr>
                <a:t> report</a:t>
              </a:r>
              <a:endParaRPr lang="pl-P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Franklin Gothic Book" panose="020B0503020102020204" pitchFamily="34" charset="0"/>
              </a:endParaRPr>
            </a:p>
          </p:txBody>
        </p:sp>
        <p:cxnSp>
          <p:nvCxnSpPr>
            <p:cNvPr id="4" name="Łącznik prosty 3">
              <a:extLst>
                <a:ext uri="{FF2B5EF4-FFF2-40B4-BE49-F238E27FC236}">
                  <a16:creationId xmlns:a16="http://schemas.microsoft.com/office/drawing/2014/main" id="{6C44A21A-8160-9A70-CA52-0E48E315C776}"/>
                </a:ext>
              </a:extLst>
            </p:cNvPr>
            <p:cNvCxnSpPr>
              <a:cxnSpLocks/>
            </p:cNvCxnSpPr>
            <p:nvPr/>
          </p:nvCxnSpPr>
          <p:spPr>
            <a:xfrm>
              <a:off x="482490" y="3067051"/>
              <a:ext cx="0" cy="1530349"/>
            </a:xfrm>
            <a:prstGeom prst="line">
              <a:avLst/>
            </a:prstGeom>
            <a:ln w="349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Prostokąt 4">
            <a:extLst>
              <a:ext uri="{FF2B5EF4-FFF2-40B4-BE49-F238E27FC236}">
                <a16:creationId xmlns:a16="http://schemas.microsoft.com/office/drawing/2014/main" id="{7F3C765B-80DF-1D32-FE5B-5FE84ADBFD7F}"/>
              </a:ext>
            </a:extLst>
          </p:cNvPr>
          <p:cNvSpPr/>
          <p:nvPr/>
        </p:nvSpPr>
        <p:spPr>
          <a:xfrm>
            <a:off x="4103370" y="1325881"/>
            <a:ext cx="4491989" cy="2308860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l-PL" sz="1200">
                <a:solidFill>
                  <a:schemeClr val="tx1"/>
                </a:solidFill>
              </a:rPr>
              <a:t>SELECT </a:t>
            </a:r>
          </a:p>
          <a:p>
            <a:r>
              <a:rPr lang="pl-PL" sz="1200">
                <a:solidFill>
                  <a:schemeClr val="tx1"/>
                </a:solidFill>
              </a:rPr>
              <a:t>    invoice_and_item_number,</a:t>
            </a:r>
          </a:p>
          <a:p>
            <a:r>
              <a:rPr lang="pl-PL" sz="1200">
                <a:solidFill>
                  <a:schemeClr val="tx1"/>
                </a:solidFill>
              </a:rPr>
              <a:t>    date,</a:t>
            </a:r>
          </a:p>
          <a:p>
            <a:r>
              <a:rPr lang="pl-PL" sz="1200">
                <a:solidFill>
                  <a:schemeClr val="tx1"/>
                </a:solidFill>
              </a:rPr>
              <a:t>    store_number,</a:t>
            </a:r>
          </a:p>
          <a:p>
            <a:r>
              <a:rPr lang="pl-PL" sz="1200">
                <a:solidFill>
                  <a:schemeClr val="tx1"/>
                </a:solidFill>
              </a:rPr>
              <a:t>    item_description,</a:t>
            </a:r>
          </a:p>
          <a:p>
            <a:r>
              <a:rPr lang="pl-PL" sz="1200">
                <a:solidFill>
                  <a:schemeClr val="tx1"/>
                </a:solidFill>
              </a:rPr>
              <a:t>    bottles_sold,</a:t>
            </a:r>
          </a:p>
          <a:p>
            <a:r>
              <a:rPr lang="pl-PL" sz="1200">
                <a:solidFill>
                  <a:schemeClr val="tx1"/>
                </a:solidFill>
              </a:rPr>
              <a:t>    sale_dollars</a:t>
            </a:r>
          </a:p>
          <a:p>
            <a:r>
              <a:rPr lang="pl-PL" sz="1200">
                <a:solidFill>
                  <a:schemeClr val="tx1"/>
                </a:solidFill>
              </a:rPr>
              <a:t>FROM</a:t>
            </a:r>
          </a:p>
          <a:p>
            <a:r>
              <a:rPr lang="pl-PL" sz="1200">
                <a:solidFill>
                  <a:schemeClr val="tx1"/>
                </a:solidFill>
              </a:rPr>
              <a:t>  `bigdata2024-420908.iowa.sales`</a:t>
            </a:r>
          </a:p>
          <a:p>
            <a:r>
              <a:rPr lang="pl-PL" sz="1200">
                <a:solidFill>
                  <a:schemeClr val="tx1"/>
                </a:solidFill>
              </a:rPr>
              <a:t>LIMIT </a:t>
            </a:r>
          </a:p>
          <a:p>
            <a:r>
              <a:rPr lang="pl-PL" sz="1200">
                <a:solidFill>
                  <a:schemeClr val="tx1"/>
                </a:solidFill>
              </a:rPr>
              <a:t>  5</a:t>
            </a:r>
          </a:p>
        </p:txBody>
      </p:sp>
    </p:spTree>
    <p:extLst>
      <p:ext uri="{BB962C8B-B14F-4D97-AF65-F5344CB8AC3E}">
        <p14:creationId xmlns:p14="http://schemas.microsoft.com/office/powerpoint/2010/main" val="3722229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ymbol zastępczy zawartości 1">
            <a:extLst>
              <a:ext uri="{FF2B5EF4-FFF2-40B4-BE49-F238E27FC236}">
                <a16:creationId xmlns:a16="http://schemas.microsoft.com/office/drawing/2014/main" id="{B3F0B3D8-40D3-CAB3-3380-B64A84336951}"/>
              </a:ext>
            </a:extLst>
          </p:cNvPr>
          <p:cNvSpPr txBox="1">
            <a:spLocks/>
          </p:cNvSpPr>
          <p:nvPr/>
        </p:nvSpPr>
        <p:spPr>
          <a:xfrm>
            <a:off x="363415" y="1965447"/>
            <a:ext cx="2838890" cy="1212605"/>
          </a:xfrm>
          <a:prstGeom prst="rect">
            <a:avLst/>
          </a:prstGeom>
        </p:spPr>
        <p:txBody>
          <a:bodyPr/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1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5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/>
              <a:t>SQL</a:t>
            </a:r>
          </a:p>
        </p:txBody>
      </p:sp>
      <p:grpSp>
        <p:nvGrpSpPr>
          <p:cNvPr id="2" name="Grupa 1">
            <a:extLst>
              <a:ext uri="{FF2B5EF4-FFF2-40B4-BE49-F238E27FC236}">
                <a16:creationId xmlns:a16="http://schemas.microsoft.com/office/drawing/2014/main" id="{B53CCBCC-57B3-D445-3D1E-7BDEF215F4B5}"/>
              </a:ext>
            </a:extLst>
          </p:cNvPr>
          <p:cNvGrpSpPr/>
          <p:nvPr/>
        </p:nvGrpSpPr>
        <p:grpSpPr>
          <a:xfrm>
            <a:off x="482490" y="3067051"/>
            <a:ext cx="2576507" cy="1530349"/>
            <a:chOff x="482490" y="3067051"/>
            <a:chExt cx="2576507" cy="1530349"/>
          </a:xfrm>
        </p:grpSpPr>
        <p:sp>
          <p:nvSpPr>
            <p:cNvPr id="3" name="Prostokąt 2">
              <a:extLst>
                <a:ext uri="{FF2B5EF4-FFF2-40B4-BE49-F238E27FC236}">
                  <a16:creationId xmlns:a16="http://schemas.microsoft.com/office/drawing/2014/main" id="{9524158E-B156-EDBB-85A1-E5C50395F09A}"/>
                </a:ext>
              </a:extLst>
            </p:cNvPr>
            <p:cNvSpPr/>
            <p:nvPr/>
          </p:nvSpPr>
          <p:spPr>
            <a:xfrm>
              <a:off x="568346" y="3067051"/>
              <a:ext cx="2490651" cy="1530349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49818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80000"/>
              <a:r>
                <a:rPr lang="pl-PL" sz="1400" dirty="0" err="1">
                  <a:solidFill>
                    <a:schemeClr val="tx1"/>
                  </a:solidFill>
                  <a:latin typeface="Franklin Gothic Book" panose="020B0503020102020204" pitchFamily="34" charset="0"/>
                </a:rPr>
                <a:t>implementation</a:t>
              </a:r>
              <a:endParaRPr lang="pl-P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Franklin Gothic Book" panose="020B0503020102020204" pitchFamily="34" charset="0"/>
              </a:endParaRPr>
            </a:p>
          </p:txBody>
        </p:sp>
        <p:cxnSp>
          <p:nvCxnSpPr>
            <p:cNvPr id="4" name="Łącznik prosty 3">
              <a:extLst>
                <a:ext uri="{FF2B5EF4-FFF2-40B4-BE49-F238E27FC236}">
                  <a16:creationId xmlns:a16="http://schemas.microsoft.com/office/drawing/2014/main" id="{6C44A21A-8160-9A70-CA52-0E48E315C776}"/>
                </a:ext>
              </a:extLst>
            </p:cNvPr>
            <p:cNvCxnSpPr>
              <a:cxnSpLocks/>
            </p:cNvCxnSpPr>
            <p:nvPr/>
          </p:nvCxnSpPr>
          <p:spPr>
            <a:xfrm>
              <a:off x="482490" y="3067051"/>
              <a:ext cx="0" cy="1530349"/>
            </a:xfrm>
            <a:prstGeom prst="line">
              <a:avLst/>
            </a:prstGeom>
            <a:ln w="349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Obraz 5">
            <a:extLst>
              <a:ext uri="{FF2B5EF4-FFF2-40B4-BE49-F238E27FC236}">
                <a16:creationId xmlns:a16="http://schemas.microsoft.com/office/drawing/2014/main" id="{DE825A59-8DC6-3D9F-3A03-1C7BF3796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381" y="210995"/>
            <a:ext cx="5822620" cy="4386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168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ymbol zastępczy zawartości 1">
            <a:extLst>
              <a:ext uri="{FF2B5EF4-FFF2-40B4-BE49-F238E27FC236}">
                <a16:creationId xmlns:a16="http://schemas.microsoft.com/office/drawing/2014/main" id="{B3F0B3D8-40D3-CAB3-3380-B64A84336951}"/>
              </a:ext>
            </a:extLst>
          </p:cNvPr>
          <p:cNvSpPr txBox="1">
            <a:spLocks/>
          </p:cNvSpPr>
          <p:nvPr/>
        </p:nvSpPr>
        <p:spPr>
          <a:xfrm>
            <a:off x="363415" y="1965447"/>
            <a:ext cx="2838890" cy="1212605"/>
          </a:xfrm>
          <a:prstGeom prst="rect">
            <a:avLst/>
          </a:prstGeom>
        </p:spPr>
        <p:txBody>
          <a:bodyPr/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1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5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/>
              <a:t>SQL</a:t>
            </a:r>
          </a:p>
        </p:txBody>
      </p:sp>
      <p:grpSp>
        <p:nvGrpSpPr>
          <p:cNvPr id="2" name="Grupa 1">
            <a:extLst>
              <a:ext uri="{FF2B5EF4-FFF2-40B4-BE49-F238E27FC236}">
                <a16:creationId xmlns:a16="http://schemas.microsoft.com/office/drawing/2014/main" id="{B53CCBCC-57B3-D445-3D1E-7BDEF215F4B5}"/>
              </a:ext>
            </a:extLst>
          </p:cNvPr>
          <p:cNvGrpSpPr/>
          <p:nvPr/>
        </p:nvGrpSpPr>
        <p:grpSpPr>
          <a:xfrm>
            <a:off x="482490" y="3067051"/>
            <a:ext cx="2576507" cy="1530349"/>
            <a:chOff x="482490" y="3067051"/>
            <a:chExt cx="2576507" cy="1530349"/>
          </a:xfrm>
        </p:grpSpPr>
        <p:sp>
          <p:nvSpPr>
            <p:cNvPr id="3" name="Prostokąt 2">
              <a:extLst>
                <a:ext uri="{FF2B5EF4-FFF2-40B4-BE49-F238E27FC236}">
                  <a16:creationId xmlns:a16="http://schemas.microsoft.com/office/drawing/2014/main" id="{9524158E-B156-EDBB-85A1-E5C50395F09A}"/>
                </a:ext>
              </a:extLst>
            </p:cNvPr>
            <p:cNvSpPr/>
            <p:nvPr/>
          </p:nvSpPr>
          <p:spPr>
            <a:xfrm>
              <a:off x="568346" y="3067051"/>
              <a:ext cx="2490651" cy="1530349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49818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80000"/>
              <a:r>
                <a:rPr lang="pl-PL" sz="1400" dirty="0">
                  <a:solidFill>
                    <a:schemeClr val="tx1"/>
                  </a:solidFill>
                  <a:latin typeface="Franklin Gothic Book" panose="020B0503020102020204" pitchFamily="34" charset="0"/>
                </a:rPr>
                <a:t>New </a:t>
              </a:r>
              <a:r>
                <a:rPr lang="pl-PL" sz="1400" dirty="0" err="1">
                  <a:solidFill>
                    <a:schemeClr val="tx1"/>
                  </a:solidFill>
                  <a:latin typeface="Franklin Gothic Book" panose="020B0503020102020204" pitchFamily="34" charset="0"/>
                </a:rPr>
                <a:t>table</a:t>
              </a:r>
              <a:r>
                <a:rPr lang="pl-PL" sz="1400" dirty="0">
                  <a:solidFill>
                    <a:schemeClr val="tx1"/>
                  </a:solidFill>
                  <a:latin typeface="Franklin Gothic Book" panose="020B0503020102020204" pitchFamily="34" charset="0"/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  <a:latin typeface="Franklin Gothic Book" panose="020B0503020102020204" pitchFamily="34" charset="0"/>
                </a:rPr>
                <a:t>creation</a:t>
              </a:r>
              <a:endParaRPr lang="pl-P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Franklin Gothic Book" panose="020B0503020102020204" pitchFamily="34" charset="0"/>
              </a:endParaRPr>
            </a:p>
          </p:txBody>
        </p:sp>
        <p:cxnSp>
          <p:nvCxnSpPr>
            <p:cNvPr id="4" name="Łącznik prosty 3">
              <a:extLst>
                <a:ext uri="{FF2B5EF4-FFF2-40B4-BE49-F238E27FC236}">
                  <a16:creationId xmlns:a16="http://schemas.microsoft.com/office/drawing/2014/main" id="{6C44A21A-8160-9A70-CA52-0E48E315C776}"/>
                </a:ext>
              </a:extLst>
            </p:cNvPr>
            <p:cNvCxnSpPr>
              <a:cxnSpLocks/>
            </p:cNvCxnSpPr>
            <p:nvPr/>
          </p:nvCxnSpPr>
          <p:spPr>
            <a:xfrm>
              <a:off x="482490" y="3067051"/>
              <a:ext cx="0" cy="1530349"/>
            </a:xfrm>
            <a:prstGeom prst="line">
              <a:avLst/>
            </a:prstGeom>
            <a:ln w="349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Prostokąt 4">
            <a:extLst>
              <a:ext uri="{FF2B5EF4-FFF2-40B4-BE49-F238E27FC236}">
                <a16:creationId xmlns:a16="http://schemas.microsoft.com/office/drawing/2014/main" id="{7F3C765B-80DF-1D32-FE5B-5FE84ADBFD7F}"/>
              </a:ext>
            </a:extLst>
          </p:cNvPr>
          <p:cNvSpPr/>
          <p:nvPr/>
        </p:nvSpPr>
        <p:spPr>
          <a:xfrm>
            <a:off x="4083665" y="231140"/>
            <a:ext cx="4491989" cy="4832350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l-PL" sz="900">
                <a:solidFill>
                  <a:schemeClr val="tx1"/>
                </a:solidFill>
              </a:rPr>
              <a:t>CREATE OR REPLACE TABLE iowa.training_data AS (</a:t>
            </a:r>
          </a:p>
          <a:p>
            <a:r>
              <a:rPr lang="pl-PL" sz="900">
                <a:solidFill>
                  <a:schemeClr val="tx1"/>
                </a:solidFill>
              </a:rPr>
              <a:t>    WITH topsellingitems AS(</a:t>
            </a:r>
          </a:p>
          <a:p>
            <a:r>
              <a:rPr lang="pl-PL" sz="900">
                <a:solidFill>
                  <a:schemeClr val="tx1"/>
                </a:solidFill>
              </a:rPr>
              <a:t>         SELECT </a:t>
            </a:r>
          </a:p>
          <a:p>
            <a:r>
              <a:rPr lang="pl-PL" sz="900">
                <a:solidFill>
                  <a:schemeClr val="tx1"/>
                </a:solidFill>
              </a:rPr>
              <a:t>            item_description,</a:t>
            </a:r>
          </a:p>
          <a:p>
            <a:r>
              <a:rPr lang="pl-PL" sz="900">
                <a:solidFill>
                  <a:schemeClr val="tx1"/>
                </a:solidFill>
              </a:rPr>
              <a:t>            count(item_description) cnt_transactions</a:t>
            </a:r>
          </a:p>
          <a:p>
            <a:r>
              <a:rPr lang="pl-PL" sz="900">
                <a:solidFill>
                  <a:schemeClr val="tx1"/>
                </a:solidFill>
              </a:rPr>
              <a:t>        FROM</a:t>
            </a:r>
          </a:p>
          <a:p>
            <a:r>
              <a:rPr lang="pl-PL" sz="900">
                <a:solidFill>
                  <a:schemeClr val="tx1"/>
                </a:solidFill>
              </a:rPr>
              <a:t>            `bigdata2024-420908.iowa.sales` </a:t>
            </a:r>
          </a:p>
          <a:p>
            <a:r>
              <a:rPr lang="pl-PL" sz="900">
                <a:solidFill>
                  <a:schemeClr val="tx1"/>
                </a:solidFill>
              </a:rPr>
              <a:t>        GROUP BY </a:t>
            </a:r>
          </a:p>
          <a:p>
            <a:r>
              <a:rPr lang="pl-PL" sz="900">
                <a:solidFill>
                  <a:schemeClr val="tx1"/>
                </a:solidFill>
              </a:rPr>
              <a:t>            item_description</a:t>
            </a:r>
          </a:p>
          <a:p>
            <a:r>
              <a:rPr lang="pl-PL" sz="900">
                <a:solidFill>
                  <a:schemeClr val="tx1"/>
                </a:solidFill>
              </a:rPr>
              <a:t>        ORDER BY cnt_transactions DESC</a:t>
            </a:r>
          </a:p>
          <a:p>
            <a:r>
              <a:rPr lang="pl-PL" sz="900">
                <a:solidFill>
                  <a:schemeClr val="tx1"/>
                </a:solidFill>
              </a:rPr>
              <a:t>        LIMIT 5 #Top N</a:t>
            </a:r>
          </a:p>
          <a:p>
            <a:r>
              <a:rPr lang="pl-PL" sz="900">
                <a:solidFill>
                  <a:schemeClr val="tx1"/>
                </a:solidFill>
              </a:rPr>
              <a:t>    )</a:t>
            </a:r>
          </a:p>
          <a:p>
            <a:r>
              <a:rPr lang="pl-PL" sz="900">
                <a:solidFill>
                  <a:schemeClr val="tx1"/>
                </a:solidFill>
              </a:rPr>
              <a:t>    SELECT </a:t>
            </a:r>
          </a:p>
          <a:p>
            <a:r>
              <a:rPr lang="pl-PL" sz="900">
                <a:solidFill>
                  <a:schemeClr val="tx1"/>
                </a:solidFill>
              </a:rPr>
              <a:t>        date,</a:t>
            </a:r>
          </a:p>
          <a:p>
            <a:r>
              <a:rPr lang="pl-PL" sz="900">
                <a:solidFill>
                  <a:schemeClr val="tx1"/>
                </a:solidFill>
              </a:rPr>
              <a:t>        item_description AS item_name,</a:t>
            </a:r>
          </a:p>
          <a:p>
            <a:r>
              <a:rPr lang="pl-PL" sz="900">
                <a:solidFill>
                  <a:schemeClr val="tx1"/>
                </a:solidFill>
              </a:rPr>
              <a:t>        SUM(bottles_sold) AS total_amount_sold</a:t>
            </a:r>
          </a:p>
          <a:p>
            <a:r>
              <a:rPr lang="pl-PL" sz="900">
                <a:solidFill>
                  <a:schemeClr val="tx1"/>
                </a:solidFill>
              </a:rPr>
              <a:t>    FROM</a:t>
            </a:r>
          </a:p>
          <a:p>
            <a:r>
              <a:rPr lang="pl-PL" sz="900">
                <a:solidFill>
                  <a:schemeClr val="tx1"/>
                </a:solidFill>
              </a:rPr>
              <a:t>        `bigdata2024-420908.iowa.sales` </a:t>
            </a:r>
          </a:p>
          <a:p>
            <a:r>
              <a:rPr lang="pl-PL" sz="900">
                <a:solidFill>
                  <a:schemeClr val="tx1"/>
                </a:solidFill>
              </a:rPr>
              <a:t>    GROUP BY</a:t>
            </a:r>
          </a:p>
          <a:p>
            <a:r>
              <a:rPr lang="pl-PL" sz="900">
                <a:solidFill>
                  <a:schemeClr val="tx1"/>
                </a:solidFill>
              </a:rPr>
              <a:t>        date, item_name</a:t>
            </a:r>
          </a:p>
          <a:p>
            <a:r>
              <a:rPr lang="pl-PL" sz="900">
                <a:solidFill>
                  <a:schemeClr val="tx1"/>
                </a:solidFill>
              </a:rPr>
              <a:t>    HAVING </a:t>
            </a:r>
          </a:p>
          <a:p>
            <a:r>
              <a:rPr lang="pl-PL" sz="900">
                <a:solidFill>
                  <a:schemeClr val="tx1"/>
                </a:solidFill>
              </a:rPr>
              <a:t>        date BETWEEN '2023-01-01' AND '2024-03-29'</a:t>
            </a:r>
          </a:p>
          <a:p>
            <a:r>
              <a:rPr lang="pl-PL" sz="900">
                <a:solidFill>
                  <a:schemeClr val="tx1"/>
                </a:solidFill>
              </a:rPr>
              <a:t>        AND item_description IN (SELECT item_description FROM topsellingitems)</a:t>
            </a:r>
          </a:p>
          <a:p>
            <a:r>
              <a:rPr lang="pl-PL" sz="900">
                <a:solidFill>
                  <a:schemeClr val="tx1"/>
                </a:solidFill>
              </a:rPr>
              <a:t>    );</a:t>
            </a:r>
          </a:p>
          <a:p>
            <a:endParaRPr lang="pl-PL" sz="900">
              <a:solidFill>
                <a:schemeClr val="tx1"/>
              </a:solidFill>
            </a:endParaRPr>
          </a:p>
          <a:p>
            <a:r>
              <a:rPr lang="pl-PL" sz="900">
                <a:solidFill>
                  <a:schemeClr val="tx1"/>
                </a:solidFill>
              </a:rPr>
              <a:t>SELECT </a:t>
            </a:r>
          </a:p>
          <a:p>
            <a:r>
              <a:rPr lang="pl-PL" sz="900">
                <a:solidFill>
                  <a:schemeClr val="tx1"/>
                </a:solidFill>
              </a:rPr>
              <a:t>    date,</a:t>
            </a:r>
          </a:p>
          <a:p>
            <a:r>
              <a:rPr lang="pl-PL" sz="900">
                <a:solidFill>
                  <a:schemeClr val="tx1"/>
                </a:solidFill>
              </a:rPr>
              <a:t>    item_name,</a:t>
            </a:r>
          </a:p>
          <a:p>
            <a:r>
              <a:rPr lang="pl-PL" sz="900">
                <a:solidFill>
                  <a:schemeClr val="tx1"/>
                </a:solidFill>
              </a:rPr>
              <a:t>    total_amount_sold</a:t>
            </a:r>
          </a:p>
          <a:p>
            <a:r>
              <a:rPr lang="pl-PL" sz="900">
                <a:solidFill>
                  <a:schemeClr val="tx1"/>
                </a:solidFill>
              </a:rPr>
              <a:t>FROM </a:t>
            </a:r>
          </a:p>
          <a:p>
            <a:r>
              <a:rPr lang="pl-PL" sz="900">
                <a:solidFill>
                  <a:schemeClr val="tx1"/>
                </a:solidFill>
              </a:rPr>
              <a:t>    iowa.training_data </a:t>
            </a:r>
          </a:p>
          <a:p>
            <a:r>
              <a:rPr lang="pl-PL" sz="900">
                <a:solidFill>
                  <a:schemeClr val="tx1"/>
                </a:solidFill>
              </a:rPr>
              <a:t>ORDER BY item_name, date</a:t>
            </a:r>
          </a:p>
          <a:p>
            <a:r>
              <a:rPr lang="pl-PL" sz="900">
                <a:solidFill>
                  <a:schemeClr val="tx1"/>
                </a:solidFill>
              </a:rPr>
              <a:t>LIMIT 10</a:t>
            </a:r>
          </a:p>
        </p:txBody>
      </p:sp>
    </p:spTree>
    <p:extLst>
      <p:ext uri="{BB962C8B-B14F-4D97-AF65-F5344CB8AC3E}">
        <p14:creationId xmlns:p14="http://schemas.microsoft.com/office/powerpoint/2010/main" val="27946306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1184F986-9108-54D4-2A38-D8DF61C41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000" y="0"/>
            <a:ext cx="697799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17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EE17E902-055F-7CDB-CD72-B71669A2A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2434"/>
            <a:ext cx="7772400" cy="483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604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ymbol zastępczy zawartości 1">
            <a:extLst>
              <a:ext uri="{FF2B5EF4-FFF2-40B4-BE49-F238E27FC236}">
                <a16:creationId xmlns:a16="http://schemas.microsoft.com/office/drawing/2014/main" id="{B3F0B3D8-40D3-CAB3-3380-B64A84336951}"/>
              </a:ext>
            </a:extLst>
          </p:cNvPr>
          <p:cNvSpPr txBox="1">
            <a:spLocks/>
          </p:cNvSpPr>
          <p:nvPr/>
        </p:nvSpPr>
        <p:spPr>
          <a:xfrm>
            <a:off x="363415" y="1965447"/>
            <a:ext cx="2838890" cy="1212605"/>
          </a:xfrm>
          <a:prstGeom prst="rect">
            <a:avLst/>
          </a:prstGeom>
        </p:spPr>
        <p:txBody>
          <a:bodyPr/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1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5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/>
              <a:t>Map {Shuffle} Reduce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126EAC1B-E021-8EB2-B363-C0720B2B4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5317" y="845983"/>
            <a:ext cx="5328683" cy="345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096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789385"/>
            <a:ext cx="7700963" cy="328613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>
            <a:noAutofit/>
          </a:bodyPr>
          <a:lstStyle/>
          <a:p>
            <a:pPr>
              <a:lnSpc>
                <a:spcPct val="123529"/>
              </a:lnSpc>
            </a:pPr>
            <a:r>
              <a:rPr lang="en-US" sz="2400" kern="0" spc="-17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Hardware constraint &gt; cost constraint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289447"/>
            <a:ext cx="3786188" cy="2443163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3C4043">
                <a:alpha val="30000"/>
              </a:srgbClr>
            </a:outerShdw>
          </a:effectLst>
        </p:spPr>
        <p:txBody>
          <a:bodyPr/>
          <a:lstStyle/>
          <a:p>
            <a:endParaRPr lang="pl-PL" sz="1600"/>
          </a:p>
        </p:txBody>
      </p:sp>
      <p:sp>
        <p:nvSpPr>
          <p:cNvPr id="5" name="Shape 3"/>
          <p:cNvSpPr/>
          <p:nvPr/>
        </p:nvSpPr>
        <p:spPr>
          <a:xfrm>
            <a:off x="685800" y="1289448"/>
            <a:ext cx="3786188" cy="35719"/>
          </a:xfrm>
          <a:prstGeom prst="rect">
            <a:avLst/>
          </a:prstGeom>
          <a:solidFill>
            <a:srgbClr val="BDC1C6"/>
          </a:solidFill>
          <a:ln/>
        </p:spPr>
        <p:txBody>
          <a:bodyPr/>
          <a:lstStyle/>
          <a:p>
            <a:endParaRPr lang="pl-PL" sz="1600"/>
          </a:p>
        </p:txBody>
      </p:sp>
      <p:sp>
        <p:nvSpPr>
          <p:cNvPr id="6" name="Text 4"/>
          <p:cNvSpPr/>
          <p:nvPr/>
        </p:nvSpPr>
        <p:spPr>
          <a:xfrm>
            <a:off x="942976" y="1546623"/>
            <a:ext cx="3599021" cy="160735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>
            <a:noAutofit/>
          </a:bodyPr>
          <a:lstStyle/>
          <a:p>
            <a:r>
              <a:rPr lang="en-US" sz="900" dirty="0">
                <a:solidFill>
                  <a:srgbClr val="9AA0A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2015 · technical problem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2976" y="1750219"/>
            <a:ext cx="3599021" cy="22860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>
            <a:noAutofit/>
          </a:bodyPr>
          <a:lstStyle/>
          <a:p>
            <a:pPr>
              <a:lnSpc>
                <a:spcPct val="127273"/>
              </a:lnSpc>
            </a:pPr>
            <a:r>
              <a:rPr lang="en-US" sz="14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Will the server be able to cope?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42976" y="2050256"/>
            <a:ext cx="3599021" cy="1114426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Scale &gt; purchase of servers (CapEx)</a:t>
            </a:r>
          </a:p>
        </p:txBody>
      </p:sp>
      <p:sp>
        <p:nvSpPr>
          <p:cNvPr id="9" name="Shape 7"/>
          <p:cNvSpPr/>
          <p:nvPr/>
        </p:nvSpPr>
        <p:spPr>
          <a:xfrm>
            <a:off x="4672012" y="1289447"/>
            <a:ext cx="3786188" cy="2443163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3C4043">
                <a:alpha val="30000"/>
              </a:srgbClr>
            </a:outerShdw>
          </a:effectLst>
        </p:spPr>
        <p:txBody>
          <a:bodyPr/>
          <a:lstStyle/>
          <a:p>
            <a:endParaRPr lang="pl-PL" sz="1600"/>
          </a:p>
        </p:txBody>
      </p:sp>
      <p:sp>
        <p:nvSpPr>
          <p:cNvPr id="10" name="Shape 8"/>
          <p:cNvSpPr/>
          <p:nvPr/>
        </p:nvSpPr>
        <p:spPr>
          <a:xfrm>
            <a:off x="4672012" y="1289448"/>
            <a:ext cx="3786188" cy="35719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pl-PL" sz="1600"/>
          </a:p>
        </p:txBody>
      </p:sp>
      <p:sp>
        <p:nvSpPr>
          <p:cNvPr id="11" name="Text 9"/>
          <p:cNvSpPr/>
          <p:nvPr/>
        </p:nvSpPr>
        <p:spPr>
          <a:xfrm>
            <a:off x="4929188" y="1546623"/>
            <a:ext cx="3599021" cy="160735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>
            <a:noAutofit/>
          </a:bodyPr>
          <a:lstStyle/>
          <a:p>
            <a:r>
              <a:rPr lang="en-US" sz="900" dirty="0">
                <a:solidFill>
                  <a:srgbClr val="9AA0A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2026 · management issue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29188" y="1750219"/>
            <a:ext cx="3599021" cy="22860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>
            <a:noAutofit/>
          </a:bodyPr>
          <a:lstStyle/>
          <a:p>
            <a:pPr>
              <a:lnSpc>
                <a:spcPct val="127273"/>
              </a:lnSpc>
            </a:pPr>
            <a:r>
              <a:rPr lang="en-US" sz="14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 we afford it?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29188" y="2050256"/>
            <a:ext cx="3599021" cy="1075134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Scale &gt; unlimited (OpEx)</a:t>
            </a:r>
          </a:p>
        </p:txBody>
      </p:sp>
      <p:sp>
        <p:nvSpPr>
          <p:cNvPr id="14" name="Text 12"/>
          <p:cNvSpPr/>
          <p:nvPr/>
        </p:nvSpPr>
        <p:spPr>
          <a:xfrm>
            <a:off x="5498504" y="3982236"/>
            <a:ext cx="2079026" cy="657225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>
            <a:noAutofit/>
          </a:bodyPr>
          <a:lstStyle/>
          <a:p>
            <a:r>
              <a:rPr lang="en-US" sz="5400" dirty="0">
                <a:solidFill>
                  <a:srgbClr val="4285F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&gt;$50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5498504" y="4693040"/>
            <a:ext cx="3193433" cy="450459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>
            <a:normAutofit/>
          </a:bodyPr>
          <a:lstStyle/>
          <a:p>
            <a:pPr>
              <a:lnSpc>
                <a:spcPct val="137500"/>
              </a:lnSpc>
            </a:pPr>
            <a:r>
              <a:rPr lang="en-US" sz="10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price for a non-optimised query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EE17E902-055F-7CDB-CD72-B71669A2A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8422" y="802674"/>
            <a:ext cx="5075537" cy="3159726"/>
          </a:xfrm>
          <a:prstGeom prst="rect">
            <a:avLst/>
          </a:prstGeom>
        </p:spPr>
      </p:pic>
      <p:sp>
        <p:nvSpPr>
          <p:cNvPr id="3" name="Symbol zastępczy zawartości 1">
            <a:extLst>
              <a:ext uri="{FF2B5EF4-FFF2-40B4-BE49-F238E27FC236}">
                <a16:creationId xmlns:a16="http://schemas.microsoft.com/office/drawing/2014/main" id="{4F07F009-5BED-1EC9-6CAE-9C3EA46C29F1}"/>
              </a:ext>
            </a:extLst>
          </p:cNvPr>
          <p:cNvSpPr txBox="1">
            <a:spLocks/>
          </p:cNvSpPr>
          <p:nvPr/>
        </p:nvSpPr>
        <p:spPr>
          <a:xfrm>
            <a:off x="363415" y="1965447"/>
            <a:ext cx="2838890" cy="1212605"/>
          </a:xfrm>
          <a:prstGeom prst="rect">
            <a:avLst/>
          </a:prstGeom>
        </p:spPr>
        <p:txBody>
          <a:bodyPr/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1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5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/>
              <a:t>The resurgence of the single node</a:t>
            </a:r>
          </a:p>
        </p:txBody>
      </p:sp>
      <p:grpSp>
        <p:nvGrpSpPr>
          <p:cNvPr id="4" name="Grupa 3">
            <a:extLst>
              <a:ext uri="{FF2B5EF4-FFF2-40B4-BE49-F238E27FC236}">
                <a16:creationId xmlns:a16="http://schemas.microsoft.com/office/drawing/2014/main" id="{3E78D5C7-AF86-EE33-E406-57C6A1FBE70B}"/>
              </a:ext>
            </a:extLst>
          </p:cNvPr>
          <p:cNvGrpSpPr/>
          <p:nvPr/>
        </p:nvGrpSpPr>
        <p:grpSpPr>
          <a:xfrm>
            <a:off x="482490" y="3067051"/>
            <a:ext cx="2576507" cy="1530349"/>
            <a:chOff x="482490" y="3067051"/>
            <a:chExt cx="2576507" cy="1530349"/>
          </a:xfrm>
        </p:grpSpPr>
        <p:sp>
          <p:nvSpPr>
            <p:cNvPr id="5" name="Prostokąt 4">
              <a:extLst>
                <a:ext uri="{FF2B5EF4-FFF2-40B4-BE49-F238E27FC236}">
                  <a16:creationId xmlns:a16="http://schemas.microsoft.com/office/drawing/2014/main" id="{E104F09C-EFAB-EC32-0A17-1DDCA7582B5B}"/>
                </a:ext>
              </a:extLst>
            </p:cNvPr>
            <p:cNvSpPr/>
            <p:nvPr/>
          </p:nvSpPr>
          <p:spPr>
            <a:xfrm>
              <a:off x="568346" y="3067051"/>
              <a:ext cx="2490651" cy="1530349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49818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80000"/>
              <a:r>
                <a:rPr lang="pl-PL" sz="1400">
                  <a:solidFill>
                    <a:schemeClr val="tx1"/>
                  </a:solidFill>
                  <a:latin typeface="Franklin Gothic Book" panose="020B0503020102020204" pitchFamily="34" charset="0"/>
                </a:rPr>
                <a:t>Or perhaps we don’t need Big Data at all???</a:t>
              </a:r>
            </a:p>
            <a:p>
              <a:pPr marL="180000"/>
              <a:endParaRPr lang="pl-PL" sz="1400">
                <a:solidFill>
                  <a:schemeClr val="tx1"/>
                </a:solidFill>
                <a:latin typeface="Franklin Gothic Book" panose="020B0503020102020204" pitchFamily="34" charset="0"/>
              </a:endParaRPr>
            </a:p>
            <a:p>
              <a:pPr marL="180000"/>
              <a:r>
                <a:rPr lang="pl-PL" sz="1400">
                  <a:solidFill>
                    <a:schemeClr val="tx1"/>
                  </a:solidFill>
                  <a:latin typeface="Franklin Gothic Book" panose="020B0503020102020204" pitchFamily="34" charset="0"/>
                </a:rPr>
                <a:t>Does it really have to be distributed? Real-time? Big?</a:t>
              </a:r>
            </a:p>
          </p:txBody>
        </p:sp>
        <p:cxnSp>
          <p:nvCxnSpPr>
            <p:cNvPr id="6" name="Łącznik prosty 5">
              <a:extLst>
                <a:ext uri="{FF2B5EF4-FFF2-40B4-BE49-F238E27FC236}">
                  <a16:creationId xmlns:a16="http://schemas.microsoft.com/office/drawing/2014/main" id="{86363E15-2A75-5808-E40E-BF12DEA36F29}"/>
                </a:ext>
              </a:extLst>
            </p:cNvPr>
            <p:cNvCxnSpPr>
              <a:cxnSpLocks/>
            </p:cNvCxnSpPr>
            <p:nvPr/>
          </p:nvCxnSpPr>
          <p:spPr>
            <a:xfrm>
              <a:off x="482490" y="3067051"/>
              <a:ext cx="0" cy="1530349"/>
            </a:xfrm>
            <a:prstGeom prst="line">
              <a:avLst/>
            </a:prstGeom>
            <a:ln w="349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457502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D8CC6654-1CAD-104C-D6E5-9AAEE4507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70888"/>
            <a:ext cx="7772400" cy="4001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5441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B98D5679-78EE-FE5B-A4A3-0BFAC5CB4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025" y="0"/>
            <a:ext cx="523594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2982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8DE30E3A-470A-B5BF-3910-D4029CCE9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266" y="0"/>
            <a:ext cx="627546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7941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DE904-0BEA-D213-CE1E-8B36FEF64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ymbol zastępczy zawartości 1">
            <a:extLst>
              <a:ext uri="{FF2B5EF4-FFF2-40B4-BE49-F238E27FC236}">
                <a16:creationId xmlns:a16="http://schemas.microsoft.com/office/drawing/2014/main" id="{467128CA-68B9-330C-B7D6-9247EED27143}"/>
              </a:ext>
            </a:extLst>
          </p:cNvPr>
          <p:cNvSpPr txBox="1">
            <a:spLocks/>
          </p:cNvSpPr>
          <p:nvPr/>
        </p:nvSpPr>
        <p:spPr>
          <a:xfrm>
            <a:off x="363415" y="1965447"/>
            <a:ext cx="2838890" cy="1212605"/>
          </a:xfrm>
          <a:prstGeom prst="rect">
            <a:avLst/>
          </a:prstGeom>
        </p:spPr>
        <p:txBody>
          <a:bodyPr/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1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5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/>
              <a:t>Open table formats</a:t>
            </a:r>
          </a:p>
        </p:txBody>
      </p:sp>
      <p:grpSp>
        <p:nvGrpSpPr>
          <p:cNvPr id="2" name="Grupa 1">
            <a:extLst>
              <a:ext uri="{FF2B5EF4-FFF2-40B4-BE49-F238E27FC236}">
                <a16:creationId xmlns:a16="http://schemas.microsoft.com/office/drawing/2014/main" id="{D85410D0-054E-1072-5FAF-67F092B5209B}"/>
              </a:ext>
            </a:extLst>
          </p:cNvPr>
          <p:cNvGrpSpPr/>
          <p:nvPr/>
        </p:nvGrpSpPr>
        <p:grpSpPr>
          <a:xfrm>
            <a:off x="482490" y="3067051"/>
            <a:ext cx="2576507" cy="1530349"/>
            <a:chOff x="482490" y="3067051"/>
            <a:chExt cx="2576507" cy="1530349"/>
          </a:xfrm>
        </p:grpSpPr>
        <p:sp>
          <p:nvSpPr>
            <p:cNvPr id="3" name="Prostokąt 2">
              <a:extLst>
                <a:ext uri="{FF2B5EF4-FFF2-40B4-BE49-F238E27FC236}">
                  <a16:creationId xmlns:a16="http://schemas.microsoft.com/office/drawing/2014/main" id="{9CA98648-1D91-E2D0-D065-A6A63CDBA565}"/>
                </a:ext>
              </a:extLst>
            </p:cNvPr>
            <p:cNvSpPr/>
            <p:nvPr/>
          </p:nvSpPr>
          <p:spPr>
            <a:xfrm>
              <a:off x="568346" y="3067051"/>
              <a:ext cx="2490651" cy="1530349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49818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80000"/>
              <a:r>
                <a:rPr lang="pl-PL" sz="1400">
                  <a:solidFill>
                    <a:schemeClr val="tx1"/>
                  </a:solidFill>
                  <a:latin typeface="Franklin Gothic Book" panose="020B0503020102020204" pitchFamily="34" charset="0"/>
                </a:rPr>
                <a:t>Iceberg</a:t>
              </a:r>
            </a:p>
            <a:p>
              <a:pPr marL="180000"/>
              <a:r>
                <a:rPr lang="pl-PL" sz="1400">
                  <a:solidFill>
                    <a:schemeClr val="tx1"/>
                  </a:solidFill>
                  <a:latin typeface="Franklin Gothic Book" panose="020B0503020102020204" pitchFamily="34" charset="0"/>
                </a:rPr>
                <a:t>Delta</a:t>
              </a:r>
            </a:p>
          </p:txBody>
        </p:sp>
        <p:cxnSp>
          <p:nvCxnSpPr>
            <p:cNvPr id="4" name="Łącznik prosty 3">
              <a:extLst>
                <a:ext uri="{FF2B5EF4-FFF2-40B4-BE49-F238E27FC236}">
                  <a16:creationId xmlns:a16="http://schemas.microsoft.com/office/drawing/2014/main" id="{8EFEC432-C1B0-7BD2-00D8-89DE8D9BE6AE}"/>
                </a:ext>
              </a:extLst>
            </p:cNvPr>
            <p:cNvCxnSpPr>
              <a:cxnSpLocks/>
            </p:cNvCxnSpPr>
            <p:nvPr/>
          </p:nvCxnSpPr>
          <p:spPr>
            <a:xfrm>
              <a:off x="482490" y="3067051"/>
              <a:ext cx="0" cy="1530349"/>
            </a:xfrm>
            <a:prstGeom prst="line">
              <a:avLst/>
            </a:prstGeom>
            <a:ln w="349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Obraz 4">
            <a:extLst>
              <a:ext uri="{FF2B5EF4-FFF2-40B4-BE49-F238E27FC236}">
                <a16:creationId xmlns:a16="http://schemas.microsoft.com/office/drawing/2014/main" id="{EB1DB790-26CE-68EC-111E-195A0B7D4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546100"/>
            <a:ext cx="3886200" cy="2131359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0B7AEA86-A527-C6AF-2390-5D48772C0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7582" y="3256287"/>
            <a:ext cx="2373196" cy="134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6530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2B571-FE41-A6BC-5B14-3432BF528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ymbol zastępczy zawartości 1">
            <a:extLst>
              <a:ext uri="{FF2B5EF4-FFF2-40B4-BE49-F238E27FC236}">
                <a16:creationId xmlns:a16="http://schemas.microsoft.com/office/drawing/2014/main" id="{49F8B0DB-DAFE-14E7-BB88-7E00D829BB62}"/>
              </a:ext>
            </a:extLst>
          </p:cNvPr>
          <p:cNvSpPr txBox="1">
            <a:spLocks/>
          </p:cNvSpPr>
          <p:nvPr/>
        </p:nvSpPr>
        <p:spPr>
          <a:xfrm>
            <a:off x="363415" y="1965447"/>
            <a:ext cx="2838890" cy="1212605"/>
          </a:xfrm>
          <a:prstGeom prst="rect">
            <a:avLst/>
          </a:prstGeom>
        </p:spPr>
        <p:txBody>
          <a:bodyPr/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1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5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/>
              <a:t>Open table formats</a:t>
            </a:r>
          </a:p>
        </p:txBody>
      </p:sp>
      <p:grpSp>
        <p:nvGrpSpPr>
          <p:cNvPr id="2" name="Grupa 1">
            <a:extLst>
              <a:ext uri="{FF2B5EF4-FFF2-40B4-BE49-F238E27FC236}">
                <a16:creationId xmlns:a16="http://schemas.microsoft.com/office/drawing/2014/main" id="{B9A3FDF9-60CD-8A52-5EC2-93A45319A93D}"/>
              </a:ext>
            </a:extLst>
          </p:cNvPr>
          <p:cNvGrpSpPr/>
          <p:nvPr/>
        </p:nvGrpSpPr>
        <p:grpSpPr>
          <a:xfrm>
            <a:off x="482490" y="3067051"/>
            <a:ext cx="2576507" cy="1530349"/>
            <a:chOff x="482490" y="3067051"/>
            <a:chExt cx="2576507" cy="1530349"/>
          </a:xfrm>
        </p:grpSpPr>
        <p:sp>
          <p:nvSpPr>
            <p:cNvPr id="3" name="Prostokąt 2">
              <a:extLst>
                <a:ext uri="{FF2B5EF4-FFF2-40B4-BE49-F238E27FC236}">
                  <a16:creationId xmlns:a16="http://schemas.microsoft.com/office/drawing/2014/main" id="{52FAE3ED-3AF3-B784-6324-12CCF86175E0}"/>
                </a:ext>
              </a:extLst>
            </p:cNvPr>
            <p:cNvSpPr/>
            <p:nvPr/>
          </p:nvSpPr>
          <p:spPr>
            <a:xfrm>
              <a:off x="568346" y="3067051"/>
              <a:ext cx="2490651" cy="1530349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49818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80000"/>
              <a:r>
                <a:rPr lang="pl-PL" sz="1400">
                  <a:solidFill>
                    <a:schemeClr val="tx1"/>
                  </a:solidFill>
                  <a:latin typeface="Franklin Gothic Book" panose="020B0503020102020204" pitchFamily="34" charset="0"/>
                </a:rPr>
                <a:t>Iceberg</a:t>
              </a:r>
            </a:p>
            <a:p>
              <a:pPr marL="180000"/>
              <a:r>
                <a:rPr lang="pl-PL" sz="1400">
                  <a:solidFill>
                    <a:schemeClr val="tx1"/>
                  </a:solidFill>
                  <a:latin typeface="Franklin Gothic Book" panose="020B0503020102020204" pitchFamily="34" charset="0"/>
                </a:rPr>
                <a:t>Delta</a:t>
              </a:r>
            </a:p>
          </p:txBody>
        </p:sp>
        <p:cxnSp>
          <p:nvCxnSpPr>
            <p:cNvPr id="4" name="Łącznik prosty 3">
              <a:extLst>
                <a:ext uri="{FF2B5EF4-FFF2-40B4-BE49-F238E27FC236}">
                  <a16:creationId xmlns:a16="http://schemas.microsoft.com/office/drawing/2014/main" id="{9A6D6DEF-CA46-CDAE-3309-3684C6D3882D}"/>
                </a:ext>
              </a:extLst>
            </p:cNvPr>
            <p:cNvCxnSpPr>
              <a:cxnSpLocks/>
            </p:cNvCxnSpPr>
            <p:nvPr/>
          </p:nvCxnSpPr>
          <p:spPr>
            <a:xfrm>
              <a:off x="482490" y="3067051"/>
              <a:ext cx="0" cy="1530349"/>
            </a:xfrm>
            <a:prstGeom prst="line">
              <a:avLst/>
            </a:prstGeom>
            <a:ln w="349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Obraz 6">
            <a:extLst>
              <a:ext uri="{FF2B5EF4-FFF2-40B4-BE49-F238E27FC236}">
                <a16:creationId xmlns:a16="http://schemas.microsoft.com/office/drawing/2014/main" id="{AE040FFA-3B20-1E59-E6FA-4DBFDC7D3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903" y="884489"/>
            <a:ext cx="5091457" cy="310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3524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2947D-BEAD-848C-102C-A732D1D03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ymbol zastępczy zawartości 1">
            <a:extLst>
              <a:ext uri="{FF2B5EF4-FFF2-40B4-BE49-F238E27FC236}">
                <a16:creationId xmlns:a16="http://schemas.microsoft.com/office/drawing/2014/main" id="{DE9968D1-EA74-3D3E-0F68-49F4BA28C9E9}"/>
              </a:ext>
            </a:extLst>
          </p:cNvPr>
          <p:cNvSpPr txBox="1">
            <a:spLocks/>
          </p:cNvSpPr>
          <p:nvPr/>
        </p:nvSpPr>
        <p:spPr>
          <a:xfrm>
            <a:off x="363415" y="1965447"/>
            <a:ext cx="2838890" cy="1212605"/>
          </a:xfrm>
          <a:prstGeom prst="rect">
            <a:avLst/>
          </a:prstGeom>
        </p:spPr>
        <p:txBody>
          <a:bodyPr/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1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5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/>
              <a:t>Independence</a:t>
            </a:r>
          </a:p>
        </p:txBody>
      </p:sp>
      <p:grpSp>
        <p:nvGrpSpPr>
          <p:cNvPr id="2" name="Grupa 1">
            <a:extLst>
              <a:ext uri="{FF2B5EF4-FFF2-40B4-BE49-F238E27FC236}">
                <a16:creationId xmlns:a16="http://schemas.microsoft.com/office/drawing/2014/main" id="{6E1F97D0-9B43-DD2D-800C-CA71E1FF0819}"/>
              </a:ext>
            </a:extLst>
          </p:cNvPr>
          <p:cNvGrpSpPr/>
          <p:nvPr/>
        </p:nvGrpSpPr>
        <p:grpSpPr>
          <a:xfrm>
            <a:off x="482490" y="3067051"/>
            <a:ext cx="2576507" cy="1861410"/>
            <a:chOff x="482490" y="3067051"/>
            <a:chExt cx="2576507" cy="1861410"/>
          </a:xfrm>
        </p:grpSpPr>
        <p:sp>
          <p:nvSpPr>
            <p:cNvPr id="3" name="Prostokąt 2">
              <a:extLst>
                <a:ext uri="{FF2B5EF4-FFF2-40B4-BE49-F238E27FC236}">
                  <a16:creationId xmlns:a16="http://schemas.microsoft.com/office/drawing/2014/main" id="{3815C5FA-FDCA-0AFD-F384-E1D4E9E7A28E}"/>
                </a:ext>
              </a:extLst>
            </p:cNvPr>
            <p:cNvSpPr/>
            <p:nvPr/>
          </p:nvSpPr>
          <p:spPr>
            <a:xfrm>
              <a:off x="568346" y="3067051"/>
              <a:ext cx="2490651" cy="1861410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49818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80000"/>
              <a:r>
                <a:rPr lang="pl-PL" sz="1200" b="1">
                  <a:solidFill>
                    <a:schemeClr val="tx1"/>
                  </a:solidFill>
                  <a:latin typeface="Franklin Gothic Book" panose="020B0503020102020204" pitchFamily="34" charset="0"/>
                </a:rPr>
                <a:t>Databases: </a:t>
              </a:r>
              <a:r>
                <a:rPr lang="pl-PL" sz="1200">
                  <a:solidFill>
                    <a:schemeClr val="tx1"/>
                  </a:solidFill>
                  <a:latin typeface="Franklin Gothic Book" panose="020B0503020102020204" pitchFamily="34" charset="0"/>
                </a:rPr>
                <a:t>for computing only</a:t>
              </a:r>
            </a:p>
            <a:p>
              <a:pPr marL="180000"/>
              <a:endParaRPr lang="pl-PL" sz="1200">
                <a:solidFill>
                  <a:schemeClr val="tx1"/>
                </a:solidFill>
                <a:latin typeface="Franklin Gothic Book" panose="020B0503020102020204" pitchFamily="34" charset="0"/>
              </a:endParaRPr>
            </a:p>
            <a:p>
              <a:pPr marL="180000"/>
              <a:r>
                <a:rPr lang="pl-PL" sz="1200" b="1">
                  <a:solidFill>
                    <a:schemeClr val="tx1"/>
                  </a:solidFill>
                  <a:latin typeface="Franklin Gothic Book" panose="020B0503020102020204" pitchFamily="34" charset="0"/>
                </a:rPr>
                <a:t>Table formats</a:t>
              </a:r>
              <a:r>
                <a:rPr lang="pl-PL" sz="1200">
                  <a:solidFill>
                    <a:schemeClr val="tx1"/>
                  </a:solidFill>
                  <a:latin typeface="Franklin Gothic Book" panose="020B0503020102020204" pitchFamily="34" charset="0"/>
                </a:rPr>
                <a:t>: separate low-cost storage (buckets) from expensive computing &gt; strong bargaining power</a:t>
              </a:r>
            </a:p>
            <a:p>
              <a:pPr marL="180000"/>
              <a:endParaRPr lang="pl-PL" sz="1200">
                <a:solidFill>
                  <a:schemeClr val="tx1"/>
                </a:solidFill>
                <a:latin typeface="Franklin Gothic Book" panose="020B0503020102020204" pitchFamily="34" charset="0"/>
              </a:endParaRPr>
            </a:p>
            <a:p>
              <a:pPr marL="180000"/>
              <a:r>
                <a:rPr lang="pl-PL" sz="1200" b="1">
                  <a:solidFill>
                    <a:schemeClr val="tx1"/>
                  </a:solidFill>
                  <a:latin typeface="Franklin Gothic Book" panose="020B0503020102020204" pitchFamily="34" charset="0"/>
                </a:rPr>
                <a:t>Data:</a:t>
              </a:r>
              <a:r>
                <a:rPr lang="pl-PL" sz="1200">
                  <a:solidFill>
                    <a:schemeClr val="tx1"/>
                  </a:solidFill>
                  <a:latin typeface="Franklin Gothic Book" panose="020B0503020102020204" pitchFamily="34" charset="0"/>
                </a:rPr>
                <a:t> storage only</a:t>
              </a:r>
            </a:p>
          </p:txBody>
        </p:sp>
        <p:cxnSp>
          <p:nvCxnSpPr>
            <p:cNvPr id="4" name="Łącznik prosty 3">
              <a:extLst>
                <a:ext uri="{FF2B5EF4-FFF2-40B4-BE49-F238E27FC236}">
                  <a16:creationId xmlns:a16="http://schemas.microsoft.com/office/drawing/2014/main" id="{A6D1062E-81C6-2A6C-D2C8-2A29A19931D9}"/>
                </a:ext>
              </a:extLst>
            </p:cNvPr>
            <p:cNvCxnSpPr>
              <a:cxnSpLocks/>
            </p:cNvCxnSpPr>
            <p:nvPr/>
          </p:nvCxnSpPr>
          <p:spPr>
            <a:xfrm>
              <a:off x="482490" y="3067051"/>
              <a:ext cx="0" cy="1530349"/>
            </a:xfrm>
            <a:prstGeom prst="line">
              <a:avLst/>
            </a:prstGeom>
            <a:ln w="349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Obraz 8">
            <a:extLst>
              <a:ext uri="{FF2B5EF4-FFF2-40B4-BE49-F238E27FC236}">
                <a16:creationId xmlns:a16="http://schemas.microsoft.com/office/drawing/2014/main" id="{0EBEEE95-E1BB-C1EC-48D7-2D707F769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855" y="1683545"/>
            <a:ext cx="4236921" cy="18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7194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253D3-7B1D-94D8-02B2-1E895D42B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ymbol zastępczy zawartości 1">
            <a:extLst>
              <a:ext uri="{FF2B5EF4-FFF2-40B4-BE49-F238E27FC236}">
                <a16:creationId xmlns:a16="http://schemas.microsoft.com/office/drawing/2014/main" id="{FAB10B7F-52F1-92BA-6DF0-8AD484B992E4}"/>
              </a:ext>
            </a:extLst>
          </p:cNvPr>
          <p:cNvSpPr txBox="1">
            <a:spLocks/>
          </p:cNvSpPr>
          <p:nvPr/>
        </p:nvSpPr>
        <p:spPr>
          <a:xfrm>
            <a:off x="363415" y="1965447"/>
            <a:ext cx="2838890" cy="1212605"/>
          </a:xfrm>
          <a:prstGeom prst="rect">
            <a:avLst/>
          </a:prstGeom>
        </p:spPr>
        <p:txBody>
          <a:bodyPr/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1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5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/>
              <a:t>A new layer of abstraction</a:t>
            </a:r>
          </a:p>
        </p:txBody>
      </p:sp>
      <p:pic>
        <p:nvPicPr>
          <p:cNvPr id="2" name="Obraz 1">
            <a:extLst>
              <a:ext uri="{FF2B5EF4-FFF2-40B4-BE49-F238E27FC236}">
                <a16:creationId xmlns:a16="http://schemas.microsoft.com/office/drawing/2014/main" id="{D9267E1B-2D95-71F3-5A47-34426FB9E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075" y="-1"/>
            <a:ext cx="394824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8530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9BE77-6BE5-F234-3316-1BC0DE7B6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>
            <a:extLst>
              <a:ext uri="{FF2B5EF4-FFF2-40B4-BE49-F238E27FC236}">
                <a16:creationId xmlns:a16="http://schemas.microsoft.com/office/drawing/2014/main" id="{1CD33E81-E664-D093-2C04-024A792555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Value generation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6CF55BE7-6A9B-A4F4-4CA1-C71B601C72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/>
              <a:t>Unstructured data</a:t>
            </a:r>
          </a:p>
        </p:txBody>
      </p:sp>
    </p:spTree>
    <p:extLst>
      <p:ext uri="{BB962C8B-B14F-4D97-AF65-F5344CB8AC3E}">
        <p14:creationId xmlns:p14="http://schemas.microsoft.com/office/powerpoint/2010/main" val="28646667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F5D31-2976-85B6-1BA4-68413428B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406EEFC-CCD2-D461-5E4B-4E9CBE0460D9}"/>
              </a:ext>
            </a:extLst>
          </p:cNvPr>
          <p:cNvSpPr/>
          <p:nvPr/>
        </p:nvSpPr>
        <p:spPr>
          <a:xfrm>
            <a:off x="685800" y="789385"/>
            <a:ext cx="7700963" cy="328613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>
            <a:noAutofit/>
          </a:bodyPr>
          <a:lstStyle/>
          <a:p>
            <a:pPr>
              <a:lnSpc>
                <a:spcPct val="123529"/>
              </a:lnSpc>
            </a:pPr>
            <a:r>
              <a:rPr lang="en-US" sz="2400" kern="0" spc="-17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Unstructured data generate value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5AB05B9-3A7C-B83A-A54B-9490C607639C}"/>
              </a:ext>
            </a:extLst>
          </p:cNvPr>
          <p:cNvSpPr/>
          <p:nvPr/>
        </p:nvSpPr>
        <p:spPr>
          <a:xfrm>
            <a:off x="685800" y="1289447"/>
            <a:ext cx="3786188" cy="2443163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3C4043">
                <a:alpha val="3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D76E4C0-C12A-2D62-560C-4A9970BA929E}"/>
              </a:ext>
            </a:extLst>
          </p:cNvPr>
          <p:cNvSpPr/>
          <p:nvPr/>
        </p:nvSpPr>
        <p:spPr>
          <a:xfrm>
            <a:off x="685800" y="1289448"/>
            <a:ext cx="3786188" cy="35719"/>
          </a:xfrm>
          <a:prstGeom prst="rect">
            <a:avLst/>
          </a:prstGeom>
          <a:solidFill>
            <a:srgbClr val="BDC1C6"/>
          </a:solidFill>
          <a:ln/>
        </p:spPr>
        <p:txBody>
          <a:bodyPr/>
          <a:lstStyle/>
          <a:p>
            <a:endParaRPr lang="pl-PL" sz="16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3EF1821-AFBE-A504-F605-99633017AB9D}"/>
              </a:ext>
            </a:extLst>
          </p:cNvPr>
          <p:cNvSpPr/>
          <p:nvPr/>
        </p:nvSpPr>
        <p:spPr>
          <a:xfrm>
            <a:off x="942976" y="1546623"/>
            <a:ext cx="3599021" cy="160735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>
            <a:noAutofit/>
          </a:bodyPr>
          <a:lstStyle/>
          <a:p>
            <a:r>
              <a:rPr lang="en-US" sz="900" dirty="0">
                <a:solidFill>
                  <a:srgbClr val="9AA0A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2015 · technical problem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DCB1373-BC3F-FB35-3C26-E6F09EBBC4DA}"/>
              </a:ext>
            </a:extLst>
          </p:cNvPr>
          <p:cNvSpPr/>
          <p:nvPr/>
        </p:nvSpPr>
        <p:spPr>
          <a:xfrm>
            <a:off x="942976" y="1750219"/>
            <a:ext cx="3599021" cy="22860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>
            <a:noAutofit/>
          </a:bodyPr>
          <a:lstStyle/>
          <a:p>
            <a:pPr>
              <a:lnSpc>
                <a:spcPct val="127273"/>
              </a:lnSpc>
            </a:pPr>
            <a:r>
              <a:rPr lang="pl-PL" sz="140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should we do with these PDFs?</a:t>
            </a:r>
            <a:endParaRPr lang="en-US" sz="1400" dirty="0">
              <a:solidFill>
                <a:srgbClr val="202124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894AD7B-13A8-1564-EDDF-8F1BFE850261}"/>
              </a:ext>
            </a:extLst>
          </p:cNvPr>
          <p:cNvSpPr/>
          <p:nvPr/>
        </p:nvSpPr>
        <p:spPr>
          <a:xfrm>
            <a:off x="942976" y="2358482"/>
            <a:ext cx="3599021" cy="1114426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80% of the data was unreadable by machines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946CEA6-C9D6-39CE-584B-FC10DD953EB8}"/>
              </a:ext>
            </a:extLst>
          </p:cNvPr>
          <p:cNvSpPr/>
          <p:nvPr/>
        </p:nvSpPr>
        <p:spPr>
          <a:xfrm>
            <a:off x="4672012" y="1289447"/>
            <a:ext cx="3786188" cy="2443163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/>
          <a:effectLst>
            <a:outerShdw blurRad="19050" dist="9525" dir="5400000" algn="bl" rotWithShape="0">
              <a:srgbClr val="3C4043">
                <a:alpha val="30000"/>
              </a:srgbClr>
            </a:outerShdw>
          </a:effectLst>
        </p:spPr>
        <p:txBody>
          <a:bodyPr/>
          <a:lstStyle/>
          <a:p>
            <a:endParaRPr lang="pl-PL" sz="16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9C121AB-A72C-49FB-BBCD-486B796A591C}"/>
              </a:ext>
            </a:extLst>
          </p:cNvPr>
          <p:cNvSpPr/>
          <p:nvPr/>
        </p:nvSpPr>
        <p:spPr>
          <a:xfrm>
            <a:off x="4672012" y="1289448"/>
            <a:ext cx="3786188" cy="35719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pl-PL" sz="16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9D4C8D6-6E48-B6DE-ED4D-2EBB56CC4008}"/>
              </a:ext>
            </a:extLst>
          </p:cNvPr>
          <p:cNvSpPr/>
          <p:nvPr/>
        </p:nvSpPr>
        <p:spPr>
          <a:xfrm>
            <a:off x="4929188" y="1546623"/>
            <a:ext cx="3599021" cy="160735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>
            <a:noAutofit/>
          </a:bodyPr>
          <a:lstStyle/>
          <a:p>
            <a:r>
              <a:rPr lang="en-US" sz="900" dirty="0">
                <a:solidFill>
                  <a:srgbClr val="9AA0A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2026 · management issue</a:t>
            </a:r>
            <a:endParaRPr lang="en-US" sz="9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28D8CD4-850B-CA08-F6A2-EC485A3B184C}"/>
              </a:ext>
            </a:extLst>
          </p:cNvPr>
          <p:cNvSpPr/>
          <p:nvPr/>
        </p:nvSpPr>
        <p:spPr>
          <a:xfrm>
            <a:off x="4929188" y="1750219"/>
            <a:ext cx="3599021" cy="22860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>
            <a:noAutofit/>
          </a:bodyPr>
          <a:lstStyle/>
          <a:p>
            <a:pPr>
              <a:lnSpc>
                <a:spcPct val="127273"/>
              </a:lnSpc>
            </a:pPr>
            <a:r>
              <a:rPr lang="en-US" sz="1400" dirty="0">
                <a:solidFill>
                  <a:srgbClr val="2021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can you turn the knowledge hidden in a PDF into an advantage?</a:t>
            </a: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C50C9B7-65AB-C493-1B5B-2EFBBEB9B657}"/>
              </a:ext>
            </a:extLst>
          </p:cNvPr>
          <p:cNvSpPr/>
          <p:nvPr/>
        </p:nvSpPr>
        <p:spPr>
          <a:xfrm>
            <a:off x="4929188" y="2317381"/>
            <a:ext cx="3599021" cy="1075134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basic LLM allows us to regain knowledge – and we are the only ones who possess it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DC148A3-6018-6E5E-D523-0D5E836F45C7}"/>
              </a:ext>
            </a:extLst>
          </p:cNvPr>
          <p:cNvSpPr/>
          <p:nvPr/>
        </p:nvSpPr>
        <p:spPr>
          <a:xfrm>
            <a:off x="5498504" y="3989786"/>
            <a:ext cx="2079026" cy="657225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>
            <a:noAutofit/>
          </a:bodyPr>
          <a:lstStyle/>
          <a:p>
            <a:r>
              <a:rPr lang="en-US" sz="5400" dirty="0">
                <a:solidFill>
                  <a:srgbClr val="4285F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~80%</a:t>
            </a:r>
            <a:endParaRPr lang="en-US" sz="5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789CCA3-344E-96E3-4D33-295626B97C6E}"/>
              </a:ext>
            </a:extLst>
          </p:cNvPr>
          <p:cNvSpPr/>
          <p:nvPr/>
        </p:nvSpPr>
        <p:spPr>
          <a:xfrm>
            <a:off x="5955323" y="4693040"/>
            <a:ext cx="2736614" cy="450459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>
            <a:normAutofit/>
          </a:bodyPr>
          <a:lstStyle/>
          <a:p>
            <a:pPr>
              <a:lnSpc>
                <a:spcPct val="137500"/>
              </a:lnSpc>
            </a:pPr>
            <a:r>
              <a:rPr lang="en-US" sz="10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unstructured data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914213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E37DCDEE-DA69-E22C-0830-C28869690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074" y="1505610"/>
            <a:ext cx="4583624" cy="2518768"/>
          </a:xfrm>
          <a:prstGeom prst="rect">
            <a:avLst/>
          </a:prstGeom>
        </p:spPr>
      </p:pic>
      <p:sp>
        <p:nvSpPr>
          <p:cNvPr id="3" name="Symbol zastępczy zawartości 1">
            <a:extLst>
              <a:ext uri="{FF2B5EF4-FFF2-40B4-BE49-F238E27FC236}">
                <a16:creationId xmlns:a16="http://schemas.microsoft.com/office/drawing/2014/main" id="{F1FA4D64-6EA3-2A4E-12E3-EAFF5951794B}"/>
              </a:ext>
            </a:extLst>
          </p:cNvPr>
          <p:cNvSpPr txBox="1">
            <a:spLocks/>
          </p:cNvSpPr>
          <p:nvPr/>
        </p:nvSpPr>
        <p:spPr>
          <a:xfrm>
            <a:off x="363415" y="1965447"/>
            <a:ext cx="2838890" cy="1212605"/>
          </a:xfrm>
          <a:prstGeom prst="rect">
            <a:avLst/>
          </a:prstGeom>
        </p:spPr>
        <p:txBody>
          <a:bodyPr/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1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5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/>
              <a:t>RAG</a:t>
            </a:r>
          </a:p>
        </p:txBody>
      </p:sp>
      <p:grpSp>
        <p:nvGrpSpPr>
          <p:cNvPr id="4" name="Grupa 3">
            <a:extLst>
              <a:ext uri="{FF2B5EF4-FFF2-40B4-BE49-F238E27FC236}">
                <a16:creationId xmlns:a16="http://schemas.microsoft.com/office/drawing/2014/main" id="{2B0CCA6D-9003-8C01-5823-EAE182084C31}"/>
              </a:ext>
            </a:extLst>
          </p:cNvPr>
          <p:cNvGrpSpPr/>
          <p:nvPr/>
        </p:nvGrpSpPr>
        <p:grpSpPr>
          <a:xfrm>
            <a:off x="482490" y="3067051"/>
            <a:ext cx="2576507" cy="1861410"/>
            <a:chOff x="482490" y="3067051"/>
            <a:chExt cx="2576507" cy="1861410"/>
          </a:xfrm>
        </p:grpSpPr>
        <p:sp>
          <p:nvSpPr>
            <p:cNvPr id="5" name="Prostokąt 4">
              <a:extLst>
                <a:ext uri="{FF2B5EF4-FFF2-40B4-BE49-F238E27FC236}">
                  <a16:creationId xmlns:a16="http://schemas.microsoft.com/office/drawing/2014/main" id="{25F14629-2DBF-8A73-0880-07341D41370C}"/>
                </a:ext>
              </a:extLst>
            </p:cNvPr>
            <p:cNvSpPr/>
            <p:nvPr/>
          </p:nvSpPr>
          <p:spPr>
            <a:xfrm>
              <a:off x="568346" y="3067051"/>
              <a:ext cx="2490651" cy="1861410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49818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80000"/>
              <a:r>
                <a:rPr lang="pl-PL" sz="1400">
                  <a:solidFill>
                    <a:schemeClr val="tx1"/>
                  </a:solidFill>
                  <a:latin typeface="Franklin Gothic Book" panose="020B0503020102020204" pitchFamily="34" charset="0"/>
                </a:rPr>
                <a:t>Our unstructured data can finally become the source of real value</a:t>
              </a:r>
            </a:p>
          </p:txBody>
        </p:sp>
        <p:cxnSp>
          <p:nvCxnSpPr>
            <p:cNvPr id="6" name="Łącznik prosty 5">
              <a:extLst>
                <a:ext uri="{FF2B5EF4-FFF2-40B4-BE49-F238E27FC236}">
                  <a16:creationId xmlns:a16="http://schemas.microsoft.com/office/drawing/2014/main" id="{8AAB8847-581A-11E7-433F-05B5DB251EDD}"/>
                </a:ext>
              </a:extLst>
            </p:cNvPr>
            <p:cNvCxnSpPr>
              <a:cxnSpLocks/>
            </p:cNvCxnSpPr>
            <p:nvPr/>
          </p:nvCxnSpPr>
          <p:spPr>
            <a:xfrm>
              <a:off x="482490" y="3067051"/>
              <a:ext cx="0" cy="1530349"/>
            </a:xfrm>
            <a:prstGeom prst="line">
              <a:avLst/>
            </a:prstGeom>
            <a:ln w="349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107196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>
            <a:extLst>
              <a:ext uri="{FF2B5EF4-FFF2-40B4-BE49-F238E27FC236}">
                <a16:creationId xmlns:a16="http://schemas.microsoft.com/office/drawing/2014/main" id="{D1D8119D-A7B9-424E-9DF4-F1C78DAE42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Pipelines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7B14458-ECCD-C9A2-F2F8-AF7E6A8133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636784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ymbol zastępczy zawartości 1">
            <a:extLst>
              <a:ext uri="{FF2B5EF4-FFF2-40B4-BE49-F238E27FC236}">
                <a16:creationId xmlns:a16="http://schemas.microsoft.com/office/drawing/2014/main" id="{B3F0B3D8-40D3-CAB3-3380-B64A84336951}"/>
              </a:ext>
            </a:extLst>
          </p:cNvPr>
          <p:cNvSpPr txBox="1">
            <a:spLocks/>
          </p:cNvSpPr>
          <p:nvPr/>
        </p:nvSpPr>
        <p:spPr>
          <a:xfrm>
            <a:off x="363415" y="1965447"/>
            <a:ext cx="2838890" cy="1212605"/>
          </a:xfrm>
          <a:prstGeom prst="rect">
            <a:avLst/>
          </a:prstGeom>
        </p:spPr>
        <p:txBody>
          <a:bodyPr/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1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5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 dirty="0" err="1"/>
              <a:t>Pipelines</a:t>
            </a:r>
            <a:endParaRPr lang="pl-PL" dirty="0"/>
          </a:p>
        </p:txBody>
      </p:sp>
      <p:grpSp>
        <p:nvGrpSpPr>
          <p:cNvPr id="2" name="Grupa 1">
            <a:extLst>
              <a:ext uri="{FF2B5EF4-FFF2-40B4-BE49-F238E27FC236}">
                <a16:creationId xmlns:a16="http://schemas.microsoft.com/office/drawing/2014/main" id="{B53CCBCC-57B3-D445-3D1E-7BDEF215F4B5}"/>
              </a:ext>
            </a:extLst>
          </p:cNvPr>
          <p:cNvGrpSpPr/>
          <p:nvPr/>
        </p:nvGrpSpPr>
        <p:grpSpPr>
          <a:xfrm>
            <a:off x="482490" y="3067051"/>
            <a:ext cx="2576507" cy="1530349"/>
            <a:chOff x="482490" y="3067051"/>
            <a:chExt cx="2576507" cy="1530349"/>
          </a:xfrm>
        </p:grpSpPr>
        <p:sp>
          <p:nvSpPr>
            <p:cNvPr id="3" name="Prostokąt 2">
              <a:extLst>
                <a:ext uri="{FF2B5EF4-FFF2-40B4-BE49-F238E27FC236}">
                  <a16:creationId xmlns:a16="http://schemas.microsoft.com/office/drawing/2014/main" id="{9524158E-B156-EDBB-85A1-E5C50395F09A}"/>
                </a:ext>
              </a:extLst>
            </p:cNvPr>
            <p:cNvSpPr/>
            <p:nvPr/>
          </p:nvSpPr>
          <p:spPr>
            <a:xfrm>
              <a:off x="568346" y="3067051"/>
              <a:ext cx="2490651" cy="1530349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49818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80000"/>
              <a:r>
                <a:rPr lang="pl-PL" sz="1400" dirty="0" err="1">
                  <a:solidFill>
                    <a:schemeClr val="tx1"/>
                  </a:solidFill>
                  <a:latin typeface="Franklin Gothic Book" panose="020B0503020102020204" pitchFamily="34" charset="0"/>
                </a:rPr>
                <a:t>Stream</a:t>
              </a:r>
              <a:r>
                <a:rPr lang="pl-PL" sz="1400" dirty="0">
                  <a:solidFill>
                    <a:schemeClr val="tx1"/>
                  </a:solidFill>
                  <a:latin typeface="Franklin Gothic Book" panose="020B0503020102020204" pitchFamily="34" charset="0"/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  <a:latin typeface="Franklin Gothic Book" panose="020B0503020102020204" pitchFamily="34" charset="0"/>
                </a:rPr>
                <a:t>processing</a:t>
              </a:r>
              <a:endParaRPr lang="pl-PL" sz="1400" dirty="0">
                <a:solidFill>
                  <a:schemeClr val="tx1"/>
                </a:solidFill>
                <a:latin typeface="Franklin Gothic Book" panose="020B0503020102020204" pitchFamily="34" charset="0"/>
              </a:endParaRPr>
            </a:p>
            <a:p>
              <a:pPr marL="180000"/>
              <a:endParaRPr lang="pl-PL" sz="1400" dirty="0">
                <a:solidFill>
                  <a:schemeClr val="tx1"/>
                </a:solidFill>
                <a:latin typeface="Franklin Gothic Book" panose="020B0503020102020204" pitchFamily="34" charset="0"/>
              </a:endParaRPr>
            </a:p>
            <a:p>
              <a:pPr marL="180000"/>
              <a:r>
                <a:rPr lang="pl-PL" sz="1400" dirty="0" err="1">
                  <a:solidFill>
                    <a:schemeClr val="tx1"/>
                  </a:solidFill>
                  <a:latin typeface="Franklin Gothic Book" panose="020B0503020102020204" pitchFamily="34" charset="0"/>
                </a:rPr>
                <a:t>Batch</a:t>
              </a:r>
              <a:r>
                <a:rPr lang="pl-PL" sz="1400" dirty="0">
                  <a:solidFill>
                    <a:schemeClr val="tx1"/>
                  </a:solidFill>
                  <a:latin typeface="Franklin Gothic Book" panose="020B0503020102020204" pitchFamily="34" charset="0"/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  <a:latin typeface="Franklin Gothic Book" panose="020B0503020102020204" pitchFamily="34" charset="0"/>
                </a:rPr>
                <a:t>processing</a:t>
              </a:r>
              <a:endParaRPr lang="pl-PL" sz="1400" dirty="0">
                <a:solidFill>
                  <a:schemeClr val="tx1"/>
                </a:solidFill>
                <a:latin typeface="Franklin Gothic Book" panose="020B0503020102020204" pitchFamily="34" charset="0"/>
              </a:endParaRPr>
            </a:p>
            <a:p>
              <a:pPr marL="180000"/>
              <a:endParaRPr lang="pl-PL" sz="1400" dirty="0">
                <a:solidFill>
                  <a:schemeClr val="tx1"/>
                </a:solidFill>
                <a:latin typeface="Franklin Gothic Book" panose="020B0503020102020204" pitchFamily="34" charset="0"/>
              </a:endParaRPr>
            </a:p>
            <a:p>
              <a:pPr marL="180000"/>
              <a:r>
                <a:rPr lang="pl-PL" sz="1400" dirty="0">
                  <a:solidFill>
                    <a:schemeClr val="tx1"/>
                  </a:solidFill>
                  <a:latin typeface="Franklin Gothic Book" panose="020B0503020102020204" pitchFamily="34" charset="0"/>
                </a:rPr>
                <a:t>(</a:t>
              </a:r>
              <a:r>
                <a:rPr lang="pl-PL" sz="1400" dirty="0" err="1">
                  <a:solidFill>
                    <a:schemeClr val="tx1"/>
                  </a:solidFill>
                  <a:latin typeface="Franklin Gothic Book" panose="020B0503020102020204" pitchFamily="34" charset="0"/>
                </a:rPr>
                <a:t>Stream</a:t>
              </a:r>
              <a:r>
                <a:rPr lang="pl-PL" sz="1400" dirty="0">
                  <a:solidFill>
                    <a:schemeClr val="tx1"/>
                  </a:solidFill>
                  <a:latin typeface="Franklin Gothic Book" panose="020B0503020102020204" pitchFamily="34" charset="0"/>
                </a:rPr>
                <a:t> and </a:t>
              </a:r>
              <a:r>
                <a:rPr lang="pl-PL" sz="1400" dirty="0" err="1">
                  <a:solidFill>
                    <a:schemeClr val="tx1"/>
                  </a:solidFill>
                  <a:latin typeface="Franklin Gothic Book" panose="020B0503020102020204" pitchFamily="34" charset="0"/>
                </a:rPr>
                <a:t>Batch</a:t>
              </a:r>
              <a:r>
                <a:rPr lang="pl-PL" sz="1400" dirty="0">
                  <a:solidFill>
                    <a:schemeClr val="tx1"/>
                  </a:solidFill>
                  <a:latin typeface="Franklin Gothic Book" panose="020B0503020102020204" pitchFamily="34" charset="0"/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  <a:latin typeface="Franklin Gothic Book" panose="020B0503020102020204" pitchFamily="34" charset="0"/>
                </a:rPr>
                <a:t>Pipelines</a:t>
              </a:r>
              <a:r>
                <a:rPr lang="pl-PL" sz="1400" dirty="0">
                  <a:solidFill>
                    <a:schemeClr val="tx1"/>
                  </a:solidFill>
                  <a:latin typeface="Franklin Gothic Book" panose="020B0503020102020204" pitchFamily="34" charset="0"/>
                </a:rPr>
                <a:t>)</a:t>
              </a:r>
              <a:endParaRPr lang="pl-P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Franklin Gothic Book" panose="020B0503020102020204" pitchFamily="34" charset="0"/>
              </a:endParaRPr>
            </a:p>
          </p:txBody>
        </p:sp>
        <p:cxnSp>
          <p:nvCxnSpPr>
            <p:cNvPr id="4" name="Łącznik prosty 3">
              <a:extLst>
                <a:ext uri="{FF2B5EF4-FFF2-40B4-BE49-F238E27FC236}">
                  <a16:creationId xmlns:a16="http://schemas.microsoft.com/office/drawing/2014/main" id="{6C44A21A-8160-9A70-CA52-0E48E315C776}"/>
                </a:ext>
              </a:extLst>
            </p:cNvPr>
            <p:cNvCxnSpPr>
              <a:cxnSpLocks/>
            </p:cNvCxnSpPr>
            <p:nvPr/>
          </p:nvCxnSpPr>
          <p:spPr>
            <a:xfrm>
              <a:off x="482490" y="3067051"/>
              <a:ext cx="0" cy="1530349"/>
            </a:xfrm>
            <a:prstGeom prst="line">
              <a:avLst/>
            </a:prstGeom>
            <a:ln w="349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upa 30">
            <a:extLst>
              <a:ext uri="{FF2B5EF4-FFF2-40B4-BE49-F238E27FC236}">
                <a16:creationId xmlns:a16="http://schemas.microsoft.com/office/drawing/2014/main" id="{81D23C91-48DB-12BE-8C53-FA073C4E121B}"/>
              </a:ext>
            </a:extLst>
          </p:cNvPr>
          <p:cNvGrpSpPr/>
          <p:nvPr/>
        </p:nvGrpSpPr>
        <p:grpSpPr>
          <a:xfrm>
            <a:off x="3393969" y="1336010"/>
            <a:ext cx="5750031" cy="2247960"/>
            <a:chOff x="3076879" y="1018920"/>
            <a:chExt cx="5750031" cy="2247960"/>
          </a:xfrm>
        </p:grpSpPr>
        <p:sp>
          <p:nvSpPr>
            <p:cNvPr id="6" name="pole tekstowe 5">
              <a:extLst>
                <a:ext uri="{FF2B5EF4-FFF2-40B4-BE49-F238E27FC236}">
                  <a16:creationId xmlns:a16="http://schemas.microsoft.com/office/drawing/2014/main" id="{4BC2450D-5E97-0EDC-C0BA-518B96B807F8}"/>
                </a:ext>
              </a:extLst>
            </p:cNvPr>
            <p:cNvSpPr txBox="1"/>
            <p:nvPr/>
          </p:nvSpPr>
          <p:spPr>
            <a:xfrm>
              <a:off x="3076879" y="1018920"/>
              <a:ext cx="1084007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l-PL" sz="700" i="1" dirty="0" err="1"/>
                <a:t>Logs</a:t>
              </a:r>
              <a:r>
                <a:rPr lang="pl-PL" sz="700" i="1" dirty="0"/>
                <a:t>, </a:t>
              </a:r>
              <a:r>
                <a:rPr lang="pl-PL" sz="700" i="1" dirty="0" err="1"/>
                <a:t>events</a:t>
              </a:r>
              <a:r>
                <a:rPr lang="pl-PL" sz="700" i="1" dirty="0"/>
                <a:t>, </a:t>
              </a:r>
              <a:r>
                <a:rPr lang="pl-PL" sz="700" i="1" dirty="0" err="1"/>
                <a:t>queries</a:t>
              </a:r>
              <a:r>
                <a:rPr lang="pl-PL" sz="700" i="1" dirty="0"/>
                <a:t>, etc.</a:t>
              </a:r>
            </a:p>
          </p:txBody>
        </p:sp>
        <p:sp>
          <p:nvSpPr>
            <p:cNvPr id="7" name="pole tekstowe 6">
              <a:extLst>
                <a:ext uri="{FF2B5EF4-FFF2-40B4-BE49-F238E27FC236}">
                  <a16:creationId xmlns:a16="http://schemas.microsoft.com/office/drawing/2014/main" id="{D2BAB16C-ABFC-B3F0-4176-EC36629DAB76}"/>
                </a:ext>
              </a:extLst>
            </p:cNvPr>
            <p:cNvSpPr txBox="1"/>
            <p:nvPr/>
          </p:nvSpPr>
          <p:spPr>
            <a:xfrm>
              <a:off x="3076879" y="2959103"/>
              <a:ext cx="1084007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pl-PL"/>
              </a:defPPr>
              <a:lvl1pPr>
                <a:defRPr sz="700" i="1"/>
              </a:lvl1pPr>
            </a:lstStyle>
            <a:p>
              <a:r>
                <a:rPr lang="pl-PL" dirty="0" err="1"/>
                <a:t>Logfiles</a:t>
              </a:r>
              <a:r>
                <a:rPr lang="pl-PL" dirty="0"/>
                <a:t>, </a:t>
              </a:r>
              <a:r>
                <a:rPr lang="pl-PL" dirty="0" err="1"/>
                <a:t>datasets</a:t>
              </a:r>
              <a:r>
                <a:rPr lang="pl-PL" dirty="0"/>
                <a:t>, data </a:t>
              </a:r>
              <a:r>
                <a:rPr lang="pl-PL" dirty="0" err="1"/>
                <a:t>bases</a:t>
              </a:r>
              <a:r>
                <a:rPr lang="pl-PL" dirty="0"/>
                <a:t>, etc.</a:t>
              </a:r>
            </a:p>
          </p:txBody>
        </p:sp>
        <p:sp>
          <p:nvSpPr>
            <p:cNvPr id="8" name="pole tekstowe 7">
              <a:extLst>
                <a:ext uri="{FF2B5EF4-FFF2-40B4-BE49-F238E27FC236}">
                  <a16:creationId xmlns:a16="http://schemas.microsoft.com/office/drawing/2014/main" id="{A5D7D935-5C42-7011-EBE6-D0EDAB8DD3A3}"/>
                </a:ext>
              </a:extLst>
            </p:cNvPr>
            <p:cNvSpPr txBox="1"/>
            <p:nvPr/>
          </p:nvSpPr>
          <p:spPr>
            <a:xfrm>
              <a:off x="4347022" y="1031430"/>
              <a:ext cx="1084007" cy="230832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l-PL" sz="900" dirty="0"/>
                <a:t>Data </a:t>
              </a:r>
              <a:r>
                <a:rPr lang="pl-PL" sz="900" dirty="0" err="1"/>
                <a:t>queue</a:t>
              </a:r>
              <a:endParaRPr lang="pl-PL" sz="900" dirty="0"/>
            </a:p>
          </p:txBody>
        </p:sp>
        <p:sp>
          <p:nvSpPr>
            <p:cNvPr id="9" name="pole tekstowe 8">
              <a:extLst>
                <a:ext uri="{FF2B5EF4-FFF2-40B4-BE49-F238E27FC236}">
                  <a16:creationId xmlns:a16="http://schemas.microsoft.com/office/drawing/2014/main" id="{9D5B4D19-D3E4-F0C8-8F5E-5B05B9349EBC}"/>
                </a:ext>
              </a:extLst>
            </p:cNvPr>
            <p:cNvSpPr txBox="1"/>
            <p:nvPr/>
          </p:nvSpPr>
          <p:spPr>
            <a:xfrm>
              <a:off x="4347022" y="2993386"/>
              <a:ext cx="1084007" cy="230832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l-PL" sz="900" dirty="0"/>
                <a:t>Storage</a:t>
              </a:r>
            </a:p>
          </p:txBody>
        </p:sp>
        <p:sp>
          <p:nvSpPr>
            <p:cNvPr id="10" name="pole tekstowe 9">
              <a:extLst>
                <a:ext uri="{FF2B5EF4-FFF2-40B4-BE49-F238E27FC236}">
                  <a16:creationId xmlns:a16="http://schemas.microsoft.com/office/drawing/2014/main" id="{98FCEF51-5273-EBD4-AF92-A234B4BDACAA}"/>
                </a:ext>
              </a:extLst>
            </p:cNvPr>
            <p:cNvSpPr txBox="1"/>
            <p:nvPr/>
          </p:nvSpPr>
          <p:spPr>
            <a:xfrm>
              <a:off x="5605551" y="1058033"/>
              <a:ext cx="586313" cy="20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l-PL" sz="700" i="1" dirty="0" err="1"/>
                <a:t>stream</a:t>
              </a:r>
              <a:endParaRPr lang="pl-PL" sz="700" i="1" dirty="0"/>
            </a:p>
          </p:txBody>
        </p:sp>
        <p:sp>
          <p:nvSpPr>
            <p:cNvPr id="11" name="pole tekstowe 10">
              <a:extLst>
                <a:ext uri="{FF2B5EF4-FFF2-40B4-BE49-F238E27FC236}">
                  <a16:creationId xmlns:a16="http://schemas.microsoft.com/office/drawing/2014/main" id="{F988CA8E-772E-F907-010B-7A76990C1663}"/>
                </a:ext>
              </a:extLst>
            </p:cNvPr>
            <p:cNvSpPr txBox="1"/>
            <p:nvPr/>
          </p:nvSpPr>
          <p:spPr>
            <a:xfrm>
              <a:off x="5605551" y="3023539"/>
              <a:ext cx="586313" cy="20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l-PL" sz="700" i="1" dirty="0" err="1"/>
                <a:t>batch</a:t>
              </a:r>
              <a:endParaRPr lang="pl-PL" sz="700" i="1" dirty="0"/>
            </a:p>
          </p:txBody>
        </p:sp>
        <p:sp>
          <p:nvSpPr>
            <p:cNvPr id="12" name="pole tekstowe 11">
              <a:extLst>
                <a:ext uri="{FF2B5EF4-FFF2-40B4-BE49-F238E27FC236}">
                  <a16:creationId xmlns:a16="http://schemas.microsoft.com/office/drawing/2014/main" id="{E70030BB-2B44-CC16-20D3-C70D106554B9}"/>
                </a:ext>
              </a:extLst>
            </p:cNvPr>
            <p:cNvSpPr txBox="1"/>
            <p:nvPr/>
          </p:nvSpPr>
          <p:spPr>
            <a:xfrm>
              <a:off x="6400153" y="1039898"/>
              <a:ext cx="1084007" cy="23083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l-PL" sz="900" dirty="0" err="1">
                  <a:solidFill>
                    <a:schemeClr val="bg1"/>
                  </a:solidFill>
                </a:rPr>
                <a:t>Stream</a:t>
              </a:r>
              <a:r>
                <a:rPr lang="pl-PL" sz="900" dirty="0">
                  <a:solidFill>
                    <a:schemeClr val="bg1"/>
                  </a:solidFill>
                </a:rPr>
                <a:t> </a:t>
              </a:r>
              <a:r>
                <a:rPr lang="pl-PL" sz="900" dirty="0" err="1">
                  <a:solidFill>
                    <a:schemeClr val="bg1"/>
                  </a:solidFill>
                </a:rPr>
                <a:t>processing</a:t>
              </a:r>
              <a:endParaRPr lang="pl-PL" sz="900" dirty="0">
                <a:solidFill>
                  <a:schemeClr val="bg1"/>
                </a:solidFill>
              </a:endParaRPr>
            </a:p>
          </p:txBody>
        </p:sp>
        <p:sp>
          <p:nvSpPr>
            <p:cNvPr id="13" name="pole tekstowe 12">
              <a:extLst>
                <a:ext uri="{FF2B5EF4-FFF2-40B4-BE49-F238E27FC236}">
                  <a16:creationId xmlns:a16="http://schemas.microsoft.com/office/drawing/2014/main" id="{EB7EDC86-53C9-0652-B6D8-8C5D6E49EE0A}"/>
                </a:ext>
              </a:extLst>
            </p:cNvPr>
            <p:cNvSpPr txBox="1"/>
            <p:nvPr/>
          </p:nvSpPr>
          <p:spPr>
            <a:xfrm>
              <a:off x="6399815" y="2997981"/>
              <a:ext cx="1084007" cy="23083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pl-PL"/>
              </a:defPPr>
              <a:lvl1pPr algn="ctr">
                <a:defRPr sz="900">
                  <a:solidFill>
                    <a:schemeClr val="bg1"/>
                  </a:solidFill>
                </a:defRPr>
              </a:lvl1pPr>
            </a:lstStyle>
            <a:p>
              <a:r>
                <a:rPr lang="pl-PL" dirty="0" err="1"/>
                <a:t>Batch</a:t>
              </a:r>
              <a:r>
                <a:rPr lang="pl-PL" dirty="0"/>
                <a:t> </a:t>
              </a:r>
              <a:r>
                <a:rPr lang="pl-PL" dirty="0" err="1"/>
                <a:t>processing</a:t>
              </a:r>
              <a:endParaRPr lang="pl-PL" dirty="0"/>
            </a:p>
          </p:txBody>
        </p:sp>
        <p:cxnSp>
          <p:nvCxnSpPr>
            <p:cNvPr id="15" name="Łącznik prosty ze strzałką 14">
              <a:extLst>
                <a:ext uri="{FF2B5EF4-FFF2-40B4-BE49-F238E27FC236}">
                  <a16:creationId xmlns:a16="http://schemas.microsoft.com/office/drawing/2014/main" id="{9ACA4D1E-AB77-3C7E-C60E-2A9D177374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0886" y="1163450"/>
              <a:ext cx="186136" cy="1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Łącznik prosty ze strzałką 18">
              <a:extLst>
                <a:ext uri="{FF2B5EF4-FFF2-40B4-BE49-F238E27FC236}">
                  <a16:creationId xmlns:a16="http://schemas.microsoft.com/office/drawing/2014/main" id="{0BA8977F-9585-28B3-132B-60D160A93C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1367" y="1158825"/>
              <a:ext cx="186136" cy="1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Łącznik prosty ze strzałką 19">
              <a:extLst>
                <a:ext uri="{FF2B5EF4-FFF2-40B4-BE49-F238E27FC236}">
                  <a16:creationId xmlns:a16="http://schemas.microsoft.com/office/drawing/2014/main" id="{52A6F82C-C0A0-E9F3-42AE-1974181FF15F}"/>
                </a:ext>
              </a:extLst>
            </p:cNvPr>
            <p:cNvCxnSpPr>
              <a:cxnSpLocks/>
              <a:stCxn id="10" idx="3"/>
              <a:endCxn id="12" idx="1"/>
            </p:cNvCxnSpPr>
            <p:nvPr/>
          </p:nvCxnSpPr>
          <p:spPr>
            <a:xfrm flipV="1">
              <a:off x="6191864" y="1155314"/>
              <a:ext cx="208289" cy="2747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Łącznik prosty ze strzałką 22">
              <a:extLst>
                <a:ext uri="{FF2B5EF4-FFF2-40B4-BE49-F238E27FC236}">
                  <a16:creationId xmlns:a16="http://schemas.microsoft.com/office/drawing/2014/main" id="{17AD7AA1-13B0-50BF-49E5-22A5E9808F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0548" y="3120263"/>
              <a:ext cx="186136" cy="1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Łącznik prosty ze strzałką 23">
              <a:extLst>
                <a:ext uri="{FF2B5EF4-FFF2-40B4-BE49-F238E27FC236}">
                  <a16:creationId xmlns:a16="http://schemas.microsoft.com/office/drawing/2014/main" id="{B4DFDE72-57EB-59BE-6F44-CA98704365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1029" y="3115638"/>
              <a:ext cx="186136" cy="1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Łącznik prosty ze strzałką 24">
              <a:extLst>
                <a:ext uri="{FF2B5EF4-FFF2-40B4-BE49-F238E27FC236}">
                  <a16:creationId xmlns:a16="http://schemas.microsoft.com/office/drawing/2014/main" id="{038B5CD1-100B-26B0-FAA6-FC090162AE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1526" y="3114873"/>
              <a:ext cx="208289" cy="1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Łącznik łamany 26">
              <a:extLst>
                <a:ext uri="{FF2B5EF4-FFF2-40B4-BE49-F238E27FC236}">
                  <a16:creationId xmlns:a16="http://schemas.microsoft.com/office/drawing/2014/main" id="{5F02B909-C125-6F4B-1AD6-68B539ACC6F7}"/>
                </a:ext>
              </a:extLst>
            </p:cNvPr>
            <p:cNvCxnSpPr>
              <a:cxnSpLocks/>
            </p:cNvCxnSpPr>
            <p:nvPr/>
          </p:nvCxnSpPr>
          <p:spPr>
            <a:xfrm>
              <a:off x="7483822" y="1158060"/>
              <a:ext cx="1343088" cy="906715"/>
            </a:xfrm>
            <a:prstGeom prst="bentConnector3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Łącznik łamany 27">
              <a:extLst>
                <a:ext uri="{FF2B5EF4-FFF2-40B4-BE49-F238E27FC236}">
                  <a16:creationId xmlns:a16="http://schemas.microsoft.com/office/drawing/2014/main" id="{7EDF35F4-9388-5036-A1CD-F46D7441E81A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 flipV="1">
              <a:off x="7483822" y="2337619"/>
              <a:ext cx="1343088" cy="775778"/>
            </a:xfrm>
            <a:prstGeom prst="bentConnector3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332650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ymbol zastępczy zawartości 1">
            <a:extLst>
              <a:ext uri="{FF2B5EF4-FFF2-40B4-BE49-F238E27FC236}">
                <a16:creationId xmlns:a16="http://schemas.microsoft.com/office/drawing/2014/main" id="{B3F0B3D8-40D3-CAB3-3380-B64A84336951}"/>
              </a:ext>
            </a:extLst>
          </p:cNvPr>
          <p:cNvSpPr txBox="1">
            <a:spLocks/>
          </p:cNvSpPr>
          <p:nvPr/>
        </p:nvSpPr>
        <p:spPr>
          <a:xfrm>
            <a:off x="394226" y="1470146"/>
            <a:ext cx="2570194" cy="1320351"/>
          </a:xfrm>
          <a:prstGeom prst="rect">
            <a:avLst/>
          </a:prstGeom>
        </p:spPr>
        <p:txBody>
          <a:bodyPr/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1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5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 dirty="0" err="1"/>
              <a:t>Cloud</a:t>
            </a:r>
            <a:r>
              <a:rPr lang="pl-PL" dirty="0"/>
              <a:t> </a:t>
            </a:r>
            <a:r>
              <a:rPr lang="pl-PL" dirty="0" err="1"/>
              <a:t>providers</a:t>
            </a:r>
            <a:r>
              <a:rPr lang="pl-PL" dirty="0"/>
              <a:t> </a:t>
            </a:r>
            <a:r>
              <a:rPr lang="pl-PL" dirty="0" err="1"/>
              <a:t>have</a:t>
            </a:r>
            <a:r>
              <a:rPr lang="pl-PL" dirty="0"/>
              <a:t> </a:t>
            </a:r>
            <a:r>
              <a:rPr lang="pl-PL" dirty="0" err="1"/>
              <a:t>dedicated</a:t>
            </a:r>
            <a:r>
              <a:rPr lang="pl-PL" dirty="0"/>
              <a:t> </a:t>
            </a:r>
            <a:r>
              <a:rPr lang="pl-PL" dirty="0" err="1"/>
              <a:t>solutions</a:t>
            </a:r>
            <a:endParaRPr lang="pl-PL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6945466B-8805-767D-CBD5-5A6811C5B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426" y="1244248"/>
            <a:ext cx="6179574" cy="2251616"/>
          </a:xfrm>
          <a:prstGeom prst="rect">
            <a:avLst/>
          </a:prstGeom>
        </p:spPr>
      </p:pic>
      <p:grpSp>
        <p:nvGrpSpPr>
          <p:cNvPr id="14" name="Grupa 13">
            <a:extLst>
              <a:ext uri="{FF2B5EF4-FFF2-40B4-BE49-F238E27FC236}">
                <a16:creationId xmlns:a16="http://schemas.microsoft.com/office/drawing/2014/main" id="{FFA14B0D-5BF3-9B8F-32DE-269858647527}"/>
              </a:ext>
            </a:extLst>
          </p:cNvPr>
          <p:cNvGrpSpPr/>
          <p:nvPr/>
        </p:nvGrpSpPr>
        <p:grpSpPr>
          <a:xfrm>
            <a:off x="482490" y="3067051"/>
            <a:ext cx="2576507" cy="1530349"/>
            <a:chOff x="482490" y="3067051"/>
            <a:chExt cx="2576507" cy="1530349"/>
          </a:xfrm>
        </p:grpSpPr>
        <p:sp>
          <p:nvSpPr>
            <p:cNvPr id="16" name="Prostokąt 15">
              <a:extLst>
                <a:ext uri="{FF2B5EF4-FFF2-40B4-BE49-F238E27FC236}">
                  <a16:creationId xmlns:a16="http://schemas.microsoft.com/office/drawing/2014/main" id="{5E7380E3-2E8D-ABB3-29B1-28E7AFDA83EF}"/>
                </a:ext>
              </a:extLst>
            </p:cNvPr>
            <p:cNvSpPr/>
            <p:nvPr/>
          </p:nvSpPr>
          <p:spPr>
            <a:xfrm>
              <a:off x="568346" y="3067051"/>
              <a:ext cx="2490651" cy="1530349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49818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80000"/>
              <a:r>
                <a:rPr lang="pl-PL" sz="1400" dirty="0" err="1">
                  <a:solidFill>
                    <a:schemeClr val="tx1"/>
                  </a:solidFill>
                  <a:latin typeface="Franklin Gothic Book" panose="020B0503020102020204" pitchFamily="34" charset="0"/>
                </a:rPr>
                <a:t>Example</a:t>
              </a:r>
              <a:r>
                <a:rPr lang="pl-PL" sz="1400" dirty="0">
                  <a:solidFill>
                    <a:schemeClr val="tx1"/>
                  </a:solidFill>
                  <a:latin typeface="Franklin Gothic Book" panose="020B0503020102020204" pitchFamily="34" charset="0"/>
                </a:rPr>
                <a:t>: Google GCP</a:t>
              </a:r>
              <a:endParaRPr lang="pl-P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Franklin Gothic Book" panose="020B0503020102020204" pitchFamily="34" charset="0"/>
              </a:endParaRPr>
            </a:p>
          </p:txBody>
        </p:sp>
        <p:cxnSp>
          <p:nvCxnSpPr>
            <p:cNvPr id="17" name="Łącznik prosty 16">
              <a:extLst>
                <a:ext uri="{FF2B5EF4-FFF2-40B4-BE49-F238E27FC236}">
                  <a16:creationId xmlns:a16="http://schemas.microsoft.com/office/drawing/2014/main" id="{A9AE89FB-F445-6F94-FDB9-F178429B51D0}"/>
                </a:ext>
              </a:extLst>
            </p:cNvPr>
            <p:cNvCxnSpPr>
              <a:cxnSpLocks/>
            </p:cNvCxnSpPr>
            <p:nvPr/>
          </p:nvCxnSpPr>
          <p:spPr>
            <a:xfrm>
              <a:off x="482490" y="3067051"/>
              <a:ext cx="0" cy="1530349"/>
            </a:xfrm>
            <a:prstGeom prst="line">
              <a:avLst/>
            </a:prstGeom>
            <a:ln w="349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88873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497AE-D1FB-71A6-93BD-91744E14A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ymbol zastępczy zawartości 1">
            <a:extLst>
              <a:ext uri="{FF2B5EF4-FFF2-40B4-BE49-F238E27FC236}">
                <a16:creationId xmlns:a16="http://schemas.microsoft.com/office/drawing/2014/main" id="{0421FE35-F0E0-9B6F-607F-64CB81EA9491}"/>
              </a:ext>
            </a:extLst>
          </p:cNvPr>
          <p:cNvSpPr txBox="1">
            <a:spLocks/>
          </p:cNvSpPr>
          <p:nvPr/>
        </p:nvSpPr>
        <p:spPr>
          <a:xfrm>
            <a:off x="394226" y="1470146"/>
            <a:ext cx="2570194" cy="1320351"/>
          </a:xfrm>
          <a:prstGeom prst="rect">
            <a:avLst/>
          </a:prstGeom>
        </p:spPr>
        <p:txBody>
          <a:bodyPr/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1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5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 dirty="0" err="1"/>
              <a:t>Cloud</a:t>
            </a:r>
            <a:r>
              <a:rPr lang="pl-PL" dirty="0"/>
              <a:t> </a:t>
            </a:r>
            <a:r>
              <a:rPr lang="pl-PL" dirty="0" err="1"/>
              <a:t>providers</a:t>
            </a:r>
            <a:r>
              <a:rPr lang="pl-PL" dirty="0"/>
              <a:t> </a:t>
            </a:r>
            <a:r>
              <a:rPr lang="pl-PL" dirty="0" err="1"/>
              <a:t>have</a:t>
            </a:r>
            <a:r>
              <a:rPr lang="pl-PL" dirty="0"/>
              <a:t> </a:t>
            </a:r>
            <a:r>
              <a:rPr lang="pl-PL" dirty="0" err="1"/>
              <a:t>dedicated</a:t>
            </a:r>
            <a:r>
              <a:rPr lang="pl-PL" dirty="0"/>
              <a:t> </a:t>
            </a:r>
            <a:r>
              <a:rPr lang="pl-PL" dirty="0" err="1"/>
              <a:t>solutions</a:t>
            </a:r>
            <a:endParaRPr lang="pl-PL" dirty="0"/>
          </a:p>
        </p:txBody>
      </p:sp>
      <p:grpSp>
        <p:nvGrpSpPr>
          <p:cNvPr id="14" name="Grupa 13">
            <a:extLst>
              <a:ext uri="{FF2B5EF4-FFF2-40B4-BE49-F238E27FC236}">
                <a16:creationId xmlns:a16="http://schemas.microsoft.com/office/drawing/2014/main" id="{56772D36-8553-C79C-1DCC-DC44C916F6B9}"/>
              </a:ext>
            </a:extLst>
          </p:cNvPr>
          <p:cNvGrpSpPr/>
          <p:nvPr/>
        </p:nvGrpSpPr>
        <p:grpSpPr>
          <a:xfrm>
            <a:off x="482490" y="3067051"/>
            <a:ext cx="2576507" cy="1530349"/>
            <a:chOff x="482490" y="3067051"/>
            <a:chExt cx="2576507" cy="1530349"/>
          </a:xfrm>
        </p:grpSpPr>
        <p:sp>
          <p:nvSpPr>
            <p:cNvPr id="16" name="Prostokąt 15">
              <a:extLst>
                <a:ext uri="{FF2B5EF4-FFF2-40B4-BE49-F238E27FC236}">
                  <a16:creationId xmlns:a16="http://schemas.microsoft.com/office/drawing/2014/main" id="{39DDB22F-9A0F-7A81-7F6F-20AF56F00C50}"/>
                </a:ext>
              </a:extLst>
            </p:cNvPr>
            <p:cNvSpPr/>
            <p:nvPr/>
          </p:nvSpPr>
          <p:spPr>
            <a:xfrm>
              <a:off x="568346" y="3067051"/>
              <a:ext cx="2490651" cy="1530349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49818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80000"/>
              <a:r>
                <a:rPr lang="pl-PL" sz="1400" dirty="0" err="1">
                  <a:solidFill>
                    <a:schemeClr val="tx1"/>
                  </a:solidFill>
                  <a:latin typeface="Franklin Gothic Book" panose="020B0503020102020204" pitchFamily="34" charset="0"/>
                </a:rPr>
                <a:t>Example</a:t>
              </a:r>
              <a:r>
                <a:rPr lang="pl-PL" sz="1400" dirty="0">
                  <a:solidFill>
                    <a:schemeClr val="tx1"/>
                  </a:solidFill>
                  <a:latin typeface="Franklin Gothic Book" panose="020B0503020102020204" pitchFamily="34" charset="0"/>
                </a:rPr>
                <a:t>: Google GCP</a:t>
              </a:r>
              <a:endParaRPr lang="pl-P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Franklin Gothic Book" panose="020B0503020102020204" pitchFamily="34" charset="0"/>
              </a:endParaRPr>
            </a:p>
          </p:txBody>
        </p:sp>
        <p:cxnSp>
          <p:nvCxnSpPr>
            <p:cNvPr id="17" name="Łącznik prosty 16">
              <a:extLst>
                <a:ext uri="{FF2B5EF4-FFF2-40B4-BE49-F238E27FC236}">
                  <a16:creationId xmlns:a16="http://schemas.microsoft.com/office/drawing/2014/main" id="{AEDDD4DB-2E24-62E8-7448-7510FE413233}"/>
                </a:ext>
              </a:extLst>
            </p:cNvPr>
            <p:cNvCxnSpPr>
              <a:cxnSpLocks/>
            </p:cNvCxnSpPr>
            <p:nvPr/>
          </p:nvCxnSpPr>
          <p:spPr>
            <a:xfrm>
              <a:off x="482490" y="3067051"/>
              <a:ext cx="0" cy="1530349"/>
            </a:xfrm>
            <a:prstGeom prst="line">
              <a:avLst/>
            </a:prstGeom>
            <a:ln w="349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Obraz 1">
            <a:extLst>
              <a:ext uri="{FF2B5EF4-FFF2-40B4-BE49-F238E27FC236}">
                <a16:creationId xmlns:a16="http://schemas.microsoft.com/office/drawing/2014/main" id="{0A3F889E-8BD9-1F2C-8A5D-78D373E76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6803" y="0"/>
            <a:ext cx="452297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979447"/>
      </p:ext>
    </p:extLst>
  </p:cSld>
  <p:clrMapOvr>
    <a:masterClrMapping/>
  </p:clrMapOvr>
</p:sld>
</file>

<file path=ppt/theme/theme1.xml><?xml version="1.0" encoding="utf-8"?>
<a:theme xmlns:a="http://schemas.openxmlformats.org/drawingml/2006/main" name="1_Default Them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 Theme" id="{4F6DD0A0-A1B9-1945-A9C8-B30C420BAB19}" vid="{108F34A1-D674-6142-A51A-225FFFEBE3A7}"/>
    </a:ext>
  </a:extLst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1234</TotalTime>
  <Words>633</Words>
  <Application>Microsoft Macintosh PowerPoint</Application>
  <PresentationFormat>Pokaz na ekranie (16:9)</PresentationFormat>
  <Paragraphs>152</Paragraphs>
  <Slides>33</Slides>
  <Notes>4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33</vt:i4>
      </vt:variant>
    </vt:vector>
  </HeadingPairs>
  <TitlesOfParts>
    <vt:vector size="40" baseType="lpstr">
      <vt:lpstr>Arial</vt:lpstr>
      <vt:lpstr>Calibri</vt:lpstr>
      <vt:lpstr>Franklin Gothic Book</vt:lpstr>
      <vt:lpstr>Helvetica Neue Condensed</vt:lpstr>
      <vt:lpstr>Roboto</vt:lpstr>
      <vt:lpstr>Roboto Mono</vt:lpstr>
      <vt:lpstr>1_Default Theme</vt:lpstr>
      <vt:lpstr>Complexity: data</vt:lpstr>
      <vt:lpstr>Extraction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Processing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Value generation</vt:lpstr>
      <vt:lpstr>Prezentacja programu PowerPoint</vt:lpstr>
      <vt:lpstr>Prezentacja programu PowerPoint</vt:lpstr>
      <vt:lpstr>Pipelines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in Management</dc:title>
  <dc:creator>Andrzej Wodecki</dc:creator>
  <cp:lastModifiedBy>Andrzej Wodecki</cp:lastModifiedBy>
  <cp:revision>169</cp:revision>
  <dcterms:created xsi:type="dcterms:W3CDTF">2020-11-07T07:11:25Z</dcterms:created>
  <dcterms:modified xsi:type="dcterms:W3CDTF">2026-10-07T10:35:13Z</dcterms:modified>
</cp:coreProperties>
</file>