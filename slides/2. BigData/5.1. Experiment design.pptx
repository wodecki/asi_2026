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1653" r:id="rId7"/>
    <p:sldId id="1628" r:id="rId8"/>
    <p:sldId id="1629" r:id="rId9"/>
    <p:sldId id="1630" r:id="rId10"/>
    <p:sldId id="1631" r:id="rId11"/>
    <p:sldId id="1633" r:id="rId12"/>
    <p:sldId id="1635" r:id="rId13"/>
    <p:sldId id="1636" r:id="rId14"/>
    <p:sldId id="1637" r:id="rId15"/>
    <p:sldId id="1638" r:id="rId16"/>
    <p:sldId id="1639" r:id="rId17"/>
    <p:sldId id="1627" r:id="rId18"/>
    <p:sldId id="258" r:id="rId19"/>
    <p:sldId id="267" r:id="rId20"/>
    <p:sldId id="1623" r:id="rId21"/>
    <p:sldId id="1654" r:id="rId22"/>
    <p:sldId id="1634" r:id="rId23"/>
    <p:sldId id="264" r:id="rId24"/>
    <p:sldId id="265" r:id="rId25"/>
    <p:sldId id="1645" r:id="rId26"/>
    <p:sldId id="1651" r:id="rId27"/>
    <p:sldId id="1648" r:id="rId28"/>
    <p:sldId id="1641" r:id="rId29"/>
    <p:sldId id="1642" r:id="rId30"/>
    <p:sldId id="1655" r:id="rId31"/>
  </p:sldIdLst>
  <p:sldSz cx="9144000" cy="5143500" type="screen16x9"/>
  <p:notesSz cx="6858000" cy="9144000"/>
  <p:defaultTextStyle>
    <a:defPPr>
      <a:defRPr lang="pl-PL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703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03"/>
    <p:restoredTop sz="96327"/>
  </p:normalViewPr>
  <p:slideViewPr>
    <p:cSldViewPr snapToGrid="0">
      <p:cViewPr varScale="1">
        <p:scale>
          <a:sx n="171" d="100"/>
          <a:sy n="171" d="100"/>
        </p:scale>
        <p:origin x="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F85C5F-AE44-354B-8D13-7D63BEABA266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pl-PL"/>
        </a:p>
      </dgm:t>
    </dgm:pt>
    <dgm:pt modelId="{4DD8E977-DC7B-2446-9F91-585BB80D66C2}">
      <dgm:prSet/>
      <dgm:spPr/>
      <dgm:t>
        <a:bodyPr/>
        <a:lstStyle/>
        <a:p>
          <a:r>
            <a:rPr lang="pl-PL" b="0" i="0"/>
            <a:t>Formulate hypotheses</a:t>
          </a:r>
          <a:endParaRPr lang="pl-PL"/>
        </a:p>
      </dgm:t>
    </dgm:pt>
    <dgm:pt modelId="{D764C5A1-8CD3-6240-9A57-F0EA7BC81052}" type="parTrans" cxnId="{A798F786-1654-ED4E-A69A-C60036A4CC38}">
      <dgm:prSet/>
      <dgm:spPr/>
      <dgm:t>
        <a:bodyPr/>
        <a:lstStyle/>
        <a:p>
          <a:endParaRPr lang="pl-PL"/>
        </a:p>
      </dgm:t>
    </dgm:pt>
    <dgm:pt modelId="{C9C81DFC-CDDD-7145-898F-6BECE98523CB}" type="sibTrans" cxnId="{A798F786-1654-ED4E-A69A-C60036A4CC38}">
      <dgm:prSet/>
      <dgm:spPr/>
      <dgm:t>
        <a:bodyPr/>
        <a:lstStyle/>
        <a:p>
          <a:endParaRPr lang="pl-PL"/>
        </a:p>
      </dgm:t>
    </dgm:pt>
    <dgm:pt modelId="{1FF15A05-25F0-5244-9310-E05206642489}">
      <dgm:prSet/>
      <dgm:spPr/>
      <dgm:t>
        <a:bodyPr/>
        <a:lstStyle/>
        <a:p>
          <a:r>
            <a:rPr lang="pl-PL"/>
            <a:t>Design the experiment</a:t>
          </a:r>
        </a:p>
      </dgm:t>
    </dgm:pt>
    <dgm:pt modelId="{E75F4B66-A3D1-EF41-8D66-EB82B1D47C6A}" type="parTrans" cxnId="{BF5FA4E5-4448-8A45-B8C2-093F83F3B3F2}">
      <dgm:prSet/>
      <dgm:spPr/>
      <dgm:t>
        <a:bodyPr/>
        <a:lstStyle/>
        <a:p>
          <a:endParaRPr lang="pl-PL"/>
        </a:p>
      </dgm:t>
    </dgm:pt>
    <dgm:pt modelId="{6766C966-B87A-6248-AFCA-3F882ACD1F4D}" type="sibTrans" cxnId="{BF5FA4E5-4448-8A45-B8C2-093F83F3B3F2}">
      <dgm:prSet/>
      <dgm:spPr/>
      <dgm:t>
        <a:bodyPr/>
        <a:lstStyle/>
        <a:p>
          <a:endParaRPr lang="pl-PL"/>
        </a:p>
      </dgm:t>
    </dgm:pt>
    <dgm:pt modelId="{9121CB93-653D-A44B-87FB-050FE7FF2117}">
      <dgm:prSet/>
      <dgm:spPr/>
      <dgm:t>
        <a:bodyPr/>
        <a:lstStyle/>
        <a:p>
          <a:r>
            <a:rPr lang="pl-PL" b="0" i="0"/>
            <a:t>Conduct the experiment</a:t>
          </a:r>
          <a:endParaRPr lang="pl-PL"/>
        </a:p>
      </dgm:t>
    </dgm:pt>
    <dgm:pt modelId="{054D7D8C-3177-A341-8AA6-373B2B407FD1}" type="parTrans" cxnId="{A30282B8-4FDD-EF40-A503-6FB85578E8C7}">
      <dgm:prSet/>
      <dgm:spPr/>
      <dgm:t>
        <a:bodyPr/>
        <a:lstStyle/>
        <a:p>
          <a:endParaRPr lang="pl-PL"/>
        </a:p>
      </dgm:t>
    </dgm:pt>
    <dgm:pt modelId="{1C66C9AF-1AA0-6B41-B6E6-4C12C4DFB4B1}" type="sibTrans" cxnId="{A30282B8-4FDD-EF40-A503-6FB85578E8C7}">
      <dgm:prSet/>
      <dgm:spPr/>
      <dgm:t>
        <a:bodyPr/>
        <a:lstStyle/>
        <a:p>
          <a:endParaRPr lang="pl-PL"/>
        </a:p>
      </dgm:t>
    </dgm:pt>
    <dgm:pt modelId="{3FCB03DC-2306-384C-BC6F-13126636C409}">
      <dgm:prSet/>
      <dgm:spPr/>
      <dgm:t>
        <a:bodyPr/>
        <a:lstStyle/>
        <a:p>
          <a:r>
            <a:rPr lang="pl-PL"/>
            <a:t>Evaluate results</a:t>
          </a:r>
        </a:p>
      </dgm:t>
    </dgm:pt>
    <dgm:pt modelId="{D37185E0-6129-E544-87DE-61CACCFFF2F1}" type="parTrans" cxnId="{52018533-DBF8-194C-A7F4-A362D9C82127}">
      <dgm:prSet/>
      <dgm:spPr/>
      <dgm:t>
        <a:bodyPr/>
        <a:lstStyle/>
        <a:p>
          <a:endParaRPr lang="pl-PL"/>
        </a:p>
      </dgm:t>
    </dgm:pt>
    <dgm:pt modelId="{567EE395-42DC-7E4A-9631-BC7E4FFF7FDD}" type="sibTrans" cxnId="{52018533-DBF8-194C-A7F4-A362D9C82127}">
      <dgm:prSet/>
      <dgm:spPr/>
      <dgm:t>
        <a:bodyPr/>
        <a:lstStyle/>
        <a:p>
          <a:endParaRPr lang="pl-PL"/>
        </a:p>
      </dgm:t>
    </dgm:pt>
    <dgm:pt modelId="{64B72F10-3AC0-6B4F-B865-C11EB2FE3957}">
      <dgm:prSet/>
      <dgm:spPr/>
      <dgm:t>
        <a:bodyPr/>
        <a:lstStyle/>
        <a:p>
          <a:r>
            <a:rPr lang="pl-PL" b="0" i="0"/>
            <a:t>Suggest improvements</a:t>
          </a:r>
          <a:endParaRPr lang="pl-PL"/>
        </a:p>
      </dgm:t>
    </dgm:pt>
    <dgm:pt modelId="{0A28EE00-5709-4A4D-BCF8-84B52B36E2EB}" type="parTrans" cxnId="{5B0B243B-3AD0-AB46-AC85-39A5CC1AFBC0}">
      <dgm:prSet/>
      <dgm:spPr/>
      <dgm:t>
        <a:bodyPr/>
        <a:lstStyle/>
        <a:p>
          <a:endParaRPr lang="pl-PL"/>
        </a:p>
      </dgm:t>
    </dgm:pt>
    <dgm:pt modelId="{F4AAB3F6-DA7A-B746-988A-70FFB325A838}" type="sibTrans" cxnId="{5B0B243B-3AD0-AB46-AC85-39A5CC1AFBC0}">
      <dgm:prSet/>
      <dgm:spPr/>
      <dgm:t>
        <a:bodyPr/>
        <a:lstStyle/>
        <a:p>
          <a:endParaRPr lang="pl-PL"/>
        </a:p>
      </dgm:t>
    </dgm:pt>
    <dgm:pt modelId="{2EEB5C3F-E130-D346-AD7F-DCF5FD6A2644}" type="pres">
      <dgm:prSet presAssocID="{4AF85C5F-AE44-354B-8D13-7D63BEABA266}" presName="cycle" presStyleCnt="0">
        <dgm:presLayoutVars>
          <dgm:dir/>
          <dgm:resizeHandles val="exact"/>
        </dgm:presLayoutVars>
      </dgm:prSet>
      <dgm:spPr/>
    </dgm:pt>
    <dgm:pt modelId="{F7F6FE0A-6565-F141-89D9-73202FA14E40}" type="pres">
      <dgm:prSet presAssocID="{4DD8E977-DC7B-2446-9F91-585BB80D66C2}" presName="node" presStyleLbl="node1" presStyleIdx="0" presStyleCnt="5">
        <dgm:presLayoutVars>
          <dgm:bulletEnabled val="1"/>
        </dgm:presLayoutVars>
      </dgm:prSet>
      <dgm:spPr/>
    </dgm:pt>
    <dgm:pt modelId="{452C3A89-544C-DD4F-9430-73BE0ED2D751}" type="pres">
      <dgm:prSet presAssocID="{C9C81DFC-CDDD-7145-898F-6BECE98523CB}" presName="sibTrans" presStyleLbl="sibTrans2D1" presStyleIdx="0" presStyleCnt="5"/>
      <dgm:spPr/>
    </dgm:pt>
    <dgm:pt modelId="{195EE95D-B827-3C44-BF90-50909C83326F}" type="pres">
      <dgm:prSet presAssocID="{C9C81DFC-CDDD-7145-898F-6BECE98523CB}" presName="connectorText" presStyleLbl="sibTrans2D1" presStyleIdx="0" presStyleCnt="5"/>
      <dgm:spPr/>
    </dgm:pt>
    <dgm:pt modelId="{9F55B27C-9004-344C-985C-10C126A006A1}" type="pres">
      <dgm:prSet presAssocID="{1FF15A05-25F0-5244-9310-E05206642489}" presName="node" presStyleLbl="node1" presStyleIdx="1" presStyleCnt="5">
        <dgm:presLayoutVars>
          <dgm:bulletEnabled val="1"/>
        </dgm:presLayoutVars>
      </dgm:prSet>
      <dgm:spPr/>
    </dgm:pt>
    <dgm:pt modelId="{9D01E44E-14BF-B749-BBC5-310F065F31FF}" type="pres">
      <dgm:prSet presAssocID="{6766C966-B87A-6248-AFCA-3F882ACD1F4D}" presName="sibTrans" presStyleLbl="sibTrans2D1" presStyleIdx="1" presStyleCnt="5"/>
      <dgm:spPr/>
    </dgm:pt>
    <dgm:pt modelId="{C4AC2511-BD3B-2349-9F04-0097624CC0FA}" type="pres">
      <dgm:prSet presAssocID="{6766C966-B87A-6248-AFCA-3F882ACD1F4D}" presName="connectorText" presStyleLbl="sibTrans2D1" presStyleIdx="1" presStyleCnt="5"/>
      <dgm:spPr/>
    </dgm:pt>
    <dgm:pt modelId="{9651A054-5DCB-9543-8AD1-5D3FC34C4C1B}" type="pres">
      <dgm:prSet presAssocID="{9121CB93-653D-A44B-87FB-050FE7FF2117}" presName="node" presStyleLbl="node1" presStyleIdx="2" presStyleCnt="5">
        <dgm:presLayoutVars>
          <dgm:bulletEnabled val="1"/>
        </dgm:presLayoutVars>
      </dgm:prSet>
      <dgm:spPr/>
    </dgm:pt>
    <dgm:pt modelId="{B60CB389-9C2E-3C4D-BE75-4DD4D72466F0}" type="pres">
      <dgm:prSet presAssocID="{1C66C9AF-1AA0-6B41-B6E6-4C12C4DFB4B1}" presName="sibTrans" presStyleLbl="sibTrans2D1" presStyleIdx="2" presStyleCnt="5"/>
      <dgm:spPr/>
    </dgm:pt>
    <dgm:pt modelId="{E62CD5E4-9AC3-6D40-BEB1-0C43235EC7EE}" type="pres">
      <dgm:prSet presAssocID="{1C66C9AF-1AA0-6B41-B6E6-4C12C4DFB4B1}" presName="connectorText" presStyleLbl="sibTrans2D1" presStyleIdx="2" presStyleCnt="5"/>
      <dgm:spPr/>
    </dgm:pt>
    <dgm:pt modelId="{28E6C81E-2289-A94C-8EE7-816EE39A50F4}" type="pres">
      <dgm:prSet presAssocID="{3FCB03DC-2306-384C-BC6F-13126636C409}" presName="node" presStyleLbl="node1" presStyleIdx="3" presStyleCnt="5">
        <dgm:presLayoutVars>
          <dgm:bulletEnabled val="1"/>
        </dgm:presLayoutVars>
      </dgm:prSet>
      <dgm:spPr/>
    </dgm:pt>
    <dgm:pt modelId="{B625C407-0563-054A-9882-2F7B91BE0866}" type="pres">
      <dgm:prSet presAssocID="{567EE395-42DC-7E4A-9631-BC7E4FFF7FDD}" presName="sibTrans" presStyleLbl="sibTrans2D1" presStyleIdx="3" presStyleCnt="5"/>
      <dgm:spPr/>
    </dgm:pt>
    <dgm:pt modelId="{D5DAB944-582B-3842-8389-0D066EBAE56C}" type="pres">
      <dgm:prSet presAssocID="{567EE395-42DC-7E4A-9631-BC7E4FFF7FDD}" presName="connectorText" presStyleLbl="sibTrans2D1" presStyleIdx="3" presStyleCnt="5"/>
      <dgm:spPr/>
    </dgm:pt>
    <dgm:pt modelId="{C05A3543-E5BF-BE4E-8B9D-50DE40261A3C}" type="pres">
      <dgm:prSet presAssocID="{64B72F10-3AC0-6B4F-B865-C11EB2FE3957}" presName="node" presStyleLbl="node1" presStyleIdx="4" presStyleCnt="5">
        <dgm:presLayoutVars>
          <dgm:bulletEnabled val="1"/>
        </dgm:presLayoutVars>
      </dgm:prSet>
      <dgm:spPr/>
    </dgm:pt>
    <dgm:pt modelId="{7ACDC187-209E-B74D-A5F7-A20A3ACEA3D4}" type="pres">
      <dgm:prSet presAssocID="{F4AAB3F6-DA7A-B746-988A-70FFB325A838}" presName="sibTrans" presStyleLbl="sibTrans2D1" presStyleIdx="4" presStyleCnt="5"/>
      <dgm:spPr/>
    </dgm:pt>
    <dgm:pt modelId="{94113EB5-55DF-BC44-AEB8-BE0274923F53}" type="pres">
      <dgm:prSet presAssocID="{F4AAB3F6-DA7A-B746-988A-70FFB325A838}" presName="connectorText" presStyleLbl="sibTrans2D1" presStyleIdx="4" presStyleCnt="5"/>
      <dgm:spPr/>
    </dgm:pt>
  </dgm:ptLst>
  <dgm:cxnLst>
    <dgm:cxn modelId="{08869A0B-C812-7044-AC47-B876F2811F72}" type="presOf" srcId="{64B72F10-3AC0-6B4F-B865-C11EB2FE3957}" destId="{C05A3543-E5BF-BE4E-8B9D-50DE40261A3C}" srcOrd="0" destOrd="0" presId="urn:microsoft.com/office/officeart/2005/8/layout/cycle2"/>
    <dgm:cxn modelId="{9402960E-A2BC-D14B-91BC-F56B471617FF}" type="presOf" srcId="{4AF85C5F-AE44-354B-8D13-7D63BEABA266}" destId="{2EEB5C3F-E130-D346-AD7F-DCF5FD6A2644}" srcOrd="0" destOrd="0" presId="urn:microsoft.com/office/officeart/2005/8/layout/cycle2"/>
    <dgm:cxn modelId="{7CADCE11-4D8E-794C-857F-515C5D0D113E}" type="presOf" srcId="{9121CB93-653D-A44B-87FB-050FE7FF2117}" destId="{9651A054-5DCB-9543-8AD1-5D3FC34C4C1B}" srcOrd="0" destOrd="0" presId="urn:microsoft.com/office/officeart/2005/8/layout/cycle2"/>
    <dgm:cxn modelId="{84C1EE1A-7F4F-CB4F-83E4-C8607C7246B7}" type="presOf" srcId="{F4AAB3F6-DA7A-B746-988A-70FFB325A838}" destId="{7ACDC187-209E-B74D-A5F7-A20A3ACEA3D4}" srcOrd="0" destOrd="0" presId="urn:microsoft.com/office/officeart/2005/8/layout/cycle2"/>
    <dgm:cxn modelId="{718AE01C-15E6-7F41-9709-F6AC495D12CB}" type="presOf" srcId="{3FCB03DC-2306-384C-BC6F-13126636C409}" destId="{28E6C81E-2289-A94C-8EE7-816EE39A50F4}" srcOrd="0" destOrd="0" presId="urn:microsoft.com/office/officeart/2005/8/layout/cycle2"/>
    <dgm:cxn modelId="{5F29772A-011F-D144-A8DA-A4D3AF9D2E5B}" type="presOf" srcId="{6766C966-B87A-6248-AFCA-3F882ACD1F4D}" destId="{9D01E44E-14BF-B749-BBC5-310F065F31FF}" srcOrd="0" destOrd="0" presId="urn:microsoft.com/office/officeart/2005/8/layout/cycle2"/>
    <dgm:cxn modelId="{52018533-DBF8-194C-A7F4-A362D9C82127}" srcId="{4AF85C5F-AE44-354B-8D13-7D63BEABA266}" destId="{3FCB03DC-2306-384C-BC6F-13126636C409}" srcOrd="3" destOrd="0" parTransId="{D37185E0-6129-E544-87DE-61CACCFFF2F1}" sibTransId="{567EE395-42DC-7E4A-9631-BC7E4FFF7FDD}"/>
    <dgm:cxn modelId="{5B0B243B-3AD0-AB46-AC85-39A5CC1AFBC0}" srcId="{4AF85C5F-AE44-354B-8D13-7D63BEABA266}" destId="{64B72F10-3AC0-6B4F-B865-C11EB2FE3957}" srcOrd="4" destOrd="0" parTransId="{0A28EE00-5709-4A4D-BCF8-84B52B36E2EB}" sibTransId="{F4AAB3F6-DA7A-B746-988A-70FFB325A838}"/>
    <dgm:cxn modelId="{2E8CCC40-347A-814E-9E37-1EBD8A0BAC50}" type="presOf" srcId="{F4AAB3F6-DA7A-B746-988A-70FFB325A838}" destId="{94113EB5-55DF-BC44-AEB8-BE0274923F53}" srcOrd="1" destOrd="0" presId="urn:microsoft.com/office/officeart/2005/8/layout/cycle2"/>
    <dgm:cxn modelId="{DA5CAE5B-4BE1-ED41-AE5A-EBE74BF8970F}" type="presOf" srcId="{567EE395-42DC-7E4A-9631-BC7E4FFF7FDD}" destId="{B625C407-0563-054A-9882-2F7B91BE0866}" srcOrd="0" destOrd="0" presId="urn:microsoft.com/office/officeart/2005/8/layout/cycle2"/>
    <dgm:cxn modelId="{31BBE65F-2D36-BC43-A2BF-32C9AF0A8B01}" type="presOf" srcId="{C9C81DFC-CDDD-7145-898F-6BECE98523CB}" destId="{195EE95D-B827-3C44-BF90-50909C83326F}" srcOrd="1" destOrd="0" presId="urn:microsoft.com/office/officeart/2005/8/layout/cycle2"/>
    <dgm:cxn modelId="{96BF4E83-79FF-6341-8783-E94E6E15FBFD}" type="presOf" srcId="{4DD8E977-DC7B-2446-9F91-585BB80D66C2}" destId="{F7F6FE0A-6565-F141-89D9-73202FA14E40}" srcOrd="0" destOrd="0" presId="urn:microsoft.com/office/officeart/2005/8/layout/cycle2"/>
    <dgm:cxn modelId="{A798F786-1654-ED4E-A69A-C60036A4CC38}" srcId="{4AF85C5F-AE44-354B-8D13-7D63BEABA266}" destId="{4DD8E977-DC7B-2446-9F91-585BB80D66C2}" srcOrd="0" destOrd="0" parTransId="{D764C5A1-8CD3-6240-9A57-F0EA7BC81052}" sibTransId="{C9C81DFC-CDDD-7145-898F-6BECE98523CB}"/>
    <dgm:cxn modelId="{A953288E-931A-2848-86C3-39BA2C41CCC9}" type="presOf" srcId="{567EE395-42DC-7E4A-9631-BC7E4FFF7FDD}" destId="{D5DAB944-582B-3842-8389-0D066EBAE56C}" srcOrd="1" destOrd="0" presId="urn:microsoft.com/office/officeart/2005/8/layout/cycle2"/>
    <dgm:cxn modelId="{DFCA19A3-F143-204F-8005-F3CDBAADC928}" type="presOf" srcId="{1C66C9AF-1AA0-6B41-B6E6-4C12C4DFB4B1}" destId="{E62CD5E4-9AC3-6D40-BEB1-0C43235EC7EE}" srcOrd="1" destOrd="0" presId="urn:microsoft.com/office/officeart/2005/8/layout/cycle2"/>
    <dgm:cxn modelId="{224214B1-D3EF-8A4E-99AF-2075F8849893}" type="presOf" srcId="{6766C966-B87A-6248-AFCA-3F882ACD1F4D}" destId="{C4AC2511-BD3B-2349-9F04-0097624CC0FA}" srcOrd="1" destOrd="0" presId="urn:microsoft.com/office/officeart/2005/8/layout/cycle2"/>
    <dgm:cxn modelId="{A30282B8-4FDD-EF40-A503-6FB85578E8C7}" srcId="{4AF85C5F-AE44-354B-8D13-7D63BEABA266}" destId="{9121CB93-653D-A44B-87FB-050FE7FF2117}" srcOrd="2" destOrd="0" parTransId="{054D7D8C-3177-A341-8AA6-373B2B407FD1}" sibTransId="{1C66C9AF-1AA0-6B41-B6E6-4C12C4DFB4B1}"/>
    <dgm:cxn modelId="{B0A4E6D4-E162-9442-AA44-80908321CFD5}" type="presOf" srcId="{1C66C9AF-1AA0-6B41-B6E6-4C12C4DFB4B1}" destId="{B60CB389-9C2E-3C4D-BE75-4DD4D72466F0}" srcOrd="0" destOrd="0" presId="urn:microsoft.com/office/officeart/2005/8/layout/cycle2"/>
    <dgm:cxn modelId="{4E644CDE-8140-644C-AE71-3C94DFCFC837}" type="presOf" srcId="{1FF15A05-25F0-5244-9310-E05206642489}" destId="{9F55B27C-9004-344C-985C-10C126A006A1}" srcOrd="0" destOrd="0" presId="urn:microsoft.com/office/officeart/2005/8/layout/cycle2"/>
    <dgm:cxn modelId="{BF5FA4E5-4448-8A45-B8C2-093F83F3B3F2}" srcId="{4AF85C5F-AE44-354B-8D13-7D63BEABA266}" destId="{1FF15A05-25F0-5244-9310-E05206642489}" srcOrd="1" destOrd="0" parTransId="{E75F4B66-A3D1-EF41-8D66-EB82B1D47C6A}" sibTransId="{6766C966-B87A-6248-AFCA-3F882ACD1F4D}"/>
    <dgm:cxn modelId="{E6E173EB-B2DC-C945-8742-956A7F93DA34}" type="presOf" srcId="{C9C81DFC-CDDD-7145-898F-6BECE98523CB}" destId="{452C3A89-544C-DD4F-9430-73BE0ED2D751}" srcOrd="0" destOrd="0" presId="urn:microsoft.com/office/officeart/2005/8/layout/cycle2"/>
    <dgm:cxn modelId="{D0794554-A98C-884B-A712-F9E3A5128D89}" type="presParOf" srcId="{2EEB5C3F-E130-D346-AD7F-DCF5FD6A2644}" destId="{F7F6FE0A-6565-F141-89D9-73202FA14E40}" srcOrd="0" destOrd="0" presId="urn:microsoft.com/office/officeart/2005/8/layout/cycle2"/>
    <dgm:cxn modelId="{8EE98F61-89F1-9B4D-9759-E58AD28E7F8C}" type="presParOf" srcId="{2EEB5C3F-E130-D346-AD7F-DCF5FD6A2644}" destId="{452C3A89-544C-DD4F-9430-73BE0ED2D751}" srcOrd="1" destOrd="0" presId="urn:microsoft.com/office/officeart/2005/8/layout/cycle2"/>
    <dgm:cxn modelId="{196E91EC-280F-EA4E-9389-29C1003B6CB4}" type="presParOf" srcId="{452C3A89-544C-DD4F-9430-73BE0ED2D751}" destId="{195EE95D-B827-3C44-BF90-50909C83326F}" srcOrd="0" destOrd="0" presId="urn:microsoft.com/office/officeart/2005/8/layout/cycle2"/>
    <dgm:cxn modelId="{851CA042-8F9D-4B4E-A25F-00B9FD20C3D5}" type="presParOf" srcId="{2EEB5C3F-E130-D346-AD7F-DCF5FD6A2644}" destId="{9F55B27C-9004-344C-985C-10C126A006A1}" srcOrd="2" destOrd="0" presId="urn:microsoft.com/office/officeart/2005/8/layout/cycle2"/>
    <dgm:cxn modelId="{1F0ECC26-84FC-E143-AE8D-27262AC10594}" type="presParOf" srcId="{2EEB5C3F-E130-D346-AD7F-DCF5FD6A2644}" destId="{9D01E44E-14BF-B749-BBC5-310F065F31FF}" srcOrd="3" destOrd="0" presId="urn:microsoft.com/office/officeart/2005/8/layout/cycle2"/>
    <dgm:cxn modelId="{2A686FA7-8858-2D4F-A8DA-78EBC9CE3EE9}" type="presParOf" srcId="{9D01E44E-14BF-B749-BBC5-310F065F31FF}" destId="{C4AC2511-BD3B-2349-9F04-0097624CC0FA}" srcOrd="0" destOrd="0" presId="urn:microsoft.com/office/officeart/2005/8/layout/cycle2"/>
    <dgm:cxn modelId="{ED61E15B-2B22-F746-9138-5D096A5E7C74}" type="presParOf" srcId="{2EEB5C3F-E130-D346-AD7F-DCF5FD6A2644}" destId="{9651A054-5DCB-9543-8AD1-5D3FC34C4C1B}" srcOrd="4" destOrd="0" presId="urn:microsoft.com/office/officeart/2005/8/layout/cycle2"/>
    <dgm:cxn modelId="{BE4E22C5-DE82-5748-802E-53BB530A9493}" type="presParOf" srcId="{2EEB5C3F-E130-D346-AD7F-DCF5FD6A2644}" destId="{B60CB389-9C2E-3C4D-BE75-4DD4D72466F0}" srcOrd="5" destOrd="0" presId="urn:microsoft.com/office/officeart/2005/8/layout/cycle2"/>
    <dgm:cxn modelId="{76BE3C14-A9E5-DC40-BC08-57443E6DA3F7}" type="presParOf" srcId="{B60CB389-9C2E-3C4D-BE75-4DD4D72466F0}" destId="{E62CD5E4-9AC3-6D40-BEB1-0C43235EC7EE}" srcOrd="0" destOrd="0" presId="urn:microsoft.com/office/officeart/2005/8/layout/cycle2"/>
    <dgm:cxn modelId="{733B67CF-E619-9341-A88E-FEA91FB7BBA5}" type="presParOf" srcId="{2EEB5C3F-E130-D346-AD7F-DCF5FD6A2644}" destId="{28E6C81E-2289-A94C-8EE7-816EE39A50F4}" srcOrd="6" destOrd="0" presId="urn:microsoft.com/office/officeart/2005/8/layout/cycle2"/>
    <dgm:cxn modelId="{B15E15D8-D80C-2F47-851A-87F7E2E7298C}" type="presParOf" srcId="{2EEB5C3F-E130-D346-AD7F-DCF5FD6A2644}" destId="{B625C407-0563-054A-9882-2F7B91BE0866}" srcOrd="7" destOrd="0" presId="urn:microsoft.com/office/officeart/2005/8/layout/cycle2"/>
    <dgm:cxn modelId="{F36BDF5A-09BD-9B41-BE5E-9AFEF75BC001}" type="presParOf" srcId="{B625C407-0563-054A-9882-2F7B91BE0866}" destId="{D5DAB944-582B-3842-8389-0D066EBAE56C}" srcOrd="0" destOrd="0" presId="urn:microsoft.com/office/officeart/2005/8/layout/cycle2"/>
    <dgm:cxn modelId="{96BAD6C5-793A-2E46-9088-8C6EE17DAB0E}" type="presParOf" srcId="{2EEB5C3F-E130-D346-AD7F-DCF5FD6A2644}" destId="{C05A3543-E5BF-BE4E-8B9D-50DE40261A3C}" srcOrd="8" destOrd="0" presId="urn:microsoft.com/office/officeart/2005/8/layout/cycle2"/>
    <dgm:cxn modelId="{6A862DD0-AFBE-B34E-8FF5-613D5D244060}" type="presParOf" srcId="{2EEB5C3F-E130-D346-AD7F-DCF5FD6A2644}" destId="{7ACDC187-209E-B74D-A5F7-A20A3ACEA3D4}" srcOrd="9" destOrd="0" presId="urn:microsoft.com/office/officeart/2005/8/layout/cycle2"/>
    <dgm:cxn modelId="{082CA4BD-362B-474C-A528-10B958DCDE28}" type="presParOf" srcId="{7ACDC187-209E-B74D-A5F7-A20A3ACEA3D4}" destId="{94113EB5-55DF-BC44-AEB8-BE0274923F5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6FE0A-6565-F141-89D9-73202FA14E40}">
      <dsp:nvSpPr>
        <dsp:cNvPr id="0" name=""/>
        <dsp:cNvSpPr/>
      </dsp:nvSpPr>
      <dsp:spPr>
        <a:xfrm>
          <a:off x="2786091" y="1118"/>
          <a:ext cx="950726" cy="9507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800" b="0" i="0" kern="1200"/>
            <a:t>Formulate hypotheses</a:t>
          </a:r>
          <a:endParaRPr lang="pl-PL" sz="800" kern="1200"/>
        </a:p>
      </dsp:txBody>
      <dsp:txXfrm>
        <a:off x="2925322" y="140349"/>
        <a:ext cx="672264" cy="672264"/>
      </dsp:txXfrm>
    </dsp:sp>
    <dsp:sp modelId="{452C3A89-544C-DD4F-9430-73BE0ED2D751}">
      <dsp:nvSpPr>
        <dsp:cNvPr id="0" name=""/>
        <dsp:cNvSpPr/>
      </dsp:nvSpPr>
      <dsp:spPr>
        <a:xfrm rot="2160000">
          <a:off x="3706702" y="731245"/>
          <a:ext cx="252450" cy="3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>
        <a:off x="3713934" y="773161"/>
        <a:ext cx="176715" cy="192522"/>
      </dsp:txXfrm>
    </dsp:sp>
    <dsp:sp modelId="{9F55B27C-9004-344C-985C-10C126A006A1}">
      <dsp:nvSpPr>
        <dsp:cNvPr id="0" name=""/>
        <dsp:cNvSpPr/>
      </dsp:nvSpPr>
      <dsp:spPr>
        <a:xfrm>
          <a:off x="3940597" y="839916"/>
          <a:ext cx="950726" cy="9507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800" kern="1200"/>
            <a:t>Design the experiment</a:t>
          </a:r>
        </a:p>
      </dsp:txBody>
      <dsp:txXfrm>
        <a:off x="4079828" y="979147"/>
        <a:ext cx="672264" cy="672264"/>
      </dsp:txXfrm>
    </dsp:sp>
    <dsp:sp modelId="{9D01E44E-14BF-B749-BBC5-310F065F31FF}">
      <dsp:nvSpPr>
        <dsp:cNvPr id="0" name=""/>
        <dsp:cNvSpPr/>
      </dsp:nvSpPr>
      <dsp:spPr>
        <a:xfrm rot="6480000">
          <a:off x="4071452" y="1826651"/>
          <a:ext cx="252450" cy="3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10800000">
        <a:off x="4121021" y="1854811"/>
        <a:ext cx="176715" cy="192522"/>
      </dsp:txXfrm>
    </dsp:sp>
    <dsp:sp modelId="{9651A054-5DCB-9543-8AD1-5D3FC34C4C1B}">
      <dsp:nvSpPr>
        <dsp:cNvPr id="0" name=""/>
        <dsp:cNvSpPr/>
      </dsp:nvSpPr>
      <dsp:spPr>
        <a:xfrm>
          <a:off x="3499615" y="2197120"/>
          <a:ext cx="950726" cy="95072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800" b="0" i="0" kern="1200"/>
            <a:t>Conduct the experiment</a:t>
          </a:r>
          <a:endParaRPr lang="pl-PL" sz="800" kern="1200"/>
        </a:p>
      </dsp:txBody>
      <dsp:txXfrm>
        <a:off x="3638846" y="2336351"/>
        <a:ext cx="672264" cy="672264"/>
      </dsp:txXfrm>
    </dsp:sp>
    <dsp:sp modelId="{B60CB389-9C2E-3C4D-BE75-4DD4D72466F0}">
      <dsp:nvSpPr>
        <dsp:cNvPr id="0" name=""/>
        <dsp:cNvSpPr/>
      </dsp:nvSpPr>
      <dsp:spPr>
        <a:xfrm rot="10800000">
          <a:off x="3142374" y="2512048"/>
          <a:ext cx="252450" cy="3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10800000">
        <a:off x="3218109" y="2576222"/>
        <a:ext cx="176715" cy="192522"/>
      </dsp:txXfrm>
    </dsp:sp>
    <dsp:sp modelId="{28E6C81E-2289-A94C-8EE7-816EE39A50F4}">
      <dsp:nvSpPr>
        <dsp:cNvPr id="0" name=""/>
        <dsp:cNvSpPr/>
      </dsp:nvSpPr>
      <dsp:spPr>
        <a:xfrm>
          <a:off x="2072566" y="2197120"/>
          <a:ext cx="950726" cy="9507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800" kern="1200"/>
            <a:t>Evaluate results</a:t>
          </a:r>
        </a:p>
      </dsp:txBody>
      <dsp:txXfrm>
        <a:off x="2211797" y="2336351"/>
        <a:ext cx="672264" cy="672264"/>
      </dsp:txXfrm>
    </dsp:sp>
    <dsp:sp modelId="{B625C407-0563-054A-9882-2F7B91BE0866}">
      <dsp:nvSpPr>
        <dsp:cNvPr id="0" name=""/>
        <dsp:cNvSpPr/>
      </dsp:nvSpPr>
      <dsp:spPr>
        <a:xfrm rot="15120000">
          <a:off x="2203421" y="1840241"/>
          <a:ext cx="252450" cy="3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 rot="10800000">
        <a:off x="2252990" y="1940429"/>
        <a:ext cx="176715" cy="192522"/>
      </dsp:txXfrm>
    </dsp:sp>
    <dsp:sp modelId="{C05A3543-E5BF-BE4E-8B9D-50DE40261A3C}">
      <dsp:nvSpPr>
        <dsp:cNvPr id="0" name=""/>
        <dsp:cNvSpPr/>
      </dsp:nvSpPr>
      <dsp:spPr>
        <a:xfrm>
          <a:off x="1631584" y="839916"/>
          <a:ext cx="950726" cy="95072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800" b="0" i="0" kern="1200"/>
            <a:t>Suggest improvements</a:t>
          </a:r>
          <a:endParaRPr lang="pl-PL" sz="800" kern="1200"/>
        </a:p>
      </dsp:txBody>
      <dsp:txXfrm>
        <a:off x="1770815" y="979147"/>
        <a:ext cx="672264" cy="672264"/>
      </dsp:txXfrm>
    </dsp:sp>
    <dsp:sp modelId="{7ACDC187-209E-B74D-A5F7-A20A3ACEA3D4}">
      <dsp:nvSpPr>
        <dsp:cNvPr id="0" name=""/>
        <dsp:cNvSpPr/>
      </dsp:nvSpPr>
      <dsp:spPr>
        <a:xfrm rot="19440000">
          <a:off x="2552195" y="739645"/>
          <a:ext cx="252450" cy="3208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700" kern="1200"/>
        </a:p>
      </dsp:txBody>
      <dsp:txXfrm>
        <a:off x="2559427" y="826077"/>
        <a:ext cx="176715" cy="192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D01F4B7-45FA-5A49-91EB-FCFF4D31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D2979-9B67-014C-999A-DA507033720D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A195E61-BE40-4248-ACEC-31F52359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8A47C5-6775-A149-BE76-D9796203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1B00E-82E5-F547-A932-06E8336DA4C6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95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38F2D9E-453D-DF4B-AA32-ED1FA0568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3E052-17BB-8C43-85B3-A98675B491B9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311DBDC-96E4-064F-803A-F3C88587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FE2B36-7681-9049-A069-CC9A070C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8E614-71D7-624D-9723-73E4B51BC3B6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637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9173D38-0F0F-2944-82B9-702E53E0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EDB37-7538-9C47-A17E-A037F3AA3C13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32ED86-866D-4D49-96F6-45DD3BB4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A771570-9257-F243-AAA3-247EBA20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AA217-2DCE-F541-966C-D5458E390782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223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3AD8EFD6-4AA6-5549-9035-3E1252B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99474-10EA-4742-981B-7AA35FC57A68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F8203C75-4014-A14B-8255-874C7B861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7C245758-3483-9C4E-BC7C-1990B963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8BDC0-7A43-6D48-887C-BA42A4A28831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1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3">
            <a:extLst>
              <a:ext uri="{FF2B5EF4-FFF2-40B4-BE49-F238E27FC236}">
                <a16:creationId xmlns:a16="http://schemas.microsoft.com/office/drawing/2014/main" id="{19E3E2CB-FBA0-7142-8132-8BDA75E9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5CD03-50C8-BA49-89FC-28090DEB76AA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8" name="Symbol zastępczy stopki 4">
            <a:extLst>
              <a:ext uri="{FF2B5EF4-FFF2-40B4-BE49-F238E27FC236}">
                <a16:creationId xmlns:a16="http://schemas.microsoft.com/office/drawing/2014/main" id="{2F8448A5-5E66-0744-B59C-BCD2FA5F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EB3DC76-E529-C54E-AF74-8224A98B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8D457-071B-834E-97B7-0E967CC4633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075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3">
            <a:extLst>
              <a:ext uri="{FF2B5EF4-FFF2-40B4-BE49-F238E27FC236}">
                <a16:creationId xmlns:a16="http://schemas.microsoft.com/office/drawing/2014/main" id="{29675385-8E13-5043-8214-8D860AFD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AE05C-4CA5-234D-8270-F9698B47C3CE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4" name="Symbol zastępczy stopki 4">
            <a:extLst>
              <a:ext uri="{FF2B5EF4-FFF2-40B4-BE49-F238E27FC236}">
                <a16:creationId xmlns:a16="http://schemas.microsoft.com/office/drawing/2014/main" id="{2929496B-50D9-1044-B259-D0A04AF0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5">
            <a:extLst>
              <a:ext uri="{FF2B5EF4-FFF2-40B4-BE49-F238E27FC236}">
                <a16:creationId xmlns:a16="http://schemas.microsoft.com/office/drawing/2014/main" id="{057F4002-8212-4344-96A2-C622FD37C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6C6A2-EE12-0D44-9277-8A91DAE8D1DD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568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3">
            <a:extLst>
              <a:ext uri="{FF2B5EF4-FFF2-40B4-BE49-F238E27FC236}">
                <a16:creationId xmlns:a16="http://schemas.microsoft.com/office/drawing/2014/main" id="{7651212E-23E1-874B-ADD9-D04FC6A2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814D9-1C6B-BD4D-9B15-285865CA93A9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3" name="Symbol zastępczy stopki 4">
            <a:extLst>
              <a:ext uri="{FF2B5EF4-FFF2-40B4-BE49-F238E27FC236}">
                <a16:creationId xmlns:a16="http://schemas.microsoft.com/office/drawing/2014/main" id="{08B8BDA5-F97A-3749-8718-8770EF81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4" name="Symbol zastępczy numeru slajdu 5">
            <a:extLst>
              <a:ext uri="{FF2B5EF4-FFF2-40B4-BE49-F238E27FC236}">
                <a16:creationId xmlns:a16="http://schemas.microsoft.com/office/drawing/2014/main" id="{124EF0F9-46EF-DF42-ADA5-90B8FFFC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DD5CA-AC63-354D-8BED-CE3DA0137F2D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970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EAC97C35-3E48-3B47-B08E-B15EC5622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5E7A0-9D80-BF40-AF89-037804BED363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9F67028B-0B56-8C46-BE6D-D09C98C6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116EF357-1EB7-A846-A3C0-DC69E785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6FCAB-C184-BA45-9FC7-97B25F6C5C4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497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79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79" y="1806179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68389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2D8243FE-F51E-DC4B-8FE3-FF6E093C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B6BBF-F4E8-6F43-A515-35C2C8C445CF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983B6CD8-3038-9E42-AB08-00C2E376A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66A8090C-0F7C-9148-97AB-57A06B69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886D5-EB32-DE49-B28C-BEF242146809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433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C3C0D0-5E5D-7E4D-8941-2064A38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9D94E-2FFE-2F4C-AA01-AD79E9506049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BBA773-1F48-A04A-BE74-752C3284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4EA90F-316C-674F-8E27-0B5DC566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B3243-1944-BA4E-A21F-FE6DA6326EC8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7368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9339BAC-C53B-B744-AF2F-D25099A4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C47A4-7EBC-6A44-986B-1736DAE49BA4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D8D60BB-F7AB-DD4F-A34C-9F46664A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3C175AB-43FD-C949-8D41-7345D913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C2E2F-1014-4848-B9B1-F5E020BB87F8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8039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700088"/>
            <a:ext cx="7772400" cy="3048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013" baseline="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74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ymbol zastępczy tytułu 1">
            <a:extLst>
              <a:ext uri="{FF2B5EF4-FFF2-40B4-BE49-F238E27FC236}">
                <a16:creationId xmlns:a16="http://schemas.microsoft.com/office/drawing/2014/main" id="{8223D738-1762-344B-A738-E82FADC5B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</a:p>
        </p:txBody>
      </p:sp>
      <p:sp>
        <p:nvSpPr>
          <p:cNvPr id="1027" name="Symbol zastępczy tekstu 2">
            <a:extLst>
              <a:ext uri="{FF2B5EF4-FFF2-40B4-BE49-F238E27FC236}">
                <a16:creationId xmlns:a16="http://schemas.microsoft.com/office/drawing/2014/main" id="{40EE0435-B93B-A640-9DBB-2297700BB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9D0141-E73F-9446-B18C-7E73C2A66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>
              <a:defRPr/>
            </a:pPr>
            <a:fld id="{244E3DB6-7574-124A-8350-F56C2E925086}" type="datetimeFigureOut">
              <a:rPr lang="pl-PL"/>
              <a:pPr>
                <a:defRPr/>
              </a:pPr>
              <a:t>21.11.2025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2EE8F86-F47D-E64C-8B42-9D57246C5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F59BC5-6D7E-0D47-9775-7FB3A2F44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>
              <a:defRPr/>
            </a:pPr>
            <a:fld id="{963ABE7E-5C5E-4741-8026-17E6CD9E49D8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7" r:id="rId9"/>
    <p:sldLayoutId id="2147483764" r:id="rId10"/>
    <p:sldLayoutId id="2147483765" r:id="rId11"/>
    <p:sldLayoutId id="2147483766" r:id="rId12"/>
    <p:sldLayoutId id="2147483768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b="1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.svg"/><Relationship Id="rId7" Type="http://schemas.openxmlformats.org/officeDocument/2006/relationships/image" Target="../media/image23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14.svg"/><Relationship Id="rId10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chat.openai.com/share/7685f5dc-be15-4d6f-9015-ec5cabe9bc5d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246968-34BA-766A-5428-BCC75A23A8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Experiment Design</a:t>
            </a:r>
          </a:p>
        </p:txBody>
      </p:sp>
      <p:sp>
        <p:nvSpPr>
          <p:cNvPr id="4" name="Podtytuł 3">
            <a:extLst>
              <a:ext uri="{FF2B5EF4-FFF2-40B4-BE49-F238E27FC236}">
                <a16:creationId xmlns:a16="http://schemas.microsoft.com/office/drawing/2014/main" id="{6D09B0E7-F5BA-B063-D9BE-DE40CDDDE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How do we find out that it works?</a:t>
            </a:r>
          </a:p>
        </p:txBody>
      </p:sp>
    </p:spTree>
    <p:extLst>
      <p:ext uri="{BB962C8B-B14F-4D97-AF65-F5344CB8AC3E}">
        <p14:creationId xmlns:p14="http://schemas.microsoft.com/office/powerpoint/2010/main" val="143015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There are many strategies for dealing with customers</a:t>
            </a:r>
          </a:p>
        </p:txBody>
      </p:sp>
      <p:grpSp>
        <p:nvGrpSpPr>
          <p:cNvPr id="27" name="Grupa 26">
            <a:extLst>
              <a:ext uri="{FF2B5EF4-FFF2-40B4-BE49-F238E27FC236}">
                <a16:creationId xmlns:a16="http://schemas.microsoft.com/office/drawing/2014/main" id="{9CE9AC3C-E8C8-6EDF-8B5E-8E3E74371EDB}"/>
              </a:ext>
            </a:extLst>
          </p:cNvPr>
          <p:cNvGrpSpPr/>
          <p:nvPr/>
        </p:nvGrpSpPr>
        <p:grpSpPr>
          <a:xfrm>
            <a:off x="2274940" y="1906687"/>
            <a:ext cx="4218085" cy="632012"/>
            <a:chOff x="2277413" y="1906687"/>
            <a:chExt cx="4218085" cy="632012"/>
          </a:xfrm>
        </p:grpSpPr>
        <p:pic>
          <p:nvPicPr>
            <p:cNvPr id="5" name="Grafika 4" descr="Mężczyzna kontur">
              <a:extLst>
                <a:ext uri="{FF2B5EF4-FFF2-40B4-BE49-F238E27FC236}">
                  <a16:creationId xmlns:a16="http://schemas.microsoft.com/office/drawing/2014/main" id="{36D47EC8-F50A-06F0-CAF4-13AA9D6FC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7413" y="1906687"/>
              <a:ext cx="632012" cy="632012"/>
            </a:xfrm>
            <a:prstGeom prst="rect">
              <a:avLst/>
            </a:prstGeom>
          </p:spPr>
        </p:pic>
        <p:pic>
          <p:nvPicPr>
            <p:cNvPr id="6" name="Grafika 5" descr="Mężczyzna kontur">
              <a:extLst>
                <a:ext uri="{FF2B5EF4-FFF2-40B4-BE49-F238E27FC236}">
                  <a16:creationId xmlns:a16="http://schemas.microsoft.com/office/drawing/2014/main" id="{85D41CBE-76E7-5B02-6B82-3EC063E88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10" name="Grupa 9">
              <a:extLst>
                <a:ext uri="{FF2B5EF4-FFF2-40B4-BE49-F238E27FC236}">
                  <a16:creationId xmlns:a16="http://schemas.microsoft.com/office/drawing/2014/main" id="{579D161A-6943-3D5A-3DDF-7E2F1C79CE40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pole tekstowe 7">
                    <a:extLst>
                      <a:ext uri="{FF2B5EF4-FFF2-40B4-BE49-F238E27FC236}">
                        <a16:creationId xmlns:a16="http://schemas.microsoft.com/office/drawing/2014/main" id="{8090557A-4DAD-21EC-1A93-2A9BB7DD793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8" name="pole tekstowe 7">
                    <a:extLst>
                      <a:ext uri="{FF2B5EF4-FFF2-40B4-BE49-F238E27FC236}">
                        <a16:creationId xmlns:a16="http://schemas.microsoft.com/office/drawing/2014/main" id="{8090557A-4DAD-21EC-1A93-2A9BB7DD79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amka 8">
                <a:extLst>
                  <a:ext uri="{FF2B5EF4-FFF2-40B4-BE49-F238E27FC236}">
                    <a16:creationId xmlns:a16="http://schemas.microsoft.com/office/drawing/2014/main" id="{25B18D7A-2DB6-A698-54D7-E95193868F96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9" name="Łącznik prosty ze strzałką 18">
              <a:extLst>
                <a:ext uri="{FF2B5EF4-FFF2-40B4-BE49-F238E27FC236}">
                  <a16:creationId xmlns:a16="http://schemas.microsoft.com/office/drawing/2014/main" id="{28347915-29C9-B431-ADF4-14C217E2E54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ze strzałką 25">
              <a:extLst>
                <a:ext uri="{FF2B5EF4-FFF2-40B4-BE49-F238E27FC236}">
                  <a16:creationId xmlns:a16="http://schemas.microsoft.com/office/drawing/2014/main" id="{806901CC-AC45-2943-E58D-189AA850E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F0540739-E3F0-6C12-A5B6-1C1B39FD0C8F}"/>
              </a:ext>
            </a:extLst>
          </p:cNvPr>
          <p:cNvGrpSpPr/>
          <p:nvPr/>
        </p:nvGrpSpPr>
        <p:grpSpPr>
          <a:xfrm>
            <a:off x="2274940" y="2797333"/>
            <a:ext cx="4218085" cy="632012"/>
            <a:chOff x="2277413" y="1906687"/>
            <a:chExt cx="4218085" cy="632012"/>
          </a:xfrm>
        </p:grpSpPr>
        <p:pic>
          <p:nvPicPr>
            <p:cNvPr id="29" name="Grafika 28" descr="Mężczyzna kontur">
              <a:extLst>
                <a:ext uri="{FF2B5EF4-FFF2-40B4-BE49-F238E27FC236}">
                  <a16:creationId xmlns:a16="http://schemas.microsoft.com/office/drawing/2014/main" id="{E12CF32B-ACF6-89F9-41E0-74A6248DB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7413" y="1906687"/>
              <a:ext cx="632012" cy="632012"/>
            </a:xfrm>
            <a:prstGeom prst="rect">
              <a:avLst/>
            </a:prstGeom>
          </p:spPr>
        </p:pic>
        <p:pic>
          <p:nvPicPr>
            <p:cNvPr id="30" name="Grafika 29" descr="Mężczyzna kontur">
              <a:extLst>
                <a:ext uri="{FF2B5EF4-FFF2-40B4-BE49-F238E27FC236}">
                  <a16:creationId xmlns:a16="http://schemas.microsoft.com/office/drawing/2014/main" id="{650CD341-EB7A-505D-1FBB-AE41AA87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31" name="Grupa 30">
              <a:extLst>
                <a:ext uri="{FF2B5EF4-FFF2-40B4-BE49-F238E27FC236}">
                  <a16:creationId xmlns:a16="http://schemas.microsoft.com/office/drawing/2014/main" id="{E4F21E7B-CED1-2546-CB96-1F73B1A60313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pole tekstowe 33">
                    <a:extLst>
                      <a:ext uri="{FF2B5EF4-FFF2-40B4-BE49-F238E27FC236}">
                        <a16:creationId xmlns:a16="http://schemas.microsoft.com/office/drawing/2014/main" id="{6FDCFA78-1A25-471E-36EF-EAE56088A6F2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34" name="pole tekstowe 33">
                    <a:extLst>
                      <a:ext uri="{FF2B5EF4-FFF2-40B4-BE49-F238E27FC236}">
                        <a16:creationId xmlns:a16="http://schemas.microsoft.com/office/drawing/2014/main" id="{6FDCFA78-1A25-471E-36EF-EAE56088A6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Ramka 34">
                <a:extLst>
                  <a:ext uri="{FF2B5EF4-FFF2-40B4-BE49-F238E27FC236}">
                    <a16:creationId xmlns:a16="http://schemas.microsoft.com/office/drawing/2014/main" id="{88220E4E-B57B-7095-F01D-CF379E99B0B0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2" name="Łącznik prosty ze strzałką 31">
              <a:extLst>
                <a:ext uri="{FF2B5EF4-FFF2-40B4-BE49-F238E27FC236}">
                  <a16:creationId xmlns:a16="http://schemas.microsoft.com/office/drawing/2014/main" id="{96A7ECAE-169C-DF46-710A-D80C1F187137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ze strzałką 32">
              <a:extLst>
                <a:ext uri="{FF2B5EF4-FFF2-40B4-BE49-F238E27FC236}">
                  <a16:creationId xmlns:a16="http://schemas.microsoft.com/office/drawing/2014/main" id="{7B735ACB-0E2B-982C-E807-1788604CA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a 35">
            <a:extLst>
              <a:ext uri="{FF2B5EF4-FFF2-40B4-BE49-F238E27FC236}">
                <a16:creationId xmlns:a16="http://schemas.microsoft.com/office/drawing/2014/main" id="{389B6856-95BA-96C7-BEB3-072ECC6F8A89}"/>
              </a:ext>
            </a:extLst>
          </p:cNvPr>
          <p:cNvGrpSpPr/>
          <p:nvPr/>
        </p:nvGrpSpPr>
        <p:grpSpPr>
          <a:xfrm>
            <a:off x="2274940" y="3680788"/>
            <a:ext cx="4218085" cy="632012"/>
            <a:chOff x="2277413" y="1906687"/>
            <a:chExt cx="4218085" cy="632012"/>
          </a:xfrm>
        </p:grpSpPr>
        <p:pic>
          <p:nvPicPr>
            <p:cNvPr id="37" name="Grafika 36" descr="Mężczyzna kontur">
              <a:extLst>
                <a:ext uri="{FF2B5EF4-FFF2-40B4-BE49-F238E27FC236}">
                  <a16:creationId xmlns:a16="http://schemas.microsoft.com/office/drawing/2014/main" id="{53C05BBB-94C5-C7DF-3E87-E6C955B40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7413" y="1906687"/>
              <a:ext cx="632012" cy="632012"/>
            </a:xfrm>
            <a:prstGeom prst="rect">
              <a:avLst/>
            </a:prstGeom>
          </p:spPr>
        </p:pic>
        <p:pic>
          <p:nvPicPr>
            <p:cNvPr id="38" name="Grafika 37" descr="Mężczyzna kontur">
              <a:extLst>
                <a:ext uri="{FF2B5EF4-FFF2-40B4-BE49-F238E27FC236}">
                  <a16:creationId xmlns:a16="http://schemas.microsoft.com/office/drawing/2014/main" id="{91CFE1FB-27BE-C48C-B069-61866954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39" name="Grupa 38">
              <a:extLst>
                <a:ext uri="{FF2B5EF4-FFF2-40B4-BE49-F238E27FC236}">
                  <a16:creationId xmlns:a16="http://schemas.microsoft.com/office/drawing/2014/main" id="{15624834-D9EF-E478-5F51-7F41DE7CE497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pole tekstowe 41">
                    <a:extLst>
                      <a:ext uri="{FF2B5EF4-FFF2-40B4-BE49-F238E27FC236}">
                        <a16:creationId xmlns:a16="http://schemas.microsoft.com/office/drawing/2014/main" id="{96590415-E99E-632F-9850-43549EC5600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42" name="pole tekstowe 41">
                    <a:extLst>
                      <a:ext uri="{FF2B5EF4-FFF2-40B4-BE49-F238E27FC236}">
                        <a16:creationId xmlns:a16="http://schemas.microsoft.com/office/drawing/2014/main" id="{96590415-E99E-632F-9850-43549EC56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Ramka 42">
                <a:extLst>
                  <a:ext uri="{FF2B5EF4-FFF2-40B4-BE49-F238E27FC236}">
                    <a16:creationId xmlns:a16="http://schemas.microsoft.com/office/drawing/2014/main" id="{F53A0787-5B6C-EE4E-9289-4D5AFD91C335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0" name="Łącznik prosty ze strzałką 39">
              <a:extLst>
                <a:ext uri="{FF2B5EF4-FFF2-40B4-BE49-F238E27FC236}">
                  <a16:creationId xmlns:a16="http://schemas.microsoft.com/office/drawing/2014/main" id="{72742DFE-B9A4-D227-78B5-25179DB0C27D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Łącznik prosty ze strzałką 40">
              <a:extLst>
                <a:ext uri="{FF2B5EF4-FFF2-40B4-BE49-F238E27FC236}">
                  <a16:creationId xmlns:a16="http://schemas.microsoft.com/office/drawing/2014/main" id="{A8907BB5-70BB-AE57-97E9-D9A73E6F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589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Strategy = assignment of an action to a state</a:t>
            </a:r>
          </a:p>
        </p:txBody>
      </p:sp>
      <p:grpSp>
        <p:nvGrpSpPr>
          <p:cNvPr id="27" name="Grupa 26">
            <a:extLst>
              <a:ext uri="{FF2B5EF4-FFF2-40B4-BE49-F238E27FC236}">
                <a16:creationId xmlns:a16="http://schemas.microsoft.com/office/drawing/2014/main" id="{9CE9AC3C-E8C8-6EDF-8B5E-8E3E74371EDB}"/>
              </a:ext>
            </a:extLst>
          </p:cNvPr>
          <p:cNvGrpSpPr/>
          <p:nvPr/>
        </p:nvGrpSpPr>
        <p:grpSpPr>
          <a:xfrm>
            <a:off x="2274940" y="1906687"/>
            <a:ext cx="4218085" cy="632012"/>
            <a:chOff x="2277413" y="1906687"/>
            <a:chExt cx="4218085" cy="632012"/>
          </a:xfrm>
        </p:grpSpPr>
        <p:pic>
          <p:nvPicPr>
            <p:cNvPr id="5" name="Grafika 4" descr="Mężczyzna kontur">
              <a:extLst>
                <a:ext uri="{FF2B5EF4-FFF2-40B4-BE49-F238E27FC236}">
                  <a16:creationId xmlns:a16="http://schemas.microsoft.com/office/drawing/2014/main" id="{36D47EC8-F50A-06F0-CAF4-13AA9D6FC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7413" y="1906687"/>
              <a:ext cx="632012" cy="632012"/>
            </a:xfrm>
            <a:prstGeom prst="rect">
              <a:avLst/>
            </a:prstGeom>
          </p:spPr>
        </p:pic>
        <p:pic>
          <p:nvPicPr>
            <p:cNvPr id="6" name="Grafika 5" descr="Mężczyzna kontur">
              <a:extLst>
                <a:ext uri="{FF2B5EF4-FFF2-40B4-BE49-F238E27FC236}">
                  <a16:creationId xmlns:a16="http://schemas.microsoft.com/office/drawing/2014/main" id="{85D41CBE-76E7-5B02-6B82-3EC063E88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10" name="Grupa 9">
              <a:extLst>
                <a:ext uri="{FF2B5EF4-FFF2-40B4-BE49-F238E27FC236}">
                  <a16:creationId xmlns:a16="http://schemas.microsoft.com/office/drawing/2014/main" id="{579D161A-6943-3D5A-3DDF-7E2F1C79CE40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pole tekstowe 7">
                    <a:extLst>
                      <a:ext uri="{FF2B5EF4-FFF2-40B4-BE49-F238E27FC236}">
                        <a16:creationId xmlns:a16="http://schemas.microsoft.com/office/drawing/2014/main" id="{8090557A-4DAD-21EC-1A93-2A9BB7DD793F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8" name="pole tekstowe 7">
                    <a:extLst>
                      <a:ext uri="{FF2B5EF4-FFF2-40B4-BE49-F238E27FC236}">
                        <a16:creationId xmlns:a16="http://schemas.microsoft.com/office/drawing/2014/main" id="{8090557A-4DAD-21EC-1A93-2A9BB7DD79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amka 8">
                <a:extLst>
                  <a:ext uri="{FF2B5EF4-FFF2-40B4-BE49-F238E27FC236}">
                    <a16:creationId xmlns:a16="http://schemas.microsoft.com/office/drawing/2014/main" id="{25B18D7A-2DB6-A698-54D7-E95193868F96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9" name="Łącznik prosty ze strzałką 18">
              <a:extLst>
                <a:ext uri="{FF2B5EF4-FFF2-40B4-BE49-F238E27FC236}">
                  <a16:creationId xmlns:a16="http://schemas.microsoft.com/office/drawing/2014/main" id="{28347915-29C9-B431-ADF4-14C217E2E54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ze strzałką 25">
              <a:extLst>
                <a:ext uri="{FF2B5EF4-FFF2-40B4-BE49-F238E27FC236}">
                  <a16:creationId xmlns:a16="http://schemas.microsoft.com/office/drawing/2014/main" id="{806901CC-AC45-2943-E58D-189AA850E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0CFED24-C0B5-D29C-F838-610B19421B29}"/>
                  </a:ext>
                </a:extLst>
              </p:cNvPr>
              <p:cNvSpPr txBox="1"/>
              <p:nvPr/>
            </p:nvSpPr>
            <p:spPr>
              <a:xfrm>
                <a:off x="2067376" y="2837330"/>
                <a:ext cx="457200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baseline="-25000"/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0CFED24-C0B5-D29C-F838-610B19421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376" y="2837330"/>
                <a:ext cx="4572000" cy="362984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20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1F5EE2-5614-16D2-AEA2-32D14178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i="1"/>
              <a:t>S </a:t>
            </a:r>
            <a:r>
              <a:rPr lang="pl-PL"/>
              <a:t>: possible states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BC9045D-9E24-936A-31EA-4E444517873D}"/>
              </a:ext>
            </a:extLst>
          </p:cNvPr>
          <p:cNvSpPr txBox="1"/>
          <p:nvPr/>
        </p:nvSpPr>
        <p:spPr>
          <a:xfrm>
            <a:off x="253219" y="1904598"/>
            <a:ext cx="2142978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Demographic characteristics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Age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Gender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Education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Occupation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...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2F1FB9C-120F-778F-140A-FDBA47521949}"/>
              </a:ext>
            </a:extLst>
          </p:cNvPr>
          <p:cNvSpPr txBox="1"/>
          <p:nvPr/>
        </p:nvSpPr>
        <p:spPr>
          <a:xfrm>
            <a:off x="2618936" y="1904598"/>
            <a:ext cx="2142978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Transaction statistics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endParaRPr lang="pl-PL" sz="1100">
              <a:latin typeface="Franklin Gothic Book" panose="020B0503020102020204" pitchFamily="34" charset="0"/>
            </a:endParaRPr>
          </a:p>
          <a:p>
            <a:endParaRPr lang="pl-PL" sz="11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Frequency of purchases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Number of transactions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Volume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Time since last transaction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...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59280EB-1DD8-39AA-5E7F-98E3C510898B}"/>
              </a:ext>
            </a:extLst>
          </p:cNvPr>
          <p:cNvSpPr txBox="1"/>
          <p:nvPr/>
        </p:nvSpPr>
        <p:spPr>
          <a:xfrm>
            <a:off x="4984653" y="1904598"/>
            <a:ext cx="214297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Communication data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endParaRPr lang="pl-PL" sz="1100">
              <a:latin typeface="Franklin Gothic Book" panose="020B0503020102020204" pitchFamily="34" charset="0"/>
            </a:endParaRPr>
          </a:p>
          <a:p>
            <a:endParaRPr lang="pl-PL" sz="11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Last contact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Frequency of contacts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...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CDB7991-5292-3F7E-07D7-F7825768AF4F}"/>
              </a:ext>
            </a:extLst>
          </p:cNvPr>
          <p:cNvSpPr txBox="1"/>
          <p:nvPr/>
        </p:nvSpPr>
        <p:spPr>
          <a:xfrm>
            <a:off x="7054949" y="1904597"/>
            <a:ext cx="214297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External data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endParaRPr lang="pl-PL" sz="1600">
              <a:latin typeface="Franklin Gothic Book" panose="020B0503020102020204" pitchFamily="34" charset="0"/>
            </a:endParaRPr>
          </a:p>
          <a:p>
            <a:endParaRPr lang="pl-PL" sz="11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Social media reviews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90241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1F5EE2-5614-16D2-AEA2-32D14178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i="1"/>
              <a:t>a </a:t>
            </a:r>
            <a:r>
              <a:rPr lang="pl-PL"/>
              <a:t>: possible actions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BC9045D-9E24-936A-31EA-4E444517873D}"/>
              </a:ext>
            </a:extLst>
          </p:cNvPr>
          <p:cNvSpPr txBox="1"/>
          <p:nvPr/>
        </p:nvSpPr>
        <p:spPr>
          <a:xfrm>
            <a:off x="1467729" y="1768417"/>
            <a:ext cx="214297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Contact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Form/channel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SMS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E-mail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Phone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Moment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2F1FB9C-120F-778F-140A-FDBA47521949}"/>
              </a:ext>
            </a:extLst>
          </p:cNvPr>
          <p:cNvSpPr txBox="1"/>
          <p:nvPr/>
        </p:nvSpPr>
        <p:spPr>
          <a:xfrm>
            <a:off x="3833446" y="1768417"/>
            <a:ext cx="2142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Offer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Discount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Amount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59280EB-1DD8-39AA-5E7F-98E3C510898B}"/>
              </a:ext>
            </a:extLst>
          </p:cNvPr>
          <p:cNvSpPr txBox="1"/>
          <p:nvPr/>
        </p:nvSpPr>
        <p:spPr>
          <a:xfrm>
            <a:off x="6199163" y="1768417"/>
            <a:ext cx="2142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Decision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Acceptance of the application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1277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A0E595A5-240D-03EE-580B-03D53FC60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We design a </a:t>
            </a:r>
            <a:r>
              <a:rPr lang="pl-PL" i="1"/>
              <a:t>new way of doing things</a:t>
            </a:r>
            <a:endParaRPr lang="pl-PL"/>
          </a:p>
        </p:txBody>
      </p:sp>
      <p:sp>
        <p:nvSpPr>
          <p:cNvPr id="2" name="Podtytuł 1">
            <a:extLst>
              <a:ext uri="{FF2B5EF4-FFF2-40B4-BE49-F238E27FC236}">
                <a16:creationId xmlns:a16="http://schemas.microsoft.com/office/drawing/2014/main" id="{C9E98507-92BB-4B4B-5862-73F89E96B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Let’s call it a </a:t>
            </a:r>
            <a:r>
              <a:rPr lang="pl-PL" i="1"/>
              <a:t>recommendation system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99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Our system recommends action </a:t>
            </a:r>
            <a:r>
              <a:rPr lang="pl-PL" i="1"/>
              <a:t>a</a:t>
            </a:r>
            <a:r>
              <a:rPr lang="pl-PL"/>
              <a:t> based on the state of the customer </a:t>
            </a:r>
            <a:r>
              <a:rPr lang="pl-PL" i="1"/>
              <a:t>S</a:t>
            </a:r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1C336778-5276-8846-C631-BFC23989117A}"/>
              </a:ext>
            </a:extLst>
          </p:cNvPr>
          <p:cNvGrpSpPr/>
          <p:nvPr/>
        </p:nvGrpSpPr>
        <p:grpSpPr>
          <a:xfrm>
            <a:off x="2274940" y="1906687"/>
            <a:ext cx="4218085" cy="632012"/>
            <a:chOff x="2277413" y="1906687"/>
            <a:chExt cx="4218085" cy="632012"/>
          </a:xfrm>
        </p:grpSpPr>
        <p:pic>
          <p:nvPicPr>
            <p:cNvPr id="5" name="Grafika 4" descr="Mężczyzna kontur">
              <a:extLst>
                <a:ext uri="{FF2B5EF4-FFF2-40B4-BE49-F238E27FC236}">
                  <a16:creationId xmlns:a16="http://schemas.microsoft.com/office/drawing/2014/main" id="{8FB836A9-90E2-0A13-DCA8-4F898D1C3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7413" y="1906687"/>
              <a:ext cx="632012" cy="632012"/>
            </a:xfrm>
            <a:prstGeom prst="rect">
              <a:avLst/>
            </a:prstGeom>
          </p:spPr>
        </p:pic>
        <p:pic>
          <p:nvPicPr>
            <p:cNvPr id="6" name="Grafika 5" descr="Mężczyzna kontur">
              <a:extLst>
                <a:ext uri="{FF2B5EF4-FFF2-40B4-BE49-F238E27FC236}">
                  <a16:creationId xmlns:a16="http://schemas.microsoft.com/office/drawing/2014/main" id="{AA19508D-61D9-E7CB-7F0A-6FEED67DC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7" name="Grupa 6">
              <a:extLst>
                <a:ext uri="{FF2B5EF4-FFF2-40B4-BE49-F238E27FC236}">
                  <a16:creationId xmlns:a16="http://schemas.microsoft.com/office/drawing/2014/main" id="{3085F363-0544-0AED-A80D-A80A7B294D6D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pole tekstowe 9">
                    <a:extLst>
                      <a:ext uri="{FF2B5EF4-FFF2-40B4-BE49-F238E27FC236}">
                        <a16:creationId xmlns:a16="http://schemas.microsoft.com/office/drawing/2014/main" id="{AA9AD082-95A4-657E-86CC-2ADECF02B42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10" name="pole tekstowe 9">
                    <a:extLst>
                      <a:ext uri="{FF2B5EF4-FFF2-40B4-BE49-F238E27FC236}">
                        <a16:creationId xmlns:a16="http://schemas.microsoft.com/office/drawing/2014/main" id="{AA9AD082-95A4-657E-86CC-2ADECF02B4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Ramka 10">
                <a:extLst>
                  <a:ext uri="{FF2B5EF4-FFF2-40B4-BE49-F238E27FC236}">
                    <a16:creationId xmlns:a16="http://schemas.microsoft.com/office/drawing/2014/main" id="{6AC4B867-3391-641E-B263-5ABE5370F42F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7624A187-0CBC-D753-C0DD-F35CE6A03957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ze strzałką 8">
              <a:extLst>
                <a:ext uri="{FF2B5EF4-FFF2-40B4-BE49-F238E27FC236}">
                  <a16:creationId xmlns:a16="http://schemas.microsoft.com/office/drawing/2014/main" id="{00641B45-4F0C-BCB5-A978-F990BAA86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5D7E35-A7BC-A930-F284-2FCA13D218C3}"/>
                  </a:ext>
                </a:extLst>
              </p:cNvPr>
              <p:cNvSpPr txBox="1"/>
              <p:nvPr/>
            </p:nvSpPr>
            <p:spPr>
              <a:xfrm>
                <a:off x="2067376" y="2837330"/>
                <a:ext cx="457200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baseline="-25000"/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5D7E35-A7BC-A930-F284-2FCA13D21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376" y="2837330"/>
                <a:ext cx="4572000" cy="362984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62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Its operation usually boils down to data transformation and application of business rules</a:t>
            </a:r>
          </a:p>
        </p:txBody>
      </p:sp>
      <p:pic>
        <p:nvPicPr>
          <p:cNvPr id="10" name="Grafika 9" descr="Mężczyzna kontur">
            <a:extLst>
              <a:ext uri="{FF2B5EF4-FFF2-40B4-BE49-F238E27FC236}">
                <a16:creationId xmlns:a16="http://schemas.microsoft.com/office/drawing/2014/main" id="{8F09BECC-FB46-B844-027A-30CE98A55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0945" y="2255744"/>
            <a:ext cx="632012" cy="632012"/>
          </a:xfrm>
          <a:prstGeom prst="rect">
            <a:avLst/>
          </a:prstGeom>
        </p:spPr>
      </p:pic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BAFB8A8F-EE18-2C39-76F1-B0714B6476F4}"/>
              </a:ext>
            </a:extLst>
          </p:cNvPr>
          <p:cNvCxnSpPr>
            <a:cxnSpLocks/>
          </p:cNvCxnSpPr>
          <p:nvPr/>
        </p:nvCxnSpPr>
        <p:spPr>
          <a:xfrm>
            <a:off x="1368884" y="2571750"/>
            <a:ext cx="122895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474B1BA9-6EB4-FCF5-3658-22630A0714DE}"/>
              </a:ext>
            </a:extLst>
          </p:cNvPr>
          <p:cNvCxnSpPr>
            <a:cxnSpLocks/>
          </p:cNvCxnSpPr>
          <p:nvPr/>
        </p:nvCxnSpPr>
        <p:spPr>
          <a:xfrm>
            <a:off x="6321083" y="2573130"/>
            <a:ext cx="100929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E9F4F15-2943-B3AE-F0AC-5B08F361A75C}"/>
                  </a:ext>
                </a:extLst>
              </p:cNvPr>
              <p:cNvSpPr txBox="1"/>
              <p:nvPr/>
            </p:nvSpPr>
            <p:spPr>
              <a:xfrm>
                <a:off x="2072065" y="3582637"/>
                <a:ext cx="457200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baseline="-25000"/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E9F4F15-2943-B3AE-F0AC-5B08F361A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65" y="3582637"/>
                <a:ext cx="4572000" cy="362984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upa 14">
            <a:extLst>
              <a:ext uri="{FF2B5EF4-FFF2-40B4-BE49-F238E27FC236}">
                <a16:creationId xmlns:a16="http://schemas.microsoft.com/office/drawing/2014/main" id="{A66EF1B2-E841-AE3F-8836-07B717989736}"/>
              </a:ext>
            </a:extLst>
          </p:cNvPr>
          <p:cNvGrpSpPr/>
          <p:nvPr/>
        </p:nvGrpSpPr>
        <p:grpSpPr>
          <a:xfrm>
            <a:off x="2703872" y="1987753"/>
            <a:ext cx="3591770" cy="1387996"/>
            <a:chOff x="2628844" y="1626149"/>
            <a:chExt cx="3591770" cy="1387996"/>
          </a:xfrm>
        </p:grpSpPr>
        <p:grpSp>
          <p:nvGrpSpPr>
            <p:cNvPr id="16" name="Grupa 15">
              <a:extLst>
                <a:ext uri="{FF2B5EF4-FFF2-40B4-BE49-F238E27FC236}">
                  <a16:creationId xmlns:a16="http://schemas.microsoft.com/office/drawing/2014/main" id="{238B96F6-3BD6-D143-7954-AA07E24F53AB}"/>
                </a:ext>
              </a:extLst>
            </p:cNvPr>
            <p:cNvGrpSpPr/>
            <p:nvPr/>
          </p:nvGrpSpPr>
          <p:grpSpPr>
            <a:xfrm>
              <a:off x="2827535" y="1889312"/>
              <a:ext cx="3393079" cy="921038"/>
              <a:chOff x="1846210" y="1902494"/>
              <a:chExt cx="3393079" cy="921038"/>
            </a:xfrm>
          </p:grpSpPr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F0C8D293-F556-CEF5-1AFC-373BA335C3C1}"/>
                  </a:ext>
                </a:extLst>
              </p:cNvPr>
              <p:cNvSpPr txBox="1"/>
              <p:nvPr/>
            </p:nvSpPr>
            <p:spPr>
              <a:xfrm>
                <a:off x="4064654" y="2479814"/>
                <a:ext cx="1174635" cy="335646"/>
              </a:xfrm>
              <a:prstGeom prst="rect">
                <a:avLst/>
              </a:prstGeom>
              <a:noFill/>
              <a:ln>
                <a:noFill/>
              </a:ln>
              <a:effectLst>
                <a:softEdge rad="50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80000" tIns="90000" rIns="180000" bIns="90000" rtlCol="0">
                <a:spAutoFit/>
              </a:bodyPr>
              <a:lstStyle/>
              <a:p>
                <a:pPr algn="ctr"/>
                <a:r>
                  <a:rPr lang="pl-PL" sz="1000" dirty="0" err="1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Business Rule</a:t>
                </a:r>
                <a:endParaRPr lang="pl-PL" sz="10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6" name="Grupa 25">
                <a:extLst>
                  <a:ext uri="{FF2B5EF4-FFF2-40B4-BE49-F238E27FC236}">
                    <a16:creationId xmlns:a16="http://schemas.microsoft.com/office/drawing/2014/main" id="{7AC7BEE7-7619-56B9-8D1D-5DDBC4F0468A}"/>
                  </a:ext>
                </a:extLst>
              </p:cNvPr>
              <p:cNvGrpSpPr/>
              <p:nvPr/>
            </p:nvGrpSpPr>
            <p:grpSpPr>
              <a:xfrm>
                <a:off x="3112810" y="1902494"/>
                <a:ext cx="722589" cy="916041"/>
                <a:chOff x="5831013" y="2576340"/>
                <a:chExt cx="722589" cy="916041"/>
              </a:xfrm>
            </p:grpSpPr>
            <p:sp>
              <p:nvSpPr>
                <p:cNvPr id="39" name="Freeform 123">
                  <a:extLst>
                    <a:ext uri="{FF2B5EF4-FFF2-40B4-BE49-F238E27FC236}">
                      <a16:creationId xmlns:a16="http://schemas.microsoft.com/office/drawing/2014/main" id="{BBAB468F-E9D2-02A6-BA05-EC27FE46915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9125" y="2576340"/>
                  <a:ext cx="578482" cy="580395"/>
                </a:xfrm>
                <a:custGeom>
                  <a:avLst/>
                  <a:gdLst>
                    <a:gd name="T0" fmla="*/ 529 w 676"/>
                    <a:gd name="T1" fmla="*/ 279 h 678"/>
                    <a:gd name="T2" fmla="*/ 431 w 676"/>
                    <a:gd name="T3" fmla="*/ 293 h 678"/>
                    <a:gd name="T4" fmla="*/ 409 w 676"/>
                    <a:gd name="T5" fmla="*/ 210 h 678"/>
                    <a:gd name="T6" fmla="*/ 367 w 676"/>
                    <a:gd name="T7" fmla="*/ 125 h 678"/>
                    <a:gd name="T8" fmla="*/ 401 w 676"/>
                    <a:gd name="T9" fmla="*/ 58 h 678"/>
                    <a:gd name="T10" fmla="*/ 504 w 676"/>
                    <a:gd name="T11" fmla="*/ 6 h 678"/>
                    <a:gd name="T12" fmla="*/ 579 w 676"/>
                    <a:gd name="T13" fmla="*/ 18 h 678"/>
                    <a:gd name="T14" fmla="*/ 659 w 676"/>
                    <a:gd name="T15" fmla="*/ 100 h 678"/>
                    <a:gd name="T16" fmla="*/ 676 w 676"/>
                    <a:gd name="T17" fmla="*/ 169 h 678"/>
                    <a:gd name="T18" fmla="*/ 605 w 676"/>
                    <a:gd name="T19" fmla="*/ 241 h 678"/>
                    <a:gd name="T20" fmla="*/ 558 w 676"/>
                    <a:gd name="T21" fmla="*/ 314 h 678"/>
                    <a:gd name="T22" fmla="*/ 539 w 676"/>
                    <a:gd name="T23" fmla="*/ 267 h 678"/>
                    <a:gd name="T24" fmla="*/ 590 w 676"/>
                    <a:gd name="T25" fmla="*/ 242 h 678"/>
                    <a:gd name="T26" fmla="*/ 626 w 676"/>
                    <a:gd name="T27" fmla="*/ 172 h 678"/>
                    <a:gd name="T28" fmla="*/ 655 w 676"/>
                    <a:gd name="T29" fmla="*/ 114 h 678"/>
                    <a:gd name="T30" fmla="*/ 566 w 676"/>
                    <a:gd name="T31" fmla="*/ 67 h 678"/>
                    <a:gd name="T32" fmla="*/ 517 w 676"/>
                    <a:gd name="T33" fmla="*/ 15 h 678"/>
                    <a:gd name="T34" fmla="*/ 500 w 676"/>
                    <a:gd name="T35" fmla="*/ 56 h 678"/>
                    <a:gd name="T36" fmla="*/ 401 w 676"/>
                    <a:gd name="T37" fmla="*/ 73 h 678"/>
                    <a:gd name="T38" fmla="*/ 413 w 676"/>
                    <a:gd name="T39" fmla="*/ 144 h 678"/>
                    <a:gd name="T40" fmla="*/ 422 w 676"/>
                    <a:gd name="T41" fmla="*/ 215 h 678"/>
                    <a:gd name="T42" fmla="*/ 463 w 676"/>
                    <a:gd name="T43" fmla="*/ 255 h 678"/>
                    <a:gd name="T44" fmla="*/ 532 w 676"/>
                    <a:gd name="T45" fmla="*/ 264 h 678"/>
                    <a:gd name="T46" fmla="*/ 478 w 676"/>
                    <a:gd name="T47" fmla="*/ 160 h 678"/>
                    <a:gd name="T48" fmla="*/ 517 w 676"/>
                    <a:gd name="T49" fmla="*/ 199 h 678"/>
                    <a:gd name="T50" fmla="*/ 517 w 676"/>
                    <a:gd name="T51" fmla="*/ 185 h 678"/>
                    <a:gd name="T52" fmla="*/ 258 w 676"/>
                    <a:gd name="T53" fmla="*/ 678 h 678"/>
                    <a:gd name="T54" fmla="*/ 233 w 676"/>
                    <a:gd name="T55" fmla="*/ 615 h 678"/>
                    <a:gd name="T56" fmla="*/ 105 w 676"/>
                    <a:gd name="T57" fmla="*/ 628 h 678"/>
                    <a:gd name="T58" fmla="*/ 90 w 676"/>
                    <a:gd name="T59" fmla="*/ 522 h 678"/>
                    <a:gd name="T60" fmla="*/ 0 w 676"/>
                    <a:gd name="T61" fmla="*/ 424 h 678"/>
                    <a:gd name="T62" fmla="*/ 14 w 676"/>
                    <a:gd name="T63" fmla="*/ 350 h 678"/>
                    <a:gd name="T64" fmla="*/ 91 w 676"/>
                    <a:gd name="T65" fmla="*/ 229 h 678"/>
                    <a:gd name="T66" fmla="*/ 159 w 676"/>
                    <a:gd name="T67" fmla="*/ 185 h 678"/>
                    <a:gd name="T68" fmla="*/ 276 w 676"/>
                    <a:gd name="T69" fmla="*/ 222 h 678"/>
                    <a:gd name="T70" fmla="*/ 378 w 676"/>
                    <a:gd name="T71" fmla="*/ 190 h 678"/>
                    <a:gd name="T72" fmla="*/ 423 w 676"/>
                    <a:gd name="T73" fmla="*/ 310 h 678"/>
                    <a:gd name="T74" fmla="*/ 513 w 676"/>
                    <a:gd name="T75" fmla="*/ 370 h 678"/>
                    <a:gd name="T76" fmla="*/ 456 w 676"/>
                    <a:gd name="T77" fmla="*/ 419 h 678"/>
                    <a:gd name="T78" fmla="*/ 494 w 676"/>
                    <a:gd name="T79" fmla="*/ 527 h 678"/>
                    <a:gd name="T80" fmla="*/ 393 w 676"/>
                    <a:gd name="T81" fmla="*/ 564 h 678"/>
                    <a:gd name="T82" fmla="*/ 325 w 676"/>
                    <a:gd name="T83" fmla="*/ 669 h 678"/>
                    <a:gd name="T84" fmla="*/ 165 w 676"/>
                    <a:gd name="T85" fmla="*/ 577 h 678"/>
                    <a:gd name="T86" fmla="*/ 261 w 676"/>
                    <a:gd name="T87" fmla="*/ 664 h 678"/>
                    <a:gd name="T88" fmla="*/ 323 w 676"/>
                    <a:gd name="T89" fmla="*/ 591 h 678"/>
                    <a:gd name="T90" fmla="*/ 449 w 676"/>
                    <a:gd name="T91" fmla="*/ 573 h 678"/>
                    <a:gd name="T92" fmla="*/ 432 w 676"/>
                    <a:gd name="T93" fmla="*/ 479 h 678"/>
                    <a:gd name="T94" fmla="*/ 445 w 676"/>
                    <a:gd name="T95" fmla="*/ 396 h 678"/>
                    <a:gd name="T96" fmla="*/ 421 w 676"/>
                    <a:gd name="T97" fmla="*/ 325 h 678"/>
                    <a:gd name="T98" fmla="*/ 356 w 676"/>
                    <a:gd name="T99" fmla="*/ 258 h 678"/>
                    <a:gd name="T100" fmla="*/ 286 w 676"/>
                    <a:gd name="T101" fmla="*/ 233 h 678"/>
                    <a:gd name="T102" fmla="*/ 199 w 676"/>
                    <a:gd name="T103" fmla="*/ 245 h 678"/>
                    <a:gd name="T104" fmla="*/ 106 w 676"/>
                    <a:gd name="T105" fmla="*/ 228 h 678"/>
                    <a:gd name="T106" fmla="*/ 85 w 676"/>
                    <a:gd name="T107" fmla="*/ 357 h 678"/>
                    <a:gd name="T108" fmla="*/ 14 w 676"/>
                    <a:gd name="T109" fmla="*/ 419 h 678"/>
                    <a:gd name="T110" fmla="*/ 104 w 676"/>
                    <a:gd name="T111" fmla="*/ 519 h 678"/>
                    <a:gd name="T112" fmla="*/ 109 w 676"/>
                    <a:gd name="T113" fmla="*/ 613 h 678"/>
                    <a:gd name="T114" fmla="*/ 258 w 676"/>
                    <a:gd name="T115" fmla="*/ 484 h 678"/>
                    <a:gd name="T116" fmla="*/ 323 w 676"/>
                    <a:gd name="T117" fmla="*/ 419 h 678"/>
                    <a:gd name="T118" fmla="*/ 207 w 676"/>
                    <a:gd name="T119" fmla="*/ 419 h 678"/>
                    <a:gd name="T120" fmla="*/ 258 w 676"/>
                    <a:gd name="T121" fmla="*/ 368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76" h="678">
                      <a:moveTo>
                        <a:pt x="556" y="314"/>
                      </a:moveTo>
                      <a:cubicBezTo>
                        <a:pt x="554" y="314"/>
                        <a:pt x="551" y="313"/>
                        <a:pt x="550" y="311"/>
                      </a:cubicBezTo>
                      <a:cubicBezTo>
                        <a:pt x="529" y="279"/>
                        <a:pt x="529" y="279"/>
                        <a:pt x="529" y="279"/>
                      </a:cubicBezTo>
                      <a:cubicBezTo>
                        <a:pt x="508" y="281"/>
                        <a:pt x="488" y="277"/>
                        <a:pt x="468" y="269"/>
                      </a:cubicBezTo>
                      <a:cubicBezTo>
                        <a:pt x="439" y="293"/>
                        <a:pt x="439" y="293"/>
                        <a:pt x="439" y="293"/>
                      </a:cubicBezTo>
                      <a:cubicBezTo>
                        <a:pt x="437" y="295"/>
                        <a:pt x="433" y="295"/>
                        <a:pt x="431" y="293"/>
                      </a:cubicBezTo>
                      <a:cubicBezTo>
                        <a:pt x="412" y="281"/>
                        <a:pt x="397" y="266"/>
                        <a:pt x="385" y="248"/>
                      </a:cubicBezTo>
                      <a:cubicBezTo>
                        <a:pt x="383" y="245"/>
                        <a:pt x="383" y="242"/>
                        <a:pt x="385" y="239"/>
                      </a:cubicBezTo>
                      <a:cubicBezTo>
                        <a:pt x="409" y="210"/>
                        <a:pt x="409" y="210"/>
                        <a:pt x="409" y="210"/>
                      </a:cubicBezTo>
                      <a:cubicBezTo>
                        <a:pt x="401" y="194"/>
                        <a:pt x="398" y="177"/>
                        <a:pt x="398" y="160"/>
                      </a:cubicBezTo>
                      <a:cubicBezTo>
                        <a:pt x="398" y="155"/>
                        <a:pt x="398" y="151"/>
                        <a:pt x="398" y="146"/>
                      </a:cubicBezTo>
                      <a:cubicBezTo>
                        <a:pt x="367" y="125"/>
                        <a:pt x="367" y="125"/>
                        <a:pt x="367" y="125"/>
                      </a:cubicBezTo>
                      <a:cubicBezTo>
                        <a:pt x="364" y="124"/>
                        <a:pt x="363" y="120"/>
                        <a:pt x="364" y="117"/>
                      </a:cubicBezTo>
                      <a:cubicBezTo>
                        <a:pt x="370" y="96"/>
                        <a:pt x="380" y="77"/>
                        <a:pt x="393" y="60"/>
                      </a:cubicBezTo>
                      <a:cubicBezTo>
                        <a:pt x="395" y="57"/>
                        <a:pt x="399" y="57"/>
                        <a:pt x="401" y="58"/>
                      </a:cubicBezTo>
                      <a:cubicBezTo>
                        <a:pt x="437" y="71"/>
                        <a:pt x="437" y="71"/>
                        <a:pt x="437" y="71"/>
                      </a:cubicBezTo>
                      <a:cubicBezTo>
                        <a:pt x="453" y="57"/>
                        <a:pt x="472" y="47"/>
                        <a:pt x="494" y="43"/>
                      </a:cubicBezTo>
                      <a:cubicBezTo>
                        <a:pt x="504" y="6"/>
                        <a:pt x="504" y="6"/>
                        <a:pt x="504" y="6"/>
                      </a:cubicBezTo>
                      <a:cubicBezTo>
                        <a:pt x="505" y="3"/>
                        <a:pt x="507" y="1"/>
                        <a:pt x="510" y="1"/>
                      </a:cubicBezTo>
                      <a:cubicBezTo>
                        <a:pt x="532" y="0"/>
                        <a:pt x="554" y="4"/>
                        <a:pt x="574" y="11"/>
                      </a:cubicBezTo>
                      <a:cubicBezTo>
                        <a:pt x="577" y="12"/>
                        <a:pt x="579" y="15"/>
                        <a:pt x="579" y="18"/>
                      </a:cubicBezTo>
                      <a:cubicBezTo>
                        <a:pt x="577" y="56"/>
                        <a:pt x="577" y="56"/>
                        <a:pt x="577" y="56"/>
                      </a:cubicBezTo>
                      <a:cubicBezTo>
                        <a:pt x="596" y="67"/>
                        <a:pt x="611" y="83"/>
                        <a:pt x="621" y="102"/>
                      </a:cubicBezTo>
                      <a:cubicBezTo>
                        <a:pt x="659" y="100"/>
                        <a:pt x="659" y="100"/>
                        <a:pt x="659" y="100"/>
                      </a:cubicBezTo>
                      <a:cubicBezTo>
                        <a:pt x="662" y="100"/>
                        <a:pt x="665" y="102"/>
                        <a:pt x="666" y="105"/>
                      </a:cubicBezTo>
                      <a:cubicBezTo>
                        <a:pt x="673" y="122"/>
                        <a:pt x="676" y="141"/>
                        <a:pt x="676" y="160"/>
                      </a:cubicBezTo>
                      <a:cubicBezTo>
                        <a:pt x="676" y="163"/>
                        <a:pt x="676" y="166"/>
                        <a:pt x="676" y="169"/>
                      </a:cubicBezTo>
                      <a:cubicBezTo>
                        <a:pt x="676" y="172"/>
                        <a:pt x="674" y="174"/>
                        <a:pt x="671" y="175"/>
                      </a:cubicBezTo>
                      <a:cubicBezTo>
                        <a:pt x="634" y="185"/>
                        <a:pt x="634" y="185"/>
                        <a:pt x="634" y="185"/>
                      </a:cubicBezTo>
                      <a:cubicBezTo>
                        <a:pt x="629" y="206"/>
                        <a:pt x="619" y="225"/>
                        <a:pt x="605" y="241"/>
                      </a:cubicBezTo>
                      <a:cubicBezTo>
                        <a:pt x="618" y="277"/>
                        <a:pt x="618" y="277"/>
                        <a:pt x="618" y="277"/>
                      </a:cubicBezTo>
                      <a:cubicBezTo>
                        <a:pt x="619" y="279"/>
                        <a:pt x="618" y="283"/>
                        <a:pt x="616" y="284"/>
                      </a:cubicBezTo>
                      <a:cubicBezTo>
                        <a:pt x="598" y="298"/>
                        <a:pt x="579" y="308"/>
                        <a:pt x="558" y="314"/>
                      </a:cubicBezTo>
                      <a:cubicBezTo>
                        <a:pt x="557" y="314"/>
                        <a:pt x="557" y="314"/>
                        <a:pt x="556" y="314"/>
                      </a:cubicBezTo>
                      <a:close/>
                      <a:moveTo>
                        <a:pt x="533" y="264"/>
                      </a:moveTo>
                      <a:cubicBezTo>
                        <a:pt x="535" y="264"/>
                        <a:pt x="538" y="265"/>
                        <a:pt x="539" y="267"/>
                      </a:cubicBezTo>
                      <a:cubicBezTo>
                        <a:pt x="559" y="299"/>
                        <a:pt x="559" y="299"/>
                        <a:pt x="559" y="299"/>
                      </a:cubicBezTo>
                      <a:cubicBezTo>
                        <a:pt x="575" y="294"/>
                        <a:pt x="590" y="286"/>
                        <a:pt x="603" y="277"/>
                      </a:cubicBezTo>
                      <a:cubicBezTo>
                        <a:pt x="590" y="242"/>
                        <a:pt x="590" y="242"/>
                        <a:pt x="590" y="242"/>
                      </a:cubicBezTo>
                      <a:cubicBezTo>
                        <a:pt x="589" y="239"/>
                        <a:pt x="590" y="236"/>
                        <a:pt x="592" y="234"/>
                      </a:cubicBezTo>
                      <a:cubicBezTo>
                        <a:pt x="607" y="219"/>
                        <a:pt x="617" y="199"/>
                        <a:pt x="621" y="178"/>
                      </a:cubicBezTo>
                      <a:cubicBezTo>
                        <a:pt x="621" y="175"/>
                        <a:pt x="623" y="173"/>
                        <a:pt x="626" y="172"/>
                      </a:cubicBezTo>
                      <a:cubicBezTo>
                        <a:pt x="662" y="163"/>
                        <a:pt x="662" y="163"/>
                        <a:pt x="662" y="163"/>
                      </a:cubicBezTo>
                      <a:cubicBezTo>
                        <a:pt x="662" y="162"/>
                        <a:pt x="662" y="161"/>
                        <a:pt x="662" y="160"/>
                      </a:cubicBezTo>
                      <a:cubicBezTo>
                        <a:pt x="662" y="144"/>
                        <a:pt x="660" y="129"/>
                        <a:pt x="655" y="114"/>
                      </a:cubicBezTo>
                      <a:cubicBezTo>
                        <a:pt x="618" y="116"/>
                        <a:pt x="618" y="116"/>
                        <a:pt x="618" y="116"/>
                      </a:cubicBezTo>
                      <a:cubicBezTo>
                        <a:pt x="615" y="116"/>
                        <a:pt x="612" y="114"/>
                        <a:pt x="611" y="112"/>
                      </a:cubicBezTo>
                      <a:cubicBezTo>
                        <a:pt x="601" y="92"/>
                        <a:pt x="586" y="77"/>
                        <a:pt x="566" y="67"/>
                      </a:cubicBezTo>
                      <a:cubicBezTo>
                        <a:pt x="564" y="65"/>
                        <a:pt x="562" y="63"/>
                        <a:pt x="563" y="60"/>
                      </a:cubicBezTo>
                      <a:cubicBezTo>
                        <a:pt x="565" y="23"/>
                        <a:pt x="565" y="23"/>
                        <a:pt x="565" y="23"/>
                      </a:cubicBezTo>
                      <a:cubicBezTo>
                        <a:pt x="549" y="17"/>
                        <a:pt x="533" y="15"/>
                        <a:pt x="517" y="15"/>
                      </a:cubicBezTo>
                      <a:cubicBezTo>
                        <a:pt x="517" y="15"/>
                        <a:pt x="516" y="15"/>
                        <a:pt x="516" y="15"/>
                      </a:cubicBezTo>
                      <a:cubicBezTo>
                        <a:pt x="506" y="51"/>
                        <a:pt x="506" y="51"/>
                        <a:pt x="506" y="51"/>
                      </a:cubicBezTo>
                      <a:cubicBezTo>
                        <a:pt x="505" y="53"/>
                        <a:pt x="503" y="55"/>
                        <a:pt x="500" y="56"/>
                      </a:cubicBezTo>
                      <a:cubicBezTo>
                        <a:pt x="479" y="59"/>
                        <a:pt x="459" y="69"/>
                        <a:pt x="443" y="84"/>
                      </a:cubicBezTo>
                      <a:cubicBezTo>
                        <a:pt x="442" y="86"/>
                        <a:pt x="439" y="87"/>
                        <a:pt x="436" y="86"/>
                      </a:cubicBezTo>
                      <a:cubicBezTo>
                        <a:pt x="401" y="73"/>
                        <a:pt x="401" y="73"/>
                        <a:pt x="401" y="73"/>
                      </a:cubicBezTo>
                      <a:cubicBezTo>
                        <a:pt x="391" y="86"/>
                        <a:pt x="384" y="101"/>
                        <a:pt x="379" y="116"/>
                      </a:cubicBezTo>
                      <a:cubicBezTo>
                        <a:pt x="410" y="137"/>
                        <a:pt x="410" y="137"/>
                        <a:pt x="410" y="137"/>
                      </a:cubicBezTo>
                      <a:cubicBezTo>
                        <a:pt x="412" y="138"/>
                        <a:pt x="413" y="141"/>
                        <a:pt x="413" y="144"/>
                      </a:cubicBezTo>
                      <a:cubicBezTo>
                        <a:pt x="412" y="149"/>
                        <a:pt x="412" y="154"/>
                        <a:pt x="412" y="160"/>
                      </a:cubicBezTo>
                      <a:cubicBezTo>
                        <a:pt x="412" y="176"/>
                        <a:pt x="415" y="193"/>
                        <a:pt x="423" y="207"/>
                      </a:cubicBezTo>
                      <a:cubicBezTo>
                        <a:pt x="424" y="210"/>
                        <a:pt x="424" y="213"/>
                        <a:pt x="422" y="215"/>
                      </a:cubicBezTo>
                      <a:cubicBezTo>
                        <a:pt x="399" y="244"/>
                        <a:pt x="399" y="244"/>
                        <a:pt x="399" y="244"/>
                      </a:cubicBezTo>
                      <a:cubicBezTo>
                        <a:pt x="409" y="258"/>
                        <a:pt x="421" y="269"/>
                        <a:pt x="434" y="279"/>
                      </a:cubicBezTo>
                      <a:cubicBezTo>
                        <a:pt x="463" y="255"/>
                        <a:pt x="463" y="255"/>
                        <a:pt x="463" y="255"/>
                      </a:cubicBezTo>
                      <a:cubicBezTo>
                        <a:pt x="465" y="254"/>
                        <a:pt x="468" y="253"/>
                        <a:pt x="471" y="254"/>
                      </a:cubicBezTo>
                      <a:cubicBezTo>
                        <a:pt x="485" y="262"/>
                        <a:pt x="501" y="265"/>
                        <a:pt x="517" y="265"/>
                      </a:cubicBezTo>
                      <a:cubicBezTo>
                        <a:pt x="522" y="265"/>
                        <a:pt x="527" y="265"/>
                        <a:pt x="532" y="264"/>
                      </a:cubicBezTo>
                      <a:cubicBezTo>
                        <a:pt x="532" y="264"/>
                        <a:pt x="533" y="264"/>
                        <a:pt x="533" y="264"/>
                      </a:cubicBezTo>
                      <a:close/>
                      <a:moveTo>
                        <a:pt x="517" y="199"/>
                      </a:moveTo>
                      <a:cubicBezTo>
                        <a:pt x="496" y="199"/>
                        <a:pt x="478" y="181"/>
                        <a:pt x="478" y="160"/>
                      </a:cubicBezTo>
                      <a:cubicBezTo>
                        <a:pt x="478" y="138"/>
                        <a:pt x="496" y="121"/>
                        <a:pt x="517" y="121"/>
                      </a:cubicBezTo>
                      <a:cubicBezTo>
                        <a:pt x="539" y="121"/>
                        <a:pt x="556" y="138"/>
                        <a:pt x="556" y="160"/>
                      </a:cubicBezTo>
                      <a:cubicBezTo>
                        <a:pt x="556" y="181"/>
                        <a:pt x="539" y="199"/>
                        <a:pt x="517" y="199"/>
                      </a:cubicBezTo>
                      <a:close/>
                      <a:moveTo>
                        <a:pt x="517" y="135"/>
                      </a:moveTo>
                      <a:cubicBezTo>
                        <a:pt x="503" y="135"/>
                        <a:pt x="492" y="146"/>
                        <a:pt x="492" y="160"/>
                      </a:cubicBezTo>
                      <a:cubicBezTo>
                        <a:pt x="492" y="174"/>
                        <a:pt x="503" y="185"/>
                        <a:pt x="517" y="185"/>
                      </a:cubicBezTo>
                      <a:cubicBezTo>
                        <a:pt x="531" y="185"/>
                        <a:pt x="542" y="174"/>
                        <a:pt x="542" y="160"/>
                      </a:cubicBezTo>
                      <a:cubicBezTo>
                        <a:pt x="542" y="146"/>
                        <a:pt x="531" y="135"/>
                        <a:pt x="517" y="135"/>
                      </a:cubicBezTo>
                      <a:close/>
                      <a:moveTo>
                        <a:pt x="258" y="678"/>
                      </a:moveTo>
                      <a:cubicBezTo>
                        <a:pt x="256" y="678"/>
                        <a:pt x="256" y="678"/>
                        <a:pt x="256" y="678"/>
                      </a:cubicBezTo>
                      <a:cubicBezTo>
                        <a:pt x="252" y="678"/>
                        <a:pt x="250" y="676"/>
                        <a:pt x="249" y="673"/>
                      </a:cubicBezTo>
                      <a:cubicBezTo>
                        <a:pt x="233" y="615"/>
                        <a:pt x="233" y="615"/>
                        <a:pt x="233" y="615"/>
                      </a:cubicBezTo>
                      <a:cubicBezTo>
                        <a:pt x="208" y="612"/>
                        <a:pt x="184" y="604"/>
                        <a:pt x="162" y="592"/>
                      </a:cubicBezTo>
                      <a:cubicBezTo>
                        <a:pt x="113" y="628"/>
                        <a:pt x="113" y="628"/>
                        <a:pt x="113" y="628"/>
                      </a:cubicBezTo>
                      <a:cubicBezTo>
                        <a:pt x="111" y="630"/>
                        <a:pt x="108" y="630"/>
                        <a:pt x="105" y="628"/>
                      </a:cubicBezTo>
                      <a:cubicBezTo>
                        <a:pt x="86" y="614"/>
                        <a:pt x="69" y="598"/>
                        <a:pt x="55" y="579"/>
                      </a:cubicBezTo>
                      <a:cubicBezTo>
                        <a:pt x="53" y="577"/>
                        <a:pt x="53" y="574"/>
                        <a:pt x="55" y="571"/>
                      </a:cubicBezTo>
                      <a:cubicBezTo>
                        <a:pt x="90" y="522"/>
                        <a:pt x="90" y="522"/>
                        <a:pt x="90" y="522"/>
                      </a:cubicBezTo>
                      <a:cubicBezTo>
                        <a:pt x="75" y="499"/>
                        <a:pt x="66" y="474"/>
                        <a:pt x="62" y="447"/>
                      </a:cubicBezTo>
                      <a:cubicBezTo>
                        <a:pt x="5" y="431"/>
                        <a:pt x="5" y="431"/>
                        <a:pt x="5" y="431"/>
                      </a:cubicBezTo>
                      <a:cubicBezTo>
                        <a:pt x="2" y="430"/>
                        <a:pt x="0" y="427"/>
                        <a:pt x="0" y="424"/>
                      </a:cubicBezTo>
                      <a:cubicBezTo>
                        <a:pt x="0" y="423"/>
                        <a:pt x="0" y="421"/>
                        <a:pt x="0" y="419"/>
                      </a:cubicBezTo>
                      <a:cubicBezTo>
                        <a:pt x="0" y="398"/>
                        <a:pt x="2" y="376"/>
                        <a:pt x="8" y="355"/>
                      </a:cubicBezTo>
                      <a:cubicBezTo>
                        <a:pt x="8" y="352"/>
                        <a:pt x="11" y="350"/>
                        <a:pt x="14" y="350"/>
                      </a:cubicBezTo>
                      <a:cubicBezTo>
                        <a:pt x="74" y="348"/>
                        <a:pt x="74" y="348"/>
                        <a:pt x="74" y="348"/>
                      </a:cubicBezTo>
                      <a:cubicBezTo>
                        <a:pt x="83" y="324"/>
                        <a:pt x="97" y="302"/>
                        <a:pt x="114" y="283"/>
                      </a:cubicBezTo>
                      <a:cubicBezTo>
                        <a:pt x="91" y="229"/>
                        <a:pt x="91" y="229"/>
                        <a:pt x="91" y="229"/>
                      </a:cubicBezTo>
                      <a:cubicBezTo>
                        <a:pt x="89" y="226"/>
                        <a:pt x="90" y="223"/>
                        <a:pt x="93" y="221"/>
                      </a:cubicBezTo>
                      <a:cubicBezTo>
                        <a:pt x="110" y="206"/>
                        <a:pt x="130" y="193"/>
                        <a:pt x="151" y="184"/>
                      </a:cubicBezTo>
                      <a:cubicBezTo>
                        <a:pt x="154" y="182"/>
                        <a:pt x="157" y="183"/>
                        <a:pt x="159" y="185"/>
                      </a:cubicBezTo>
                      <a:cubicBezTo>
                        <a:pt x="199" y="230"/>
                        <a:pt x="199" y="230"/>
                        <a:pt x="199" y="230"/>
                      </a:cubicBezTo>
                      <a:cubicBezTo>
                        <a:pt x="218" y="224"/>
                        <a:pt x="238" y="221"/>
                        <a:pt x="258" y="221"/>
                      </a:cubicBezTo>
                      <a:cubicBezTo>
                        <a:pt x="264" y="221"/>
                        <a:pt x="270" y="222"/>
                        <a:pt x="276" y="222"/>
                      </a:cubicBezTo>
                      <a:cubicBezTo>
                        <a:pt x="304" y="170"/>
                        <a:pt x="304" y="170"/>
                        <a:pt x="304" y="170"/>
                      </a:cubicBezTo>
                      <a:cubicBezTo>
                        <a:pt x="306" y="167"/>
                        <a:pt x="309" y="165"/>
                        <a:pt x="312" y="166"/>
                      </a:cubicBezTo>
                      <a:cubicBezTo>
                        <a:pt x="335" y="171"/>
                        <a:pt x="357" y="179"/>
                        <a:pt x="378" y="190"/>
                      </a:cubicBezTo>
                      <a:cubicBezTo>
                        <a:pt x="380" y="191"/>
                        <a:pt x="382" y="194"/>
                        <a:pt x="381" y="197"/>
                      </a:cubicBezTo>
                      <a:cubicBezTo>
                        <a:pt x="371" y="256"/>
                        <a:pt x="371" y="256"/>
                        <a:pt x="371" y="256"/>
                      </a:cubicBezTo>
                      <a:cubicBezTo>
                        <a:pt x="391" y="271"/>
                        <a:pt x="410" y="289"/>
                        <a:pt x="423" y="310"/>
                      </a:cubicBezTo>
                      <a:cubicBezTo>
                        <a:pt x="482" y="300"/>
                        <a:pt x="482" y="300"/>
                        <a:pt x="482" y="300"/>
                      </a:cubicBezTo>
                      <a:cubicBezTo>
                        <a:pt x="485" y="299"/>
                        <a:pt x="489" y="301"/>
                        <a:pt x="490" y="303"/>
                      </a:cubicBezTo>
                      <a:cubicBezTo>
                        <a:pt x="500" y="325"/>
                        <a:pt x="508" y="347"/>
                        <a:pt x="513" y="370"/>
                      </a:cubicBezTo>
                      <a:cubicBezTo>
                        <a:pt x="513" y="373"/>
                        <a:pt x="512" y="376"/>
                        <a:pt x="509" y="378"/>
                      </a:cubicBezTo>
                      <a:cubicBezTo>
                        <a:pt x="456" y="406"/>
                        <a:pt x="456" y="406"/>
                        <a:pt x="456" y="406"/>
                      </a:cubicBezTo>
                      <a:cubicBezTo>
                        <a:pt x="456" y="410"/>
                        <a:pt x="456" y="415"/>
                        <a:pt x="456" y="419"/>
                      </a:cubicBezTo>
                      <a:cubicBezTo>
                        <a:pt x="456" y="439"/>
                        <a:pt x="453" y="459"/>
                        <a:pt x="447" y="479"/>
                      </a:cubicBezTo>
                      <a:cubicBezTo>
                        <a:pt x="492" y="519"/>
                        <a:pt x="492" y="519"/>
                        <a:pt x="492" y="519"/>
                      </a:cubicBezTo>
                      <a:cubicBezTo>
                        <a:pt x="494" y="521"/>
                        <a:pt x="495" y="524"/>
                        <a:pt x="494" y="527"/>
                      </a:cubicBezTo>
                      <a:cubicBezTo>
                        <a:pt x="484" y="548"/>
                        <a:pt x="471" y="568"/>
                        <a:pt x="456" y="586"/>
                      </a:cubicBezTo>
                      <a:cubicBezTo>
                        <a:pt x="454" y="589"/>
                        <a:pt x="451" y="589"/>
                        <a:pt x="448" y="588"/>
                      </a:cubicBezTo>
                      <a:cubicBezTo>
                        <a:pt x="393" y="564"/>
                        <a:pt x="393" y="564"/>
                        <a:pt x="393" y="564"/>
                      </a:cubicBezTo>
                      <a:cubicBezTo>
                        <a:pt x="375" y="581"/>
                        <a:pt x="355" y="594"/>
                        <a:pt x="333" y="603"/>
                      </a:cubicBezTo>
                      <a:cubicBezTo>
                        <a:pt x="330" y="663"/>
                        <a:pt x="330" y="663"/>
                        <a:pt x="330" y="663"/>
                      </a:cubicBezTo>
                      <a:cubicBezTo>
                        <a:pt x="330" y="666"/>
                        <a:pt x="328" y="669"/>
                        <a:pt x="325" y="669"/>
                      </a:cubicBezTo>
                      <a:cubicBezTo>
                        <a:pt x="303" y="675"/>
                        <a:pt x="281" y="678"/>
                        <a:pt x="258" y="678"/>
                      </a:cubicBezTo>
                      <a:close/>
                      <a:moveTo>
                        <a:pt x="161" y="576"/>
                      </a:moveTo>
                      <a:cubicBezTo>
                        <a:pt x="162" y="576"/>
                        <a:pt x="164" y="577"/>
                        <a:pt x="165" y="577"/>
                      </a:cubicBezTo>
                      <a:cubicBezTo>
                        <a:pt x="188" y="591"/>
                        <a:pt x="213" y="599"/>
                        <a:pt x="239" y="602"/>
                      </a:cubicBezTo>
                      <a:cubicBezTo>
                        <a:pt x="242" y="602"/>
                        <a:pt x="244" y="604"/>
                        <a:pt x="245" y="607"/>
                      </a:cubicBezTo>
                      <a:cubicBezTo>
                        <a:pt x="261" y="664"/>
                        <a:pt x="261" y="664"/>
                        <a:pt x="261" y="664"/>
                      </a:cubicBezTo>
                      <a:cubicBezTo>
                        <a:pt x="280" y="664"/>
                        <a:pt x="298" y="661"/>
                        <a:pt x="316" y="657"/>
                      </a:cubicBezTo>
                      <a:cubicBezTo>
                        <a:pt x="319" y="598"/>
                        <a:pt x="319" y="598"/>
                        <a:pt x="319" y="598"/>
                      </a:cubicBezTo>
                      <a:cubicBezTo>
                        <a:pt x="319" y="595"/>
                        <a:pt x="321" y="592"/>
                        <a:pt x="323" y="591"/>
                      </a:cubicBezTo>
                      <a:cubicBezTo>
                        <a:pt x="347" y="582"/>
                        <a:pt x="368" y="569"/>
                        <a:pt x="387" y="551"/>
                      </a:cubicBezTo>
                      <a:cubicBezTo>
                        <a:pt x="389" y="549"/>
                        <a:pt x="392" y="548"/>
                        <a:pt x="394" y="549"/>
                      </a:cubicBezTo>
                      <a:cubicBezTo>
                        <a:pt x="449" y="573"/>
                        <a:pt x="449" y="573"/>
                        <a:pt x="449" y="573"/>
                      </a:cubicBezTo>
                      <a:cubicBezTo>
                        <a:pt x="461" y="558"/>
                        <a:pt x="471" y="542"/>
                        <a:pt x="479" y="526"/>
                      </a:cubicBezTo>
                      <a:cubicBezTo>
                        <a:pt x="434" y="486"/>
                        <a:pt x="434" y="486"/>
                        <a:pt x="434" y="486"/>
                      </a:cubicBezTo>
                      <a:cubicBezTo>
                        <a:pt x="432" y="484"/>
                        <a:pt x="431" y="481"/>
                        <a:pt x="432" y="479"/>
                      </a:cubicBezTo>
                      <a:cubicBezTo>
                        <a:pt x="439" y="459"/>
                        <a:pt x="442" y="439"/>
                        <a:pt x="442" y="419"/>
                      </a:cubicBezTo>
                      <a:cubicBezTo>
                        <a:pt x="442" y="414"/>
                        <a:pt x="442" y="408"/>
                        <a:pt x="441" y="402"/>
                      </a:cubicBezTo>
                      <a:cubicBezTo>
                        <a:pt x="441" y="400"/>
                        <a:pt x="443" y="397"/>
                        <a:pt x="445" y="396"/>
                      </a:cubicBezTo>
                      <a:cubicBezTo>
                        <a:pt x="498" y="368"/>
                        <a:pt x="498" y="368"/>
                        <a:pt x="498" y="368"/>
                      </a:cubicBezTo>
                      <a:cubicBezTo>
                        <a:pt x="494" y="349"/>
                        <a:pt x="488" y="331"/>
                        <a:pt x="480" y="314"/>
                      </a:cubicBezTo>
                      <a:cubicBezTo>
                        <a:pt x="421" y="325"/>
                        <a:pt x="421" y="325"/>
                        <a:pt x="421" y="325"/>
                      </a:cubicBezTo>
                      <a:cubicBezTo>
                        <a:pt x="419" y="325"/>
                        <a:pt x="416" y="324"/>
                        <a:pt x="414" y="322"/>
                      </a:cubicBezTo>
                      <a:cubicBezTo>
                        <a:pt x="400" y="299"/>
                        <a:pt x="381" y="280"/>
                        <a:pt x="359" y="265"/>
                      </a:cubicBezTo>
                      <a:cubicBezTo>
                        <a:pt x="357" y="264"/>
                        <a:pt x="356" y="261"/>
                        <a:pt x="356" y="258"/>
                      </a:cubicBezTo>
                      <a:cubicBezTo>
                        <a:pt x="367" y="200"/>
                        <a:pt x="367" y="200"/>
                        <a:pt x="367" y="200"/>
                      </a:cubicBezTo>
                      <a:cubicBezTo>
                        <a:pt x="350" y="191"/>
                        <a:pt x="332" y="185"/>
                        <a:pt x="314" y="181"/>
                      </a:cubicBezTo>
                      <a:cubicBezTo>
                        <a:pt x="286" y="233"/>
                        <a:pt x="286" y="233"/>
                        <a:pt x="286" y="233"/>
                      </a:cubicBezTo>
                      <a:cubicBezTo>
                        <a:pt x="285" y="235"/>
                        <a:pt x="282" y="237"/>
                        <a:pt x="279" y="237"/>
                      </a:cubicBezTo>
                      <a:cubicBezTo>
                        <a:pt x="272" y="236"/>
                        <a:pt x="265" y="235"/>
                        <a:pt x="258" y="235"/>
                      </a:cubicBezTo>
                      <a:cubicBezTo>
                        <a:pt x="238" y="235"/>
                        <a:pt x="218" y="239"/>
                        <a:pt x="199" y="245"/>
                      </a:cubicBezTo>
                      <a:cubicBezTo>
                        <a:pt x="197" y="246"/>
                        <a:pt x="194" y="245"/>
                        <a:pt x="192" y="243"/>
                      </a:cubicBezTo>
                      <a:cubicBezTo>
                        <a:pt x="152" y="198"/>
                        <a:pt x="152" y="198"/>
                        <a:pt x="152" y="198"/>
                      </a:cubicBezTo>
                      <a:cubicBezTo>
                        <a:pt x="136" y="207"/>
                        <a:pt x="120" y="216"/>
                        <a:pt x="106" y="228"/>
                      </a:cubicBezTo>
                      <a:cubicBezTo>
                        <a:pt x="129" y="282"/>
                        <a:pt x="129" y="282"/>
                        <a:pt x="129" y="282"/>
                      </a:cubicBezTo>
                      <a:cubicBezTo>
                        <a:pt x="130" y="285"/>
                        <a:pt x="130" y="288"/>
                        <a:pt x="128" y="290"/>
                      </a:cubicBezTo>
                      <a:cubicBezTo>
                        <a:pt x="109" y="309"/>
                        <a:pt x="94" y="332"/>
                        <a:pt x="85" y="357"/>
                      </a:cubicBezTo>
                      <a:cubicBezTo>
                        <a:pt x="84" y="360"/>
                        <a:pt x="82" y="361"/>
                        <a:pt x="79" y="362"/>
                      </a:cubicBezTo>
                      <a:cubicBezTo>
                        <a:pt x="20" y="364"/>
                        <a:pt x="20" y="364"/>
                        <a:pt x="20" y="364"/>
                      </a:cubicBezTo>
                      <a:cubicBezTo>
                        <a:pt x="16" y="382"/>
                        <a:pt x="14" y="400"/>
                        <a:pt x="14" y="419"/>
                      </a:cubicBezTo>
                      <a:cubicBezTo>
                        <a:pt x="71" y="435"/>
                        <a:pt x="71" y="435"/>
                        <a:pt x="71" y="435"/>
                      </a:cubicBezTo>
                      <a:cubicBezTo>
                        <a:pt x="73" y="435"/>
                        <a:pt x="75" y="438"/>
                        <a:pt x="76" y="441"/>
                      </a:cubicBezTo>
                      <a:cubicBezTo>
                        <a:pt x="79" y="468"/>
                        <a:pt x="89" y="495"/>
                        <a:pt x="104" y="519"/>
                      </a:cubicBezTo>
                      <a:cubicBezTo>
                        <a:pt x="105" y="521"/>
                        <a:pt x="105" y="524"/>
                        <a:pt x="104" y="527"/>
                      </a:cubicBezTo>
                      <a:cubicBezTo>
                        <a:pt x="69" y="575"/>
                        <a:pt x="69" y="575"/>
                        <a:pt x="69" y="575"/>
                      </a:cubicBezTo>
                      <a:cubicBezTo>
                        <a:pt x="81" y="589"/>
                        <a:pt x="94" y="602"/>
                        <a:pt x="109" y="613"/>
                      </a:cubicBezTo>
                      <a:cubicBezTo>
                        <a:pt x="157" y="578"/>
                        <a:pt x="157" y="578"/>
                        <a:pt x="157" y="578"/>
                      </a:cubicBezTo>
                      <a:cubicBezTo>
                        <a:pt x="158" y="577"/>
                        <a:pt x="160" y="576"/>
                        <a:pt x="161" y="576"/>
                      </a:cubicBezTo>
                      <a:close/>
                      <a:moveTo>
                        <a:pt x="258" y="484"/>
                      </a:moveTo>
                      <a:cubicBezTo>
                        <a:pt x="223" y="484"/>
                        <a:pt x="193" y="455"/>
                        <a:pt x="193" y="419"/>
                      </a:cubicBezTo>
                      <a:cubicBezTo>
                        <a:pt x="193" y="383"/>
                        <a:pt x="223" y="354"/>
                        <a:pt x="258" y="354"/>
                      </a:cubicBezTo>
                      <a:cubicBezTo>
                        <a:pt x="294" y="354"/>
                        <a:pt x="323" y="383"/>
                        <a:pt x="323" y="419"/>
                      </a:cubicBezTo>
                      <a:cubicBezTo>
                        <a:pt x="323" y="455"/>
                        <a:pt x="294" y="484"/>
                        <a:pt x="258" y="484"/>
                      </a:cubicBezTo>
                      <a:close/>
                      <a:moveTo>
                        <a:pt x="258" y="368"/>
                      </a:moveTo>
                      <a:cubicBezTo>
                        <a:pt x="230" y="368"/>
                        <a:pt x="207" y="391"/>
                        <a:pt x="207" y="419"/>
                      </a:cubicBezTo>
                      <a:cubicBezTo>
                        <a:pt x="207" y="447"/>
                        <a:pt x="230" y="470"/>
                        <a:pt x="258" y="470"/>
                      </a:cubicBezTo>
                      <a:cubicBezTo>
                        <a:pt x="286" y="470"/>
                        <a:pt x="309" y="447"/>
                        <a:pt x="309" y="419"/>
                      </a:cubicBezTo>
                      <a:cubicBezTo>
                        <a:pt x="309" y="391"/>
                        <a:pt x="286" y="368"/>
                        <a:pt x="258" y="36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350"/>
                </a:p>
              </p:txBody>
            </p:sp>
            <p:sp>
              <p:nvSpPr>
                <p:cNvPr id="40" name="pole tekstowe 39">
                  <a:extLst>
                    <a:ext uri="{FF2B5EF4-FFF2-40B4-BE49-F238E27FC236}">
                      <a16:creationId xmlns:a16="http://schemas.microsoft.com/office/drawing/2014/main" id="{05C7939B-4B57-D97C-FB8D-5BC57DA5DE37}"/>
                    </a:ext>
                  </a:extLst>
                </p:cNvPr>
                <p:cNvSpPr txBox="1"/>
                <p:nvPr/>
              </p:nvSpPr>
              <p:spPr>
                <a:xfrm>
                  <a:off x="5831013" y="3156735"/>
                  <a:ext cx="722589" cy="33564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softEdge rad="50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80000" tIns="90000" rIns="180000" bIns="90000" rtlCol="0">
                  <a:spAutoFit/>
                </a:bodyPr>
                <a:lstStyle/>
                <a:p>
                  <a:pPr algn="ctr"/>
                  <a:r>
                    <a:rPr lang="pl-PL" sz="1000" dirty="0" err="1">
                      <a:solidFill>
                        <a:schemeClr val="tx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Model</a:t>
                  </a:r>
                  <a:endParaRPr lang="pl-PL" sz="10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32" name="Grupa 31">
                <a:extLst>
                  <a:ext uri="{FF2B5EF4-FFF2-40B4-BE49-F238E27FC236}">
                    <a16:creationId xmlns:a16="http://schemas.microsoft.com/office/drawing/2014/main" id="{3819BC50-FF7E-6448-920B-1D01472A41E9}"/>
                  </a:ext>
                </a:extLst>
              </p:cNvPr>
              <p:cNvGrpSpPr/>
              <p:nvPr/>
            </p:nvGrpSpPr>
            <p:grpSpPr>
              <a:xfrm>
                <a:off x="1846210" y="1968545"/>
                <a:ext cx="862050" cy="854987"/>
                <a:chOff x="2368984" y="1266706"/>
                <a:chExt cx="862050" cy="854987"/>
              </a:xfrm>
            </p:grpSpPr>
            <p:sp>
              <p:nvSpPr>
                <p:cNvPr id="37" name="pole tekstowe 36">
                  <a:extLst>
                    <a:ext uri="{FF2B5EF4-FFF2-40B4-BE49-F238E27FC236}">
                      <a16:creationId xmlns:a16="http://schemas.microsoft.com/office/drawing/2014/main" id="{2253FEFA-F223-F5C6-AA3B-9ACEEF35FA4A}"/>
                    </a:ext>
                  </a:extLst>
                </p:cNvPr>
                <p:cNvSpPr txBox="1"/>
                <p:nvPr/>
              </p:nvSpPr>
              <p:spPr>
                <a:xfrm>
                  <a:off x="2368984" y="1786047"/>
                  <a:ext cx="862050" cy="33564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softEdge rad="50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80000" tIns="90000" rIns="180000" bIns="90000" rtlCol="0">
                  <a:spAutoFit/>
                </a:bodyPr>
                <a:lstStyle/>
                <a:p>
                  <a:pPr algn="ctr"/>
                  <a:r>
                    <a:rPr lang="pl-PL" sz="1000" dirty="0" err="1">
                      <a:solidFill>
                        <a:schemeClr val="tx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Features</a:t>
                  </a:r>
                  <a:endParaRPr lang="pl-PL" sz="10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8" name="Freeform 145">
                  <a:extLst>
                    <a:ext uri="{FF2B5EF4-FFF2-40B4-BE49-F238E27FC236}">
                      <a16:creationId xmlns:a16="http://schemas.microsoft.com/office/drawing/2014/main" id="{7E201E91-0D12-C571-9001-E8E938CC2F5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2538504" y="1243448"/>
                  <a:ext cx="475886" cy="522401"/>
                </a:xfrm>
                <a:custGeom>
                  <a:avLst/>
                  <a:gdLst>
                    <a:gd name="T0" fmla="*/ 301 w 615"/>
                    <a:gd name="T1" fmla="*/ 7 h 675"/>
                    <a:gd name="T2" fmla="*/ 315 w 615"/>
                    <a:gd name="T3" fmla="*/ 7 h 675"/>
                    <a:gd name="T4" fmla="*/ 374 w 615"/>
                    <a:gd name="T5" fmla="*/ 140 h 675"/>
                    <a:gd name="T6" fmla="*/ 384 w 615"/>
                    <a:gd name="T7" fmla="*/ 150 h 675"/>
                    <a:gd name="T8" fmla="*/ 311 w 615"/>
                    <a:gd name="T9" fmla="*/ 223 h 675"/>
                    <a:gd name="T10" fmla="*/ 310 w 615"/>
                    <a:gd name="T11" fmla="*/ 223 h 675"/>
                    <a:gd name="T12" fmla="*/ 309 w 615"/>
                    <a:gd name="T13" fmla="*/ 224 h 675"/>
                    <a:gd name="T14" fmla="*/ 306 w 615"/>
                    <a:gd name="T15" fmla="*/ 224 h 675"/>
                    <a:gd name="T16" fmla="*/ 305 w 615"/>
                    <a:gd name="T17" fmla="*/ 223 h 675"/>
                    <a:gd name="T18" fmla="*/ 304 w 615"/>
                    <a:gd name="T19" fmla="*/ 223 h 675"/>
                    <a:gd name="T20" fmla="*/ 231 w 615"/>
                    <a:gd name="T21" fmla="*/ 150 h 675"/>
                    <a:gd name="T22" fmla="*/ 241 w 615"/>
                    <a:gd name="T23" fmla="*/ 140 h 675"/>
                    <a:gd name="T24" fmla="*/ 609 w 615"/>
                    <a:gd name="T25" fmla="*/ 197 h 675"/>
                    <a:gd name="T26" fmla="*/ 402 w 615"/>
                    <a:gd name="T27" fmla="*/ 524 h 675"/>
                    <a:gd name="T28" fmla="*/ 315 w 615"/>
                    <a:gd name="T29" fmla="*/ 546 h 675"/>
                    <a:gd name="T30" fmla="*/ 374 w 615"/>
                    <a:gd name="T31" fmla="*/ 591 h 675"/>
                    <a:gd name="T32" fmla="*/ 384 w 615"/>
                    <a:gd name="T33" fmla="*/ 601 h 675"/>
                    <a:gd name="T34" fmla="*/ 311 w 615"/>
                    <a:gd name="T35" fmla="*/ 673 h 675"/>
                    <a:gd name="T36" fmla="*/ 310 w 615"/>
                    <a:gd name="T37" fmla="*/ 674 h 675"/>
                    <a:gd name="T38" fmla="*/ 309 w 615"/>
                    <a:gd name="T39" fmla="*/ 675 h 675"/>
                    <a:gd name="T40" fmla="*/ 306 w 615"/>
                    <a:gd name="T41" fmla="*/ 675 h 675"/>
                    <a:gd name="T42" fmla="*/ 305 w 615"/>
                    <a:gd name="T43" fmla="*/ 674 h 675"/>
                    <a:gd name="T44" fmla="*/ 304 w 615"/>
                    <a:gd name="T45" fmla="*/ 673 h 675"/>
                    <a:gd name="T46" fmla="*/ 231 w 615"/>
                    <a:gd name="T47" fmla="*/ 601 h 675"/>
                    <a:gd name="T48" fmla="*/ 241 w 615"/>
                    <a:gd name="T49" fmla="*/ 591 h 675"/>
                    <a:gd name="T50" fmla="*/ 301 w 615"/>
                    <a:gd name="T51" fmla="*/ 546 h 675"/>
                    <a:gd name="T52" fmla="*/ 213 w 615"/>
                    <a:gd name="T53" fmla="*/ 524 h 675"/>
                    <a:gd name="T54" fmla="*/ 6 w 615"/>
                    <a:gd name="T55" fmla="*/ 197 h 675"/>
                    <a:gd name="T56" fmla="*/ 83 w 615"/>
                    <a:gd name="T57" fmla="*/ 123 h 675"/>
                    <a:gd name="T58" fmla="*/ 275 w 615"/>
                    <a:gd name="T59" fmla="*/ 98 h 675"/>
                    <a:gd name="T60" fmla="*/ 275 w 615"/>
                    <a:gd name="T61" fmla="*/ 112 h 675"/>
                    <a:gd name="T62" fmla="*/ 15 w 615"/>
                    <a:gd name="T63" fmla="*/ 182 h 675"/>
                    <a:gd name="T64" fmla="*/ 18 w 615"/>
                    <a:gd name="T65" fmla="*/ 191 h 675"/>
                    <a:gd name="T66" fmla="*/ 597 w 615"/>
                    <a:gd name="T67" fmla="*/ 191 h 675"/>
                    <a:gd name="T68" fmla="*/ 601 w 615"/>
                    <a:gd name="T69" fmla="*/ 182 h 675"/>
                    <a:gd name="T70" fmla="*/ 340 w 615"/>
                    <a:gd name="T71" fmla="*/ 112 h 675"/>
                    <a:gd name="T72" fmla="*/ 340 w 615"/>
                    <a:gd name="T73" fmla="*/ 98 h 675"/>
                    <a:gd name="T74" fmla="*/ 615 w 615"/>
                    <a:gd name="T75" fmla="*/ 180 h 675"/>
                    <a:gd name="T76" fmla="*/ 577 w 615"/>
                    <a:gd name="T77" fmla="*/ 221 h 675"/>
                    <a:gd name="T78" fmla="*/ 38 w 615"/>
                    <a:gd name="T79" fmla="*/ 221 h 675"/>
                    <a:gd name="T80" fmla="*/ 225 w 615"/>
                    <a:gd name="T81" fmla="*/ 516 h 675"/>
                    <a:gd name="T82" fmla="*/ 308 w 615"/>
                    <a:gd name="T83" fmla="*/ 532 h 675"/>
                    <a:gd name="T84" fmla="*/ 390 w 615"/>
                    <a:gd name="T85" fmla="*/ 516 h 675"/>
                    <a:gd name="T86" fmla="*/ 577 w 615"/>
                    <a:gd name="T87" fmla="*/ 221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15" h="675">
                      <a:moveTo>
                        <a:pt x="301" y="200"/>
                      </a:moveTo>
                      <a:cubicBezTo>
                        <a:pt x="301" y="7"/>
                        <a:pt x="301" y="7"/>
                        <a:pt x="301" y="7"/>
                      </a:cubicBezTo>
                      <a:cubicBezTo>
                        <a:pt x="301" y="3"/>
                        <a:pt x="304" y="0"/>
                        <a:pt x="308" y="0"/>
                      </a:cubicBezTo>
                      <a:cubicBezTo>
                        <a:pt x="311" y="0"/>
                        <a:pt x="315" y="3"/>
                        <a:pt x="315" y="7"/>
                      </a:cubicBezTo>
                      <a:cubicBezTo>
                        <a:pt x="315" y="200"/>
                        <a:pt x="315" y="200"/>
                        <a:pt x="315" y="200"/>
                      </a:cubicBezTo>
                      <a:cubicBezTo>
                        <a:pt x="374" y="140"/>
                        <a:pt x="374" y="140"/>
                        <a:pt x="374" y="140"/>
                      </a:cubicBezTo>
                      <a:cubicBezTo>
                        <a:pt x="377" y="137"/>
                        <a:pt x="382" y="137"/>
                        <a:pt x="384" y="140"/>
                      </a:cubicBezTo>
                      <a:cubicBezTo>
                        <a:pt x="387" y="143"/>
                        <a:pt x="387" y="147"/>
                        <a:pt x="384" y="150"/>
                      </a:cubicBezTo>
                      <a:cubicBezTo>
                        <a:pt x="313" y="222"/>
                        <a:pt x="313" y="222"/>
                        <a:pt x="313" y="222"/>
                      </a:cubicBezTo>
                      <a:cubicBezTo>
                        <a:pt x="312" y="222"/>
                        <a:pt x="312" y="223"/>
                        <a:pt x="311" y="223"/>
                      </a:cubicBezTo>
                      <a:cubicBezTo>
                        <a:pt x="311" y="223"/>
                        <a:pt x="311" y="223"/>
                        <a:pt x="311" y="223"/>
                      </a:cubicBezTo>
                      <a:cubicBezTo>
                        <a:pt x="311" y="223"/>
                        <a:pt x="310" y="223"/>
                        <a:pt x="310" y="223"/>
                      </a:cubicBezTo>
                      <a:cubicBezTo>
                        <a:pt x="310" y="224"/>
                        <a:pt x="310" y="224"/>
                        <a:pt x="310" y="224"/>
                      </a:cubicBezTo>
                      <a:cubicBezTo>
                        <a:pt x="309" y="224"/>
                        <a:pt x="309" y="224"/>
                        <a:pt x="309" y="224"/>
                      </a:cubicBezTo>
                      <a:cubicBezTo>
                        <a:pt x="308" y="224"/>
                        <a:pt x="308" y="224"/>
                        <a:pt x="308" y="224"/>
                      </a:cubicBezTo>
                      <a:cubicBezTo>
                        <a:pt x="307" y="224"/>
                        <a:pt x="307" y="224"/>
                        <a:pt x="306" y="224"/>
                      </a:cubicBezTo>
                      <a:cubicBezTo>
                        <a:pt x="306" y="224"/>
                        <a:pt x="306" y="224"/>
                        <a:pt x="306" y="224"/>
                      </a:cubicBezTo>
                      <a:cubicBezTo>
                        <a:pt x="305" y="224"/>
                        <a:pt x="305" y="224"/>
                        <a:pt x="305" y="223"/>
                      </a:cubicBezTo>
                      <a:cubicBezTo>
                        <a:pt x="305" y="223"/>
                        <a:pt x="304" y="223"/>
                        <a:pt x="304" y="223"/>
                      </a:cubicBezTo>
                      <a:cubicBezTo>
                        <a:pt x="304" y="223"/>
                        <a:pt x="304" y="223"/>
                        <a:pt x="304" y="223"/>
                      </a:cubicBezTo>
                      <a:cubicBezTo>
                        <a:pt x="303" y="223"/>
                        <a:pt x="303" y="222"/>
                        <a:pt x="303" y="222"/>
                      </a:cubicBezTo>
                      <a:cubicBezTo>
                        <a:pt x="231" y="150"/>
                        <a:pt x="231" y="150"/>
                        <a:pt x="231" y="150"/>
                      </a:cubicBezTo>
                      <a:cubicBezTo>
                        <a:pt x="228" y="147"/>
                        <a:pt x="228" y="143"/>
                        <a:pt x="231" y="140"/>
                      </a:cubicBezTo>
                      <a:cubicBezTo>
                        <a:pt x="233" y="137"/>
                        <a:pt x="238" y="137"/>
                        <a:pt x="241" y="140"/>
                      </a:cubicBezTo>
                      <a:lnTo>
                        <a:pt x="301" y="200"/>
                      </a:lnTo>
                      <a:close/>
                      <a:moveTo>
                        <a:pt x="609" y="197"/>
                      </a:moveTo>
                      <a:cubicBezTo>
                        <a:pt x="505" y="361"/>
                        <a:pt x="505" y="361"/>
                        <a:pt x="505" y="361"/>
                      </a:cubicBezTo>
                      <a:cubicBezTo>
                        <a:pt x="454" y="442"/>
                        <a:pt x="402" y="523"/>
                        <a:pt x="402" y="524"/>
                      </a:cubicBezTo>
                      <a:cubicBezTo>
                        <a:pt x="402" y="524"/>
                        <a:pt x="402" y="524"/>
                        <a:pt x="402" y="524"/>
                      </a:cubicBezTo>
                      <a:cubicBezTo>
                        <a:pt x="393" y="538"/>
                        <a:pt x="348" y="545"/>
                        <a:pt x="315" y="546"/>
                      </a:cubicBezTo>
                      <a:cubicBezTo>
                        <a:pt x="315" y="651"/>
                        <a:pt x="315" y="651"/>
                        <a:pt x="315" y="651"/>
                      </a:cubicBezTo>
                      <a:cubicBezTo>
                        <a:pt x="374" y="591"/>
                        <a:pt x="374" y="591"/>
                        <a:pt x="374" y="591"/>
                      </a:cubicBezTo>
                      <a:cubicBezTo>
                        <a:pt x="377" y="588"/>
                        <a:pt x="382" y="588"/>
                        <a:pt x="384" y="591"/>
                      </a:cubicBezTo>
                      <a:cubicBezTo>
                        <a:pt x="387" y="594"/>
                        <a:pt x="387" y="598"/>
                        <a:pt x="384" y="601"/>
                      </a:cubicBezTo>
                      <a:cubicBezTo>
                        <a:pt x="313" y="673"/>
                        <a:pt x="313" y="673"/>
                        <a:pt x="313" y="673"/>
                      </a:cubicBezTo>
                      <a:cubicBezTo>
                        <a:pt x="312" y="673"/>
                        <a:pt x="312" y="673"/>
                        <a:pt x="311" y="673"/>
                      </a:cubicBezTo>
                      <a:cubicBezTo>
                        <a:pt x="311" y="674"/>
                        <a:pt x="311" y="674"/>
                        <a:pt x="311" y="674"/>
                      </a:cubicBezTo>
                      <a:cubicBezTo>
                        <a:pt x="311" y="674"/>
                        <a:pt x="310" y="674"/>
                        <a:pt x="310" y="674"/>
                      </a:cubicBezTo>
                      <a:cubicBezTo>
                        <a:pt x="310" y="674"/>
                        <a:pt x="310" y="674"/>
                        <a:pt x="310" y="674"/>
                      </a:cubicBezTo>
                      <a:cubicBezTo>
                        <a:pt x="309" y="674"/>
                        <a:pt x="309" y="674"/>
                        <a:pt x="309" y="675"/>
                      </a:cubicBezTo>
                      <a:cubicBezTo>
                        <a:pt x="308" y="675"/>
                        <a:pt x="308" y="675"/>
                        <a:pt x="308" y="675"/>
                      </a:cubicBezTo>
                      <a:cubicBezTo>
                        <a:pt x="307" y="675"/>
                        <a:pt x="307" y="675"/>
                        <a:pt x="306" y="675"/>
                      </a:cubicBezTo>
                      <a:cubicBezTo>
                        <a:pt x="306" y="674"/>
                        <a:pt x="306" y="674"/>
                        <a:pt x="306" y="674"/>
                      </a:cubicBezTo>
                      <a:cubicBezTo>
                        <a:pt x="305" y="674"/>
                        <a:pt x="305" y="674"/>
                        <a:pt x="305" y="674"/>
                      </a:cubicBezTo>
                      <a:cubicBezTo>
                        <a:pt x="305" y="674"/>
                        <a:pt x="304" y="674"/>
                        <a:pt x="304" y="674"/>
                      </a:cubicBezTo>
                      <a:cubicBezTo>
                        <a:pt x="304" y="674"/>
                        <a:pt x="304" y="674"/>
                        <a:pt x="304" y="673"/>
                      </a:cubicBezTo>
                      <a:cubicBezTo>
                        <a:pt x="303" y="673"/>
                        <a:pt x="303" y="673"/>
                        <a:pt x="303" y="673"/>
                      </a:cubicBezTo>
                      <a:cubicBezTo>
                        <a:pt x="231" y="601"/>
                        <a:pt x="231" y="601"/>
                        <a:pt x="231" y="601"/>
                      </a:cubicBezTo>
                      <a:cubicBezTo>
                        <a:pt x="228" y="598"/>
                        <a:pt x="228" y="594"/>
                        <a:pt x="231" y="591"/>
                      </a:cubicBezTo>
                      <a:cubicBezTo>
                        <a:pt x="233" y="588"/>
                        <a:pt x="238" y="588"/>
                        <a:pt x="241" y="591"/>
                      </a:cubicBezTo>
                      <a:cubicBezTo>
                        <a:pt x="301" y="651"/>
                        <a:pt x="301" y="651"/>
                        <a:pt x="301" y="651"/>
                      </a:cubicBezTo>
                      <a:cubicBezTo>
                        <a:pt x="301" y="546"/>
                        <a:pt x="301" y="546"/>
                        <a:pt x="301" y="546"/>
                      </a:cubicBezTo>
                      <a:cubicBezTo>
                        <a:pt x="268" y="545"/>
                        <a:pt x="223" y="538"/>
                        <a:pt x="213" y="524"/>
                      </a:cubicBezTo>
                      <a:cubicBezTo>
                        <a:pt x="213" y="524"/>
                        <a:pt x="213" y="524"/>
                        <a:pt x="213" y="524"/>
                      </a:cubicBezTo>
                      <a:cubicBezTo>
                        <a:pt x="213" y="523"/>
                        <a:pt x="123" y="382"/>
                        <a:pt x="62" y="285"/>
                      </a:cubicBezTo>
                      <a:cubicBezTo>
                        <a:pt x="6" y="197"/>
                        <a:pt x="6" y="197"/>
                        <a:pt x="6" y="197"/>
                      </a:cubicBezTo>
                      <a:cubicBezTo>
                        <a:pt x="2" y="192"/>
                        <a:pt x="0" y="186"/>
                        <a:pt x="0" y="180"/>
                      </a:cubicBezTo>
                      <a:cubicBezTo>
                        <a:pt x="0" y="158"/>
                        <a:pt x="29" y="138"/>
                        <a:pt x="83" y="123"/>
                      </a:cubicBezTo>
                      <a:cubicBezTo>
                        <a:pt x="133" y="109"/>
                        <a:pt x="201" y="100"/>
                        <a:pt x="275" y="98"/>
                      </a:cubicBezTo>
                      <a:cubicBezTo>
                        <a:pt x="275" y="98"/>
                        <a:pt x="275" y="98"/>
                        <a:pt x="275" y="98"/>
                      </a:cubicBezTo>
                      <a:cubicBezTo>
                        <a:pt x="279" y="98"/>
                        <a:pt x="282" y="101"/>
                        <a:pt x="282" y="105"/>
                      </a:cubicBezTo>
                      <a:cubicBezTo>
                        <a:pt x="282" y="109"/>
                        <a:pt x="279" y="112"/>
                        <a:pt x="275" y="112"/>
                      </a:cubicBezTo>
                      <a:cubicBezTo>
                        <a:pt x="114" y="117"/>
                        <a:pt x="14" y="151"/>
                        <a:pt x="14" y="180"/>
                      </a:cubicBezTo>
                      <a:cubicBezTo>
                        <a:pt x="14" y="181"/>
                        <a:pt x="14" y="182"/>
                        <a:pt x="15" y="182"/>
                      </a:cubicBezTo>
                      <a:cubicBezTo>
                        <a:pt x="15" y="185"/>
                        <a:pt x="16" y="187"/>
                        <a:pt x="17" y="189"/>
                      </a:cubicBezTo>
                      <a:cubicBezTo>
                        <a:pt x="18" y="191"/>
                        <a:pt x="18" y="191"/>
                        <a:pt x="18" y="191"/>
                      </a:cubicBezTo>
                      <a:cubicBezTo>
                        <a:pt x="40" y="220"/>
                        <a:pt x="153" y="249"/>
                        <a:pt x="308" y="249"/>
                      </a:cubicBezTo>
                      <a:cubicBezTo>
                        <a:pt x="462" y="249"/>
                        <a:pt x="575" y="220"/>
                        <a:pt x="597" y="191"/>
                      </a:cubicBezTo>
                      <a:cubicBezTo>
                        <a:pt x="598" y="189"/>
                        <a:pt x="598" y="189"/>
                        <a:pt x="598" y="189"/>
                      </a:cubicBezTo>
                      <a:cubicBezTo>
                        <a:pt x="599" y="187"/>
                        <a:pt x="600" y="185"/>
                        <a:pt x="601" y="182"/>
                      </a:cubicBezTo>
                      <a:cubicBezTo>
                        <a:pt x="601" y="182"/>
                        <a:pt x="601" y="181"/>
                        <a:pt x="601" y="180"/>
                      </a:cubicBezTo>
                      <a:cubicBezTo>
                        <a:pt x="601" y="151"/>
                        <a:pt x="501" y="117"/>
                        <a:pt x="340" y="112"/>
                      </a:cubicBezTo>
                      <a:cubicBezTo>
                        <a:pt x="336" y="112"/>
                        <a:pt x="333" y="109"/>
                        <a:pt x="333" y="105"/>
                      </a:cubicBezTo>
                      <a:cubicBezTo>
                        <a:pt x="333" y="101"/>
                        <a:pt x="336" y="98"/>
                        <a:pt x="340" y="98"/>
                      </a:cubicBezTo>
                      <a:cubicBezTo>
                        <a:pt x="414" y="100"/>
                        <a:pt x="482" y="109"/>
                        <a:pt x="532" y="123"/>
                      </a:cubicBezTo>
                      <a:cubicBezTo>
                        <a:pt x="586" y="138"/>
                        <a:pt x="615" y="158"/>
                        <a:pt x="615" y="180"/>
                      </a:cubicBezTo>
                      <a:cubicBezTo>
                        <a:pt x="615" y="186"/>
                        <a:pt x="613" y="192"/>
                        <a:pt x="609" y="197"/>
                      </a:cubicBezTo>
                      <a:close/>
                      <a:moveTo>
                        <a:pt x="577" y="221"/>
                      </a:moveTo>
                      <a:cubicBezTo>
                        <a:pt x="522" y="248"/>
                        <a:pt x="412" y="263"/>
                        <a:pt x="308" y="263"/>
                      </a:cubicBezTo>
                      <a:cubicBezTo>
                        <a:pt x="203" y="263"/>
                        <a:pt x="94" y="248"/>
                        <a:pt x="38" y="221"/>
                      </a:cubicBezTo>
                      <a:cubicBezTo>
                        <a:pt x="73" y="277"/>
                        <a:pt x="73" y="277"/>
                        <a:pt x="73" y="277"/>
                      </a:cubicBezTo>
                      <a:cubicBezTo>
                        <a:pt x="201" y="479"/>
                        <a:pt x="221" y="511"/>
                        <a:pt x="225" y="516"/>
                      </a:cubicBezTo>
                      <a:cubicBezTo>
                        <a:pt x="225" y="516"/>
                        <a:pt x="225" y="516"/>
                        <a:pt x="225" y="517"/>
                      </a:cubicBezTo>
                      <a:cubicBezTo>
                        <a:pt x="229" y="523"/>
                        <a:pt x="266" y="532"/>
                        <a:pt x="308" y="532"/>
                      </a:cubicBezTo>
                      <a:cubicBezTo>
                        <a:pt x="349" y="532"/>
                        <a:pt x="386" y="523"/>
                        <a:pt x="390" y="517"/>
                      </a:cubicBezTo>
                      <a:cubicBezTo>
                        <a:pt x="390" y="516"/>
                        <a:pt x="390" y="516"/>
                        <a:pt x="390" y="516"/>
                      </a:cubicBezTo>
                      <a:cubicBezTo>
                        <a:pt x="392" y="514"/>
                        <a:pt x="403" y="496"/>
                        <a:pt x="493" y="353"/>
                      </a:cubicBezTo>
                      <a:lnTo>
                        <a:pt x="577" y="22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350"/>
                </a:p>
              </p:txBody>
            </p:sp>
          </p:grpSp>
          <p:pic>
            <p:nvPicPr>
              <p:cNvPr id="34" name="Grafika 33" descr="Diagram sieciowy kontur">
                <a:extLst>
                  <a:ext uri="{FF2B5EF4-FFF2-40B4-BE49-F238E27FC236}">
                    <a16:creationId xmlns:a16="http://schemas.microsoft.com/office/drawing/2014/main" id="{37D4A2B4-5576-3A2D-3CE1-857A16F77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24363" y="1934256"/>
                <a:ext cx="553630" cy="553630"/>
              </a:xfrm>
              <a:prstGeom prst="rect">
                <a:avLst/>
              </a:prstGeom>
            </p:spPr>
          </p:pic>
          <p:cxnSp>
            <p:nvCxnSpPr>
              <p:cNvPr id="35" name="Łącznik prosty ze strzałką 34">
                <a:extLst>
                  <a:ext uri="{FF2B5EF4-FFF2-40B4-BE49-F238E27FC236}">
                    <a16:creationId xmlns:a16="http://schemas.microsoft.com/office/drawing/2014/main" id="{84D28822-20C1-A307-B5F6-BC74890600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5828" y="2215111"/>
                <a:ext cx="37625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Łącznik prosty ze strzałką 35">
                <a:extLst>
                  <a:ext uri="{FF2B5EF4-FFF2-40B4-BE49-F238E27FC236}">
                    <a16:creationId xmlns:a16="http://schemas.microsoft.com/office/drawing/2014/main" id="{99418F1C-EA22-EADB-9989-29765771F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6129" y="2205318"/>
                <a:ext cx="37625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Ramka 16">
              <a:extLst>
                <a:ext uri="{FF2B5EF4-FFF2-40B4-BE49-F238E27FC236}">
                  <a16:creationId xmlns:a16="http://schemas.microsoft.com/office/drawing/2014/main" id="{B0CC35E5-09F6-0ABB-C801-5789BD290AD3}"/>
                </a:ext>
              </a:extLst>
            </p:cNvPr>
            <p:cNvSpPr/>
            <p:nvPr/>
          </p:nvSpPr>
          <p:spPr>
            <a:xfrm>
              <a:off x="2628844" y="1626149"/>
              <a:ext cx="3508793" cy="1387996"/>
            </a:xfrm>
            <a:prstGeom prst="frame">
              <a:avLst>
                <a:gd name="adj1" fmla="val 2041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pic>
        <p:nvPicPr>
          <p:cNvPr id="41" name="Grafika 40" descr="Mężczyzna kontur">
            <a:extLst>
              <a:ext uri="{FF2B5EF4-FFF2-40B4-BE49-F238E27FC236}">
                <a16:creationId xmlns:a16="http://schemas.microsoft.com/office/drawing/2014/main" id="{B7995337-D369-3DFC-6D63-0C3B8F032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825" y="2250916"/>
            <a:ext cx="632012" cy="63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9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Example models</a:t>
            </a:r>
          </a:p>
        </p:txBody>
      </p:sp>
      <p:sp>
        <p:nvSpPr>
          <p:cNvPr id="3" name="Freeform 123">
            <a:extLst>
              <a:ext uri="{FF2B5EF4-FFF2-40B4-BE49-F238E27FC236}">
                <a16:creationId xmlns:a16="http://schemas.microsoft.com/office/drawing/2014/main" id="{6C51CD73-26E5-ABD0-8EF7-9CCBE40435FC}"/>
              </a:ext>
            </a:extLst>
          </p:cNvPr>
          <p:cNvSpPr>
            <a:spLocks noEditPoints="1"/>
          </p:cNvSpPr>
          <p:nvPr/>
        </p:nvSpPr>
        <p:spPr bwMode="auto">
          <a:xfrm>
            <a:off x="1619275" y="1868267"/>
            <a:ext cx="578482" cy="580395"/>
          </a:xfrm>
          <a:custGeom>
            <a:avLst/>
            <a:gdLst>
              <a:gd name="T0" fmla="*/ 529 w 676"/>
              <a:gd name="T1" fmla="*/ 279 h 678"/>
              <a:gd name="T2" fmla="*/ 431 w 676"/>
              <a:gd name="T3" fmla="*/ 293 h 678"/>
              <a:gd name="T4" fmla="*/ 409 w 676"/>
              <a:gd name="T5" fmla="*/ 210 h 678"/>
              <a:gd name="T6" fmla="*/ 367 w 676"/>
              <a:gd name="T7" fmla="*/ 125 h 678"/>
              <a:gd name="T8" fmla="*/ 401 w 676"/>
              <a:gd name="T9" fmla="*/ 58 h 678"/>
              <a:gd name="T10" fmla="*/ 504 w 676"/>
              <a:gd name="T11" fmla="*/ 6 h 678"/>
              <a:gd name="T12" fmla="*/ 579 w 676"/>
              <a:gd name="T13" fmla="*/ 18 h 678"/>
              <a:gd name="T14" fmla="*/ 659 w 676"/>
              <a:gd name="T15" fmla="*/ 100 h 678"/>
              <a:gd name="T16" fmla="*/ 676 w 676"/>
              <a:gd name="T17" fmla="*/ 169 h 678"/>
              <a:gd name="T18" fmla="*/ 605 w 676"/>
              <a:gd name="T19" fmla="*/ 241 h 678"/>
              <a:gd name="T20" fmla="*/ 558 w 676"/>
              <a:gd name="T21" fmla="*/ 314 h 678"/>
              <a:gd name="T22" fmla="*/ 539 w 676"/>
              <a:gd name="T23" fmla="*/ 267 h 678"/>
              <a:gd name="T24" fmla="*/ 590 w 676"/>
              <a:gd name="T25" fmla="*/ 242 h 678"/>
              <a:gd name="T26" fmla="*/ 626 w 676"/>
              <a:gd name="T27" fmla="*/ 172 h 678"/>
              <a:gd name="T28" fmla="*/ 655 w 676"/>
              <a:gd name="T29" fmla="*/ 114 h 678"/>
              <a:gd name="T30" fmla="*/ 566 w 676"/>
              <a:gd name="T31" fmla="*/ 67 h 678"/>
              <a:gd name="T32" fmla="*/ 517 w 676"/>
              <a:gd name="T33" fmla="*/ 15 h 678"/>
              <a:gd name="T34" fmla="*/ 500 w 676"/>
              <a:gd name="T35" fmla="*/ 56 h 678"/>
              <a:gd name="T36" fmla="*/ 401 w 676"/>
              <a:gd name="T37" fmla="*/ 73 h 678"/>
              <a:gd name="T38" fmla="*/ 413 w 676"/>
              <a:gd name="T39" fmla="*/ 144 h 678"/>
              <a:gd name="T40" fmla="*/ 422 w 676"/>
              <a:gd name="T41" fmla="*/ 215 h 678"/>
              <a:gd name="T42" fmla="*/ 463 w 676"/>
              <a:gd name="T43" fmla="*/ 255 h 678"/>
              <a:gd name="T44" fmla="*/ 532 w 676"/>
              <a:gd name="T45" fmla="*/ 264 h 678"/>
              <a:gd name="T46" fmla="*/ 478 w 676"/>
              <a:gd name="T47" fmla="*/ 160 h 678"/>
              <a:gd name="T48" fmla="*/ 517 w 676"/>
              <a:gd name="T49" fmla="*/ 199 h 678"/>
              <a:gd name="T50" fmla="*/ 517 w 676"/>
              <a:gd name="T51" fmla="*/ 185 h 678"/>
              <a:gd name="T52" fmla="*/ 258 w 676"/>
              <a:gd name="T53" fmla="*/ 678 h 678"/>
              <a:gd name="T54" fmla="*/ 233 w 676"/>
              <a:gd name="T55" fmla="*/ 615 h 678"/>
              <a:gd name="T56" fmla="*/ 105 w 676"/>
              <a:gd name="T57" fmla="*/ 628 h 678"/>
              <a:gd name="T58" fmla="*/ 90 w 676"/>
              <a:gd name="T59" fmla="*/ 522 h 678"/>
              <a:gd name="T60" fmla="*/ 0 w 676"/>
              <a:gd name="T61" fmla="*/ 424 h 678"/>
              <a:gd name="T62" fmla="*/ 14 w 676"/>
              <a:gd name="T63" fmla="*/ 350 h 678"/>
              <a:gd name="T64" fmla="*/ 91 w 676"/>
              <a:gd name="T65" fmla="*/ 229 h 678"/>
              <a:gd name="T66" fmla="*/ 159 w 676"/>
              <a:gd name="T67" fmla="*/ 185 h 678"/>
              <a:gd name="T68" fmla="*/ 276 w 676"/>
              <a:gd name="T69" fmla="*/ 222 h 678"/>
              <a:gd name="T70" fmla="*/ 378 w 676"/>
              <a:gd name="T71" fmla="*/ 190 h 678"/>
              <a:gd name="T72" fmla="*/ 423 w 676"/>
              <a:gd name="T73" fmla="*/ 310 h 678"/>
              <a:gd name="T74" fmla="*/ 513 w 676"/>
              <a:gd name="T75" fmla="*/ 370 h 678"/>
              <a:gd name="T76" fmla="*/ 456 w 676"/>
              <a:gd name="T77" fmla="*/ 419 h 678"/>
              <a:gd name="T78" fmla="*/ 494 w 676"/>
              <a:gd name="T79" fmla="*/ 527 h 678"/>
              <a:gd name="T80" fmla="*/ 393 w 676"/>
              <a:gd name="T81" fmla="*/ 564 h 678"/>
              <a:gd name="T82" fmla="*/ 325 w 676"/>
              <a:gd name="T83" fmla="*/ 669 h 678"/>
              <a:gd name="T84" fmla="*/ 165 w 676"/>
              <a:gd name="T85" fmla="*/ 577 h 678"/>
              <a:gd name="T86" fmla="*/ 261 w 676"/>
              <a:gd name="T87" fmla="*/ 664 h 678"/>
              <a:gd name="T88" fmla="*/ 323 w 676"/>
              <a:gd name="T89" fmla="*/ 591 h 678"/>
              <a:gd name="T90" fmla="*/ 449 w 676"/>
              <a:gd name="T91" fmla="*/ 573 h 678"/>
              <a:gd name="T92" fmla="*/ 432 w 676"/>
              <a:gd name="T93" fmla="*/ 479 h 678"/>
              <a:gd name="T94" fmla="*/ 445 w 676"/>
              <a:gd name="T95" fmla="*/ 396 h 678"/>
              <a:gd name="T96" fmla="*/ 421 w 676"/>
              <a:gd name="T97" fmla="*/ 325 h 678"/>
              <a:gd name="T98" fmla="*/ 356 w 676"/>
              <a:gd name="T99" fmla="*/ 258 h 678"/>
              <a:gd name="T100" fmla="*/ 286 w 676"/>
              <a:gd name="T101" fmla="*/ 233 h 678"/>
              <a:gd name="T102" fmla="*/ 199 w 676"/>
              <a:gd name="T103" fmla="*/ 245 h 678"/>
              <a:gd name="T104" fmla="*/ 106 w 676"/>
              <a:gd name="T105" fmla="*/ 228 h 678"/>
              <a:gd name="T106" fmla="*/ 85 w 676"/>
              <a:gd name="T107" fmla="*/ 357 h 678"/>
              <a:gd name="T108" fmla="*/ 14 w 676"/>
              <a:gd name="T109" fmla="*/ 419 h 678"/>
              <a:gd name="T110" fmla="*/ 104 w 676"/>
              <a:gd name="T111" fmla="*/ 519 h 678"/>
              <a:gd name="T112" fmla="*/ 109 w 676"/>
              <a:gd name="T113" fmla="*/ 613 h 678"/>
              <a:gd name="T114" fmla="*/ 258 w 676"/>
              <a:gd name="T115" fmla="*/ 484 h 678"/>
              <a:gd name="T116" fmla="*/ 323 w 676"/>
              <a:gd name="T117" fmla="*/ 419 h 678"/>
              <a:gd name="T118" fmla="*/ 207 w 676"/>
              <a:gd name="T119" fmla="*/ 419 h 678"/>
              <a:gd name="T120" fmla="*/ 258 w 676"/>
              <a:gd name="T121" fmla="*/ 36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76" h="678">
                <a:moveTo>
                  <a:pt x="556" y="314"/>
                </a:moveTo>
                <a:cubicBezTo>
                  <a:pt x="554" y="314"/>
                  <a:pt x="551" y="313"/>
                  <a:pt x="550" y="311"/>
                </a:cubicBezTo>
                <a:cubicBezTo>
                  <a:pt x="529" y="279"/>
                  <a:pt x="529" y="279"/>
                  <a:pt x="529" y="279"/>
                </a:cubicBezTo>
                <a:cubicBezTo>
                  <a:pt x="508" y="281"/>
                  <a:pt x="488" y="277"/>
                  <a:pt x="468" y="269"/>
                </a:cubicBezTo>
                <a:cubicBezTo>
                  <a:pt x="439" y="293"/>
                  <a:pt x="439" y="293"/>
                  <a:pt x="439" y="293"/>
                </a:cubicBezTo>
                <a:cubicBezTo>
                  <a:pt x="437" y="295"/>
                  <a:pt x="433" y="295"/>
                  <a:pt x="431" y="293"/>
                </a:cubicBezTo>
                <a:cubicBezTo>
                  <a:pt x="412" y="281"/>
                  <a:pt x="397" y="266"/>
                  <a:pt x="385" y="248"/>
                </a:cubicBezTo>
                <a:cubicBezTo>
                  <a:pt x="383" y="245"/>
                  <a:pt x="383" y="242"/>
                  <a:pt x="385" y="239"/>
                </a:cubicBezTo>
                <a:cubicBezTo>
                  <a:pt x="409" y="210"/>
                  <a:pt x="409" y="210"/>
                  <a:pt x="409" y="210"/>
                </a:cubicBezTo>
                <a:cubicBezTo>
                  <a:pt x="401" y="194"/>
                  <a:pt x="398" y="177"/>
                  <a:pt x="398" y="160"/>
                </a:cubicBezTo>
                <a:cubicBezTo>
                  <a:pt x="398" y="155"/>
                  <a:pt x="398" y="151"/>
                  <a:pt x="398" y="146"/>
                </a:cubicBezTo>
                <a:cubicBezTo>
                  <a:pt x="367" y="125"/>
                  <a:pt x="367" y="125"/>
                  <a:pt x="367" y="125"/>
                </a:cubicBezTo>
                <a:cubicBezTo>
                  <a:pt x="364" y="124"/>
                  <a:pt x="363" y="120"/>
                  <a:pt x="364" y="117"/>
                </a:cubicBezTo>
                <a:cubicBezTo>
                  <a:pt x="370" y="96"/>
                  <a:pt x="380" y="77"/>
                  <a:pt x="393" y="60"/>
                </a:cubicBezTo>
                <a:cubicBezTo>
                  <a:pt x="395" y="57"/>
                  <a:pt x="399" y="57"/>
                  <a:pt x="401" y="58"/>
                </a:cubicBezTo>
                <a:cubicBezTo>
                  <a:pt x="437" y="71"/>
                  <a:pt x="437" y="71"/>
                  <a:pt x="437" y="71"/>
                </a:cubicBezTo>
                <a:cubicBezTo>
                  <a:pt x="453" y="57"/>
                  <a:pt x="472" y="47"/>
                  <a:pt x="494" y="43"/>
                </a:cubicBezTo>
                <a:cubicBezTo>
                  <a:pt x="504" y="6"/>
                  <a:pt x="504" y="6"/>
                  <a:pt x="504" y="6"/>
                </a:cubicBezTo>
                <a:cubicBezTo>
                  <a:pt x="505" y="3"/>
                  <a:pt x="507" y="1"/>
                  <a:pt x="510" y="1"/>
                </a:cubicBezTo>
                <a:cubicBezTo>
                  <a:pt x="532" y="0"/>
                  <a:pt x="554" y="4"/>
                  <a:pt x="574" y="11"/>
                </a:cubicBezTo>
                <a:cubicBezTo>
                  <a:pt x="577" y="12"/>
                  <a:pt x="579" y="15"/>
                  <a:pt x="579" y="18"/>
                </a:cubicBezTo>
                <a:cubicBezTo>
                  <a:pt x="577" y="56"/>
                  <a:pt x="577" y="56"/>
                  <a:pt x="577" y="56"/>
                </a:cubicBezTo>
                <a:cubicBezTo>
                  <a:pt x="596" y="67"/>
                  <a:pt x="611" y="83"/>
                  <a:pt x="621" y="102"/>
                </a:cubicBezTo>
                <a:cubicBezTo>
                  <a:pt x="659" y="100"/>
                  <a:pt x="659" y="100"/>
                  <a:pt x="659" y="100"/>
                </a:cubicBezTo>
                <a:cubicBezTo>
                  <a:pt x="662" y="100"/>
                  <a:pt x="665" y="102"/>
                  <a:pt x="666" y="105"/>
                </a:cubicBezTo>
                <a:cubicBezTo>
                  <a:pt x="673" y="122"/>
                  <a:pt x="676" y="141"/>
                  <a:pt x="676" y="160"/>
                </a:cubicBezTo>
                <a:cubicBezTo>
                  <a:pt x="676" y="163"/>
                  <a:pt x="676" y="166"/>
                  <a:pt x="676" y="169"/>
                </a:cubicBezTo>
                <a:cubicBezTo>
                  <a:pt x="676" y="172"/>
                  <a:pt x="674" y="174"/>
                  <a:pt x="671" y="175"/>
                </a:cubicBezTo>
                <a:cubicBezTo>
                  <a:pt x="634" y="185"/>
                  <a:pt x="634" y="185"/>
                  <a:pt x="634" y="185"/>
                </a:cubicBezTo>
                <a:cubicBezTo>
                  <a:pt x="629" y="206"/>
                  <a:pt x="619" y="225"/>
                  <a:pt x="605" y="241"/>
                </a:cubicBezTo>
                <a:cubicBezTo>
                  <a:pt x="618" y="277"/>
                  <a:pt x="618" y="277"/>
                  <a:pt x="618" y="277"/>
                </a:cubicBezTo>
                <a:cubicBezTo>
                  <a:pt x="619" y="279"/>
                  <a:pt x="618" y="283"/>
                  <a:pt x="616" y="284"/>
                </a:cubicBezTo>
                <a:cubicBezTo>
                  <a:pt x="598" y="298"/>
                  <a:pt x="579" y="308"/>
                  <a:pt x="558" y="314"/>
                </a:cubicBezTo>
                <a:cubicBezTo>
                  <a:pt x="557" y="314"/>
                  <a:pt x="557" y="314"/>
                  <a:pt x="556" y="314"/>
                </a:cubicBezTo>
                <a:close/>
                <a:moveTo>
                  <a:pt x="533" y="264"/>
                </a:moveTo>
                <a:cubicBezTo>
                  <a:pt x="535" y="264"/>
                  <a:pt x="538" y="265"/>
                  <a:pt x="539" y="267"/>
                </a:cubicBezTo>
                <a:cubicBezTo>
                  <a:pt x="559" y="299"/>
                  <a:pt x="559" y="299"/>
                  <a:pt x="559" y="299"/>
                </a:cubicBezTo>
                <a:cubicBezTo>
                  <a:pt x="575" y="294"/>
                  <a:pt x="590" y="286"/>
                  <a:pt x="603" y="277"/>
                </a:cubicBezTo>
                <a:cubicBezTo>
                  <a:pt x="590" y="242"/>
                  <a:pt x="590" y="242"/>
                  <a:pt x="590" y="242"/>
                </a:cubicBezTo>
                <a:cubicBezTo>
                  <a:pt x="589" y="239"/>
                  <a:pt x="590" y="236"/>
                  <a:pt x="592" y="234"/>
                </a:cubicBezTo>
                <a:cubicBezTo>
                  <a:pt x="607" y="219"/>
                  <a:pt x="617" y="199"/>
                  <a:pt x="621" y="178"/>
                </a:cubicBezTo>
                <a:cubicBezTo>
                  <a:pt x="621" y="175"/>
                  <a:pt x="623" y="173"/>
                  <a:pt x="626" y="172"/>
                </a:cubicBezTo>
                <a:cubicBezTo>
                  <a:pt x="662" y="163"/>
                  <a:pt x="662" y="163"/>
                  <a:pt x="662" y="163"/>
                </a:cubicBezTo>
                <a:cubicBezTo>
                  <a:pt x="662" y="162"/>
                  <a:pt x="662" y="161"/>
                  <a:pt x="662" y="160"/>
                </a:cubicBezTo>
                <a:cubicBezTo>
                  <a:pt x="662" y="144"/>
                  <a:pt x="660" y="129"/>
                  <a:pt x="655" y="114"/>
                </a:cubicBezTo>
                <a:cubicBezTo>
                  <a:pt x="618" y="116"/>
                  <a:pt x="618" y="116"/>
                  <a:pt x="618" y="116"/>
                </a:cubicBezTo>
                <a:cubicBezTo>
                  <a:pt x="615" y="116"/>
                  <a:pt x="612" y="114"/>
                  <a:pt x="611" y="112"/>
                </a:cubicBezTo>
                <a:cubicBezTo>
                  <a:pt x="601" y="92"/>
                  <a:pt x="586" y="77"/>
                  <a:pt x="566" y="67"/>
                </a:cubicBezTo>
                <a:cubicBezTo>
                  <a:pt x="564" y="65"/>
                  <a:pt x="562" y="63"/>
                  <a:pt x="563" y="60"/>
                </a:cubicBezTo>
                <a:cubicBezTo>
                  <a:pt x="565" y="23"/>
                  <a:pt x="565" y="23"/>
                  <a:pt x="565" y="23"/>
                </a:cubicBezTo>
                <a:cubicBezTo>
                  <a:pt x="549" y="17"/>
                  <a:pt x="533" y="15"/>
                  <a:pt x="517" y="15"/>
                </a:cubicBezTo>
                <a:cubicBezTo>
                  <a:pt x="517" y="15"/>
                  <a:pt x="516" y="15"/>
                  <a:pt x="516" y="15"/>
                </a:cubicBezTo>
                <a:cubicBezTo>
                  <a:pt x="506" y="51"/>
                  <a:pt x="506" y="51"/>
                  <a:pt x="506" y="51"/>
                </a:cubicBezTo>
                <a:cubicBezTo>
                  <a:pt x="505" y="53"/>
                  <a:pt x="503" y="55"/>
                  <a:pt x="500" y="56"/>
                </a:cubicBezTo>
                <a:cubicBezTo>
                  <a:pt x="479" y="59"/>
                  <a:pt x="459" y="69"/>
                  <a:pt x="443" y="84"/>
                </a:cubicBezTo>
                <a:cubicBezTo>
                  <a:pt x="442" y="86"/>
                  <a:pt x="439" y="87"/>
                  <a:pt x="436" y="86"/>
                </a:cubicBezTo>
                <a:cubicBezTo>
                  <a:pt x="401" y="73"/>
                  <a:pt x="401" y="73"/>
                  <a:pt x="401" y="73"/>
                </a:cubicBezTo>
                <a:cubicBezTo>
                  <a:pt x="391" y="86"/>
                  <a:pt x="384" y="101"/>
                  <a:pt x="379" y="116"/>
                </a:cubicBezTo>
                <a:cubicBezTo>
                  <a:pt x="410" y="137"/>
                  <a:pt x="410" y="137"/>
                  <a:pt x="410" y="137"/>
                </a:cubicBezTo>
                <a:cubicBezTo>
                  <a:pt x="412" y="138"/>
                  <a:pt x="413" y="141"/>
                  <a:pt x="413" y="144"/>
                </a:cubicBezTo>
                <a:cubicBezTo>
                  <a:pt x="412" y="149"/>
                  <a:pt x="412" y="154"/>
                  <a:pt x="412" y="160"/>
                </a:cubicBezTo>
                <a:cubicBezTo>
                  <a:pt x="412" y="176"/>
                  <a:pt x="415" y="193"/>
                  <a:pt x="423" y="207"/>
                </a:cubicBezTo>
                <a:cubicBezTo>
                  <a:pt x="424" y="210"/>
                  <a:pt x="424" y="213"/>
                  <a:pt x="422" y="215"/>
                </a:cubicBezTo>
                <a:cubicBezTo>
                  <a:pt x="399" y="244"/>
                  <a:pt x="399" y="244"/>
                  <a:pt x="399" y="244"/>
                </a:cubicBezTo>
                <a:cubicBezTo>
                  <a:pt x="409" y="258"/>
                  <a:pt x="421" y="269"/>
                  <a:pt x="434" y="279"/>
                </a:cubicBezTo>
                <a:cubicBezTo>
                  <a:pt x="463" y="255"/>
                  <a:pt x="463" y="255"/>
                  <a:pt x="463" y="255"/>
                </a:cubicBezTo>
                <a:cubicBezTo>
                  <a:pt x="465" y="254"/>
                  <a:pt x="468" y="253"/>
                  <a:pt x="471" y="254"/>
                </a:cubicBezTo>
                <a:cubicBezTo>
                  <a:pt x="485" y="262"/>
                  <a:pt x="501" y="265"/>
                  <a:pt x="517" y="265"/>
                </a:cubicBezTo>
                <a:cubicBezTo>
                  <a:pt x="522" y="265"/>
                  <a:pt x="527" y="265"/>
                  <a:pt x="532" y="264"/>
                </a:cubicBezTo>
                <a:cubicBezTo>
                  <a:pt x="532" y="264"/>
                  <a:pt x="533" y="264"/>
                  <a:pt x="533" y="264"/>
                </a:cubicBezTo>
                <a:close/>
                <a:moveTo>
                  <a:pt x="517" y="199"/>
                </a:moveTo>
                <a:cubicBezTo>
                  <a:pt x="496" y="199"/>
                  <a:pt x="478" y="181"/>
                  <a:pt x="478" y="160"/>
                </a:cubicBezTo>
                <a:cubicBezTo>
                  <a:pt x="478" y="138"/>
                  <a:pt x="496" y="121"/>
                  <a:pt x="517" y="121"/>
                </a:cubicBezTo>
                <a:cubicBezTo>
                  <a:pt x="539" y="121"/>
                  <a:pt x="556" y="138"/>
                  <a:pt x="556" y="160"/>
                </a:cubicBezTo>
                <a:cubicBezTo>
                  <a:pt x="556" y="181"/>
                  <a:pt x="539" y="199"/>
                  <a:pt x="517" y="199"/>
                </a:cubicBezTo>
                <a:close/>
                <a:moveTo>
                  <a:pt x="517" y="135"/>
                </a:moveTo>
                <a:cubicBezTo>
                  <a:pt x="503" y="135"/>
                  <a:pt x="492" y="146"/>
                  <a:pt x="492" y="160"/>
                </a:cubicBezTo>
                <a:cubicBezTo>
                  <a:pt x="492" y="174"/>
                  <a:pt x="503" y="185"/>
                  <a:pt x="517" y="185"/>
                </a:cubicBezTo>
                <a:cubicBezTo>
                  <a:pt x="531" y="185"/>
                  <a:pt x="542" y="174"/>
                  <a:pt x="542" y="160"/>
                </a:cubicBezTo>
                <a:cubicBezTo>
                  <a:pt x="542" y="146"/>
                  <a:pt x="531" y="135"/>
                  <a:pt x="517" y="135"/>
                </a:cubicBezTo>
                <a:close/>
                <a:moveTo>
                  <a:pt x="258" y="678"/>
                </a:moveTo>
                <a:cubicBezTo>
                  <a:pt x="256" y="678"/>
                  <a:pt x="256" y="678"/>
                  <a:pt x="256" y="678"/>
                </a:cubicBezTo>
                <a:cubicBezTo>
                  <a:pt x="252" y="678"/>
                  <a:pt x="250" y="676"/>
                  <a:pt x="249" y="673"/>
                </a:cubicBezTo>
                <a:cubicBezTo>
                  <a:pt x="233" y="615"/>
                  <a:pt x="233" y="615"/>
                  <a:pt x="233" y="615"/>
                </a:cubicBezTo>
                <a:cubicBezTo>
                  <a:pt x="208" y="612"/>
                  <a:pt x="184" y="604"/>
                  <a:pt x="162" y="592"/>
                </a:cubicBezTo>
                <a:cubicBezTo>
                  <a:pt x="113" y="628"/>
                  <a:pt x="113" y="628"/>
                  <a:pt x="113" y="628"/>
                </a:cubicBezTo>
                <a:cubicBezTo>
                  <a:pt x="111" y="630"/>
                  <a:pt x="108" y="630"/>
                  <a:pt x="105" y="628"/>
                </a:cubicBezTo>
                <a:cubicBezTo>
                  <a:pt x="86" y="614"/>
                  <a:pt x="69" y="598"/>
                  <a:pt x="55" y="579"/>
                </a:cubicBezTo>
                <a:cubicBezTo>
                  <a:pt x="53" y="577"/>
                  <a:pt x="53" y="574"/>
                  <a:pt x="55" y="571"/>
                </a:cubicBezTo>
                <a:cubicBezTo>
                  <a:pt x="90" y="522"/>
                  <a:pt x="90" y="522"/>
                  <a:pt x="90" y="522"/>
                </a:cubicBezTo>
                <a:cubicBezTo>
                  <a:pt x="75" y="499"/>
                  <a:pt x="66" y="474"/>
                  <a:pt x="62" y="447"/>
                </a:cubicBezTo>
                <a:cubicBezTo>
                  <a:pt x="5" y="431"/>
                  <a:pt x="5" y="431"/>
                  <a:pt x="5" y="431"/>
                </a:cubicBezTo>
                <a:cubicBezTo>
                  <a:pt x="2" y="430"/>
                  <a:pt x="0" y="427"/>
                  <a:pt x="0" y="424"/>
                </a:cubicBezTo>
                <a:cubicBezTo>
                  <a:pt x="0" y="423"/>
                  <a:pt x="0" y="421"/>
                  <a:pt x="0" y="419"/>
                </a:cubicBezTo>
                <a:cubicBezTo>
                  <a:pt x="0" y="398"/>
                  <a:pt x="2" y="376"/>
                  <a:pt x="8" y="355"/>
                </a:cubicBezTo>
                <a:cubicBezTo>
                  <a:pt x="8" y="352"/>
                  <a:pt x="11" y="350"/>
                  <a:pt x="14" y="350"/>
                </a:cubicBezTo>
                <a:cubicBezTo>
                  <a:pt x="74" y="348"/>
                  <a:pt x="74" y="348"/>
                  <a:pt x="74" y="348"/>
                </a:cubicBezTo>
                <a:cubicBezTo>
                  <a:pt x="83" y="324"/>
                  <a:pt x="97" y="302"/>
                  <a:pt x="114" y="283"/>
                </a:cubicBezTo>
                <a:cubicBezTo>
                  <a:pt x="91" y="229"/>
                  <a:pt x="91" y="229"/>
                  <a:pt x="91" y="229"/>
                </a:cubicBezTo>
                <a:cubicBezTo>
                  <a:pt x="89" y="226"/>
                  <a:pt x="90" y="223"/>
                  <a:pt x="93" y="221"/>
                </a:cubicBezTo>
                <a:cubicBezTo>
                  <a:pt x="110" y="206"/>
                  <a:pt x="130" y="193"/>
                  <a:pt x="151" y="184"/>
                </a:cubicBezTo>
                <a:cubicBezTo>
                  <a:pt x="154" y="182"/>
                  <a:pt x="157" y="183"/>
                  <a:pt x="159" y="185"/>
                </a:cubicBezTo>
                <a:cubicBezTo>
                  <a:pt x="199" y="230"/>
                  <a:pt x="199" y="230"/>
                  <a:pt x="199" y="230"/>
                </a:cubicBezTo>
                <a:cubicBezTo>
                  <a:pt x="218" y="224"/>
                  <a:pt x="238" y="221"/>
                  <a:pt x="258" y="221"/>
                </a:cubicBezTo>
                <a:cubicBezTo>
                  <a:pt x="264" y="221"/>
                  <a:pt x="270" y="222"/>
                  <a:pt x="276" y="222"/>
                </a:cubicBezTo>
                <a:cubicBezTo>
                  <a:pt x="304" y="170"/>
                  <a:pt x="304" y="170"/>
                  <a:pt x="304" y="170"/>
                </a:cubicBezTo>
                <a:cubicBezTo>
                  <a:pt x="306" y="167"/>
                  <a:pt x="309" y="165"/>
                  <a:pt x="312" y="166"/>
                </a:cubicBezTo>
                <a:cubicBezTo>
                  <a:pt x="335" y="171"/>
                  <a:pt x="357" y="179"/>
                  <a:pt x="378" y="190"/>
                </a:cubicBezTo>
                <a:cubicBezTo>
                  <a:pt x="380" y="191"/>
                  <a:pt x="382" y="194"/>
                  <a:pt x="381" y="197"/>
                </a:cubicBezTo>
                <a:cubicBezTo>
                  <a:pt x="371" y="256"/>
                  <a:pt x="371" y="256"/>
                  <a:pt x="371" y="256"/>
                </a:cubicBezTo>
                <a:cubicBezTo>
                  <a:pt x="391" y="271"/>
                  <a:pt x="410" y="289"/>
                  <a:pt x="423" y="310"/>
                </a:cubicBezTo>
                <a:cubicBezTo>
                  <a:pt x="482" y="300"/>
                  <a:pt x="482" y="300"/>
                  <a:pt x="482" y="300"/>
                </a:cubicBezTo>
                <a:cubicBezTo>
                  <a:pt x="485" y="299"/>
                  <a:pt x="489" y="301"/>
                  <a:pt x="490" y="303"/>
                </a:cubicBezTo>
                <a:cubicBezTo>
                  <a:pt x="500" y="325"/>
                  <a:pt x="508" y="347"/>
                  <a:pt x="513" y="370"/>
                </a:cubicBezTo>
                <a:cubicBezTo>
                  <a:pt x="513" y="373"/>
                  <a:pt x="512" y="376"/>
                  <a:pt x="509" y="378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6" y="410"/>
                  <a:pt x="456" y="415"/>
                  <a:pt x="456" y="419"/>
                </a:cubicBezTo>
                <a:cubicBezTo>
                  <a:pt x="456" y="439"/>
                  <a:pt x="453" y="459"/>
                  <a:pt x="447" y="479"/>
                </a:cubicBezTo>
                <a:cubicBezTo>
                  <a:pt x="492" y="519"/>
                  <a:pt x="492" y="519"/>
                  <a:pt x="492" y="519"/>
                </a:cubicBezTo>
                <a:cubicBezTo>
                  <a:pt x="494" y="521"/>
                  <a:pt x="495" y="524"/>
                  <a:pt x="494" y="527"/>
                </a:cubicBezTo>
                <a:cubicBezTo>
                  <a:pt x="484" y="548"/>
                  <a:pt x="471" y="568"/>
                  <a:pt x="456" y="586"/>
                </a:cubicBezTo>
                <a:cubicBezTo>
                  <a:pt x="454" y="589"/>
                  <a:pt x="451" y="589"/>
                  <a:pt x="448" y="588"/>
                </a:cubicBezTo>
                <a:cubicBezTo>
                  <a:pt x="393" y="564"/>
                  <a:pt x="393" y="564"/>
                  <a:pt x="393" y="564"/>
                </a:cubicBezTo>
                <a:cubicBezTo>
                  <a:pt x="375" y="581"/>
                  <a:pt x="355" y="594"/>
                  <a:pt x="333" y="603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30" y="666"/>
                  <a:pt x="328" y="669"/>
                  <a:pt x="325" y="669"/>
                </a:cubicBezTo>
                <a:cubicBezTo>
                  <a:pt x="303" y="675"/>
                  <a:pt x="281" y="678"/>
                  <a:pt x="258" y="678"/>
                </a:cubicBezTo>
                <a:close/>
                <a:moveTo>
                  <a:pt x="161" y="576"/>
                </a:moveTo>
                <a:cubicBezTo>
                  <a:pt x="162" y="576"/>
                  <a:pt x="164" y="577"/>
                  <a:pt x="165" y="577"/>
                </a:cubicBezTo>
                <a:cubicBezTo>
                  <a:pt x="188" y="591"/>
                  <a:pt x="213" y="599"/>
                  <a:pt x="239" y="602"/>
                </a:cubicBezTo>
                <a:cubicBezTo>
                  <a:pt x="242" y="602"/>
                  <a:pt x="244" y="604"/>
                  <a:pt x="245" y="607"/>
                </a:cubicBezTo>
                <a:cubicBezTo>
                  <a:pt x="261" y="664"/>
                  <a:pt x="261" y="664"/>
                  <a:pt x="261" y="664"/>
                </a:cubicBezTo>
                <a:cubicBezTo>
                  <a:pt x="280" y="664"/>
                  <a:pt x="298" y="661"/>
                  <a:pt x="316" y="657"/>
                </a:cubicBezTo>
                <a:cubicBezTo>
                  <a:pt x="319" y="598"/>
                  <a:pt x="319" y="598"/>
                  <a:pt x="319" y="598"/>
                </a:cubicBezTo>
                <a:cubicBezTo>
                  <a:pt x="319" y="595"/>
                  <a:pt x="321" y="592"/>
                  <a:pt x="323" y="591"/>
                </a:cubicBezTo>
                <a:cubicBezTo>
                  <a:pt x="347" y="582"/>
                  <a:pt x="368" y="569"/>
                  <a:pt x="387" y="551"/>
                </a:cubicBezTo>
                <a:cubicBezTo>
                  <a:pt x="389" y="549"/>
                  <a:pt x="392" y="548"/>
                  <a:pt x="394" y="549"/>
                </a:cubicBezTo>
                <a:cubicBezTo>
                  <a:pt x="449" y="573"/>
                  <a:pt x="449" y="573"/>
                  <a:pt x="449" y="573"/>
                </a:cubicBezTo>
                <a:cubicBezTo>
                  <a:pt x="461" y="558"/>
                  <a:pt x="471" y="542"/>
                  <a:pt x="479" y="526"/>
                </a:cubicBezTo>
                <a:cubicBezTo>
                  <a:pt x="434" y="486"/>
                  <a:pt x="434" y="486"/>
                  <a:pt x="434" y="486"/>
                </a:cubicBezTo>
                <a:cubicBezTo>
                  <a:pt x="432" y="484"/>
                  <a:pt x="431" y="481"/>
                  <a:pt x="432" y="479"/>
                </a:cubicBezTo>
                <a:cubicBezTo>
                  <a:pt x="439" y="459"/>
                  <a:pt x="442" y="439"/>
                  <a:pt x="442" y="419"/>
                </a:cubicBezTo>
                <a:cubicBezTo>
                  <a:pt x="442" y="414"/>
                  <a:pt x="442" y="408"/>
                  <a:pt x="441" y="402"/>
                </a:cubicBezTo>
                <a:cubicBezTo>
                  <a:pt x="441" y="400"/>
                  <a:pt x="443" y="397"/>
                  <a:pt x="445" y="396"/>
                </a:cubicBezTo>
                <a:cubicBezTo>
                  <a:pt x="498" y="368"/>
                  <a:pt x="498" y="368"/>
                  <a:pt x="498" y="368"/>
                </a:cubicBezTo>
                <a:cubicBezTo>
                  <a:pt x="494" y="349"/>
                  <a:pt x="488" y="331"/>
                  <a:pt x="480" y="314"/>
                </a:cubicBezTo>
                <a:cubicBezTo>
                  <a:pt x="421" y="325"/>
                  <a:pt x="421" y="325"/>
                  <a:pt x="421" y="325"/>
                </a:cubicBezTo>
                <a:cubicBezTo>
                  <a:pt x="419" y="325"/>
                  <a:pt x="416" y="324"/>
                  <a:pt x="414" y="322"/>
                </a:cubicBezTo>
                <a:cubicBezTo>
                  <a:pt x="400" y="299"/>
                  <a:pt x="381" y="280"/>
                  <a:pt x="359" y="265"/>
                </a:cubicBezTo>
                <a:cubicBezTo>
                  <a:pt x="357" y="264"/>
                  <a:pt x="356" y="261"/>
                  <a:pt x="356" y="258"/>
                </a:cubicBezTo>
                <a:cubicBezTo>
                  <a:pt x="367" y="200"/>
                  <a:pt x="367" y="200"/>
                  <a:pt x="367" y="200"/>
                </a:cubicBezTo>
                <a:cubicBezTo>
                  <a:pt x="350" y="191"/>
                  <a:pt x="332" y="185"/>
                  <a:pt x="314" y="181"/>
                </a:cubicBezTo>
                <a:cubicBezTo>
                  <a:pt x="286" y="233"/>
                  <a:pt x="286" y="233"/>
                  <a:pt x="286" y="233"/>
                </a:cubicBezTo>
                <a:cubicBezTo>
                  <a:pt x="285" y="235"/>
                  <a:pt x="282" y="237"/>
                  <a:pt x="279" y="237"/>
                </a:cubicBezTo>
                <a:cubicBezTo>
                  <a:pt x="272" y="236"/>
                  <a:pt x="265" y="235"/>
                  <a:pt x="258" y="235"/>
                </a:cubicBezTo>
                <a:cubicBezTo>
                  <a:pt x="238" y="235"/>
                  <a:pt x="218" y="239"/>
                  <a:pt x="199" y="245"/>
                </a:cubicBezTo>
                <a:cubicBezTo>
                  <a:pt x="197" y="246"/>
                  <a:pt x="194" y="245"/>
                  <a:pt x="192" y="243"/>
                </a:cubicBezTo>
                <a:cubicBezTo>
                  <a:pt x="152" y="198"/>
                  <a:pt x="152" y="198"/>
                  <a:pt x="152" y="198"/>
                </a:cubicBezTo>
                <a:cubicBezTo>
                  <a:pt x="136" y="207"/>
                  <a:pt x="120" y="216"/>
                  <a:pt x="106" y="228"/>
                </a:cubicBezTo>
                <a:cubicBezTo>
                  <a:pt x="129" y="282"/>
                  <a:pt x="129" y="282"/>
                  <a:pt x="129" y="282"/>
                </a:cubicBezTo>
                <a:cubicBezTo>
                  <a:pt x="130" y="285"/>
                  <a:pt x="130" y="288"/>
                  <a:pt x="128" y="290"/>
                </a:cubicBezTo>
                <a:cubicBezTo>
                  <a:pt x="109" y="309"/>
                  <a:pt x="94" y="332"/>
                  <a:pt x="85" y="357"/>
                </a:cubicBezTo>
                <a:cubicBezTo>
                  <a:pt x="84" y="360"/>
                  <a:pt x="82" y="361"/>
                  <a:pt x="79" y="362"/>
                </a:cubicBezTo>
                <a:cubicBezTo>
                  <a:pt x="20" y="364"/>
                  <a:pt x="20" y="364"/>
                  <a:pt x="20" y="364"/>
                </a:cubicBezTo>
                <a:cubicBezTo>
                  <a:pt x="16" y="382"/>
                  <a:pt x="14" y="400"/>
                  <a:pt x="14" y="419"/>
                </a:cubicBezTo>
                <a:cubicBezTo>
                  <a:pt x="71" y="435"/>
                  <a:pt x="71" y="435"/>
                  <a:pt x="71" y="435"/>
                </a:cubicBezTo>
                <a:cubicBezTo>
                  <a:pt x="73" y="435"/>
                  <a:pt x="75" y="438"/>
                  <a:pt x="76" y="441"/>
                </a:cubicBezTo>
                <a:cubicBezTo>
                  <a:pt x="79" y="468"/>
                  <a:pt x="89" y="495"/>
                  <a:pt x="104" y="519"/>
                </a:cubicBezTo>
                <a:cubicBezTo>
                  <a:pt x="105" y="521"/>
                  <a:pt x="105" y="524"/>
                  <a:pt x="104" y="527"/>
                </a:cubicBezTo>
                <a:cubicBezTo>
                  <a:pt x="69" y="575"/>
                  <a:pt x="69" y="575"/>
                  <a:pt x="69" y="575"/>
                </a:cubicBezTo>
                <a:cubicBezTo>
                  <a:pt x="81" y="589"/>
                  <a:pt x="94" y="602"/>
                  <a:pt x="109" y="613"/>
                </a:cubicBezTo>
                <a:cubicBezTo>
                  <a:pt x="157" y="578"/>
                  <a:pt x="157" y="578"/>
                  <a:pt x="157" y="578"/>
                </a:cubicBezTo>
                <a:cubicBezTo>
                  <a:pt x="158" y="577"/>
                  <a:pt x="160" y="576"/>
                  <a:pt x="161" y="576"/>
                </a:cubicBezTo>
                <a:close/>
                <a:moveTo>
                  <a:pt x="258" y="484"/>
                </a:moveTo>
                <a:cubicBezTo>
                  <a:pt x="223" y="484"/>
                  <a:pt x="193" y="455"/>
                  <a:pt x="193" y="419"/>
                </a:cubicBezTo>
                <a:cubicBezTo>
                  <a:pt x="193" y="383"/>
                  <a:pt x="223" y="354"/>
                  <a:pt x="258" y="354"/>
                </a:cubicBezTo>
                <a:cubicBezTo>
                  <a:pt x="294" y="354"/>
                  <a:pt x="323" y="383"/>
                  <a:pt x="323" y="419"/>
                </a:cubicBezTo>
                <a:cubicBezTo>
                  <a:pt x="323" y="455"/>
                  <a:pt x="294" y="484"/>
                  <a:pt x="258" y="484"/>
                </a:cubicBezTo>
                <a:close/>
                <a:moveTo>
                  <a:pt x="258" y="368"/>
                </a:moveTo>
                <a:cubicBezTo>
                  <a:pt x="230" y="368"/>
                  <a:pt x="207" y="391"/>
                  <a:pt x="207" y="419"/>
                </a:cubicBezTo>
                <a:cubicBezTo>
                  <a:pt x="207" y="447"/>
                  <a:pt x="230" y="470"/>
                  <a:pt x="258" y="470"/>
                </a:cubicBezTo>
                <a:cubicBezTo>
                  <a:pt x="286" y="470"/>
                  <a:pt x="309" y="447"/>
                  <a:pt x="309" y="419"/>
                </a:cubicBezTo>
                <a:cubicBezTo>
                  <a:pt x="309" y="391"/>
                  <a:pt x="286" y="368"/>
                  <a:pt x="258" y="36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6A28C26-BD10-260E-EC9D-28AF59DD35FC}"/>
              </a:ext>
            </a:extLst>
          </p:cNvPr>
          <p:cNvSpPr txBox="1"/>
          <p:nvPr/>
        </p:nvSpPr>
        <p:spPr>
          <a:xfrm>
            <a:off x="3559125" y="1524000"/>
            <a:ext cx="32174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>
                <a:latin typeface="Franklin Gothic Book" panose="020B0503020102020204" pitchFamily="34" charset="0"/>
              </a:rPr>
              <a:t>Predictive modeling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- Classification: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Will he buy in the near term (e.g., 1 week)?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Will he churn?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Probabilities...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- Regression: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In how many days will he buy?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How much will she spend?</a:t>
            </a:r>
          </a:p>
          <a:p>
            <a:endParaRPr lang="pl-PL" sz="11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Modeling the impact of advertising on the customer (uplift)</a:t>
            </a:r>
          </a:p>
          <a:p>
            <a:endParaRPr lang="pl-PL" sz="1100">
              <a:latin typeface="Franklin Gothic Book" panose="020B0503020102020204" pitchFamily="34" charset="0"/>
            </a:endParaRPr>
          </a:p>
          <a:p>
            <a:r>
              <a:rPr lang="pl-PL" sz="1100">
                <a:latin typeface="Franklin Gothic Book" panose="020B0503020102020204" pitchFamily="34" charset="0"/>
              </a:rPr>
              <a:t>Data analysis</a:t>
            </a:r>
          </a:p>
          <a:p>
            <a:r>
              <a:rPr lang="pl-PL" sz="1100">
                <a:latin typeface="Franklin Gothic Book" panose="020B0503020102020204" pitchFamily="34" charset="0"/>
              </a:rPr>
              <a:t>- Segmentation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Demographic characteristics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Transactional statistics (RMF)</a:t>
            </a:r>
          </a:p>
          <a:p>
            <a:pPr lvl="1"/>
            <a:r>
              <a:rPr lang="pl-PL" sz="1100" i="1">
                <a:latin typeface="Franklin Gothic Book" panose="020B0503020102020204" pitchFamily="34" charset="0"/>
              </a:rPr>
              <a:t>Predictive modeling results (e.g., probabilities)</a:t>
            </a:r>
          </a:p>
        </p:txBody>
      </p:sp>
    </p:spTree>
    <p:extLst>
      <p:ext uri="{BB962C8B-B14F-4D97-AF65-F5344CB8AC3E}">
        <p14:creationId xmlns:p14="http://schemas.microsoft.com/office/powerpoint/2010/main" val="319800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Example rules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6A28C26-BD10-260E-EC9D-28AF59DD35FC}"/>
              </a:ext>
            </a:extLst>
          </p:cNvPr>
          <p:cNvSpPr txBox="1"/>
          <p:nvPr/>
        </p:nvSpPr>
        <p:spPr>
          <a:xfrm>
            <a:off x="3559126" y="1524000"/>
            <a:ext cx="30627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b="1">
                <a:latin typeface="Franklin Gothic Book" panose="020B0503020102020204" pitchFamily="34" charset="0"/>
              </a:rPr>
              <a:t>If 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- The conversion probability generated by the predictive model is in the 1st quartile,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and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- the customer has already bought at least one product from us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and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- has not bought from us for 3 months</a:t>
            </a:r>
          </a:p>
          <a:p>
            <a:endParaRPr lang="pl-PL" sz="1100" i="1">
              <a:latin typeface="Franklin Gothic Book" panose="020B0503020102020204" pitchFamily="34" charset="0"/>
            </a:endParaRPr>
          </a:p>
          <a:p>
            <a:r>
              <a:rPr lang="pl-PL" sz="1400" b="1">
                <a:latin typeface="Franklin Gothic Book" panose="020B0503020102020204" pitchFamily="34" charset="0"/>
              </a:rPr>
              <a:t>then</a:t>
            </a:r>
          </a:p>
          <a:p>
            <a:r>
              <a:rPr lang="pl-PL" sz="1100" i="1">
                <a:latin typeface="Franklin Gothic Book" panose="020B0503020102020204" pitchFamily="34" charset="0"/>
              </a:rPr>
              <a:t>	- let's call with a proposal of 30% discount </a:t>
            </a:r>
          </a:p>
        </p:txBody>
      </p:sp>
      <p:pic>
        <p:nvPicPr>
          <p:cNvPr id="5" name="Grafika 4" descr="Diagram sieciowy kontur">
            <a:extLst>
              <a:ext uri="{FF2B5EF4-FFF2-40B4-BE49-F238E27FC236}">
                <a16:creationId xmlns:a16="http://schemas.microsoft.com/office/drawing/2014/main" id="{411DD27E-26E5-166D-F4C1-D1D85BF02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482" y="2125785"/>
            <a:ext cx="553630" cy="55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1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A0E595A5-240D-03EE-580B-03D53FC6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50262"/>
            <a:ext cx="8229600" cy="857250"/>
          </a:xfrm>
        </p:spPr>
        <p:txBody>
          <a:bodyPr/>
          <a:lstStyle/>
          <a:p>
            <a:r>
              <a:rPr lang="pl-PL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429364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The model is just one of several components of the recommendation engine</a:t>
            </a:r>
          </a:p>
        </p:txBody>
      </p:sp>
      <p:pic>
        <p:nvPicPr>
          <p:cNvPr id="6" name="Grafika 5" descr="Mężczyzna kontur">
            <a:extLst>
              <a:ext uri="{FF2B5EF4-FFF2-40B4-BE49-F238E27FC236}">
                <a16:creationId xmlns:a16="http://schemas.microsoft.com/office/drawing/2014/main" id="{AA19508D-61D9-E7CB-7F0A-6FEED67DC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0945" y="2255744"/>
            <a:ext cx="632012" cy="63201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624A187-0CBC-D753-C0DD-F35CE6A0395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368884" y="2571750"/>
            <a:ext cx="122895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00641B45-4F0C-BCB5-A978-F990BAA8614B}"/>
              </a:ext>
            </a:extLst>
          </p:cNvPr>
          <p:cNvCxnSpPr>
            <a:cxnSpLocks/>
          </p:cNvCxnSpPr>
          <p:nvPr/>
        </p:nvCxnSpPr>
        <p:spPr>
          <a:xfrm>
            <a:off x="6321083" y="2573130"/>
            <a:ext cx="100929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5D7E35-A7BC-A930-F284-2FCA13D218C3}"/>
                  </a:ext>
                </a:extLst>
              </p:cNvPr>
              <p:cNvSpPr txBox="1"/>
              <p:nvPr/>
            </p:nvSpPr>
            <p:spPr>
              <a:xfrm>
                <a:off x="2072065" y="3582637"/>
                <a:ext cx="4572000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baseline="-25000"/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75D7E35-A7BC-A930-F284-2FCA13D21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65" y="3582637"/>
                <a:ext cx="4572000" cy="362984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a 4" descr="Mężczyzna kontur">
            <a:extLst>
              <a:ext uri="{FF2B5EF4-FFF2-40B4-BE49-F238E27FC236}">
                <a16:creationId xmlns:a16="http://schemas.microsoft.com/office/drawing/2014/main" id="{8FB836A9-90E2-0A13-DCA8-4F898D1C3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872" y="2255744"/>
            <a:ext cx="632012" cy="632012"/>
          </a:xfrm>
          <a:prstGeom prst="rect">
            <a:avLst/>
          </a:prstGeom>
        </p:spPr>
      </p:pic>
      <p:grpSp>
        <p:nvGrpSpPr>
          <p:cNvPr id="33" name="Grupa 32">
            <a:extLst>
              <a:ext uri="{FF2B5EF4-FFF2-40B4-BE49-F238E27FC236}">
                <a16:creationId xmlns:a16="http://schemas.microsoft.com/office/drawing/2014/main" id="{49C6E567-2C6C-FE5A-63F4-FAAFE23DEF93}"/>
              </a:ext>
            </a:extLst>
          </p:cNvPr>
          <p:cNvGrpSpPr/>
          <p:nvPr/>
        </p:nvGrpSpPr>
        <p:grpSpPr>
          <a:xfrm>
            <a:off x="2703872" y="1987753"/>
            <a:ext cx="3591770" cy="1387996"/>
            <a:chOff x="2628844" y="1626149"/>
            <a:chExt cx="3591770" cy="1387996"/>
          </a:xfrm>
        </p:grpSpPr>
        <p:grpSp>
          <p:nvGrpSpPr>
            <p:cNvPr id="30" name="Grupa 29">
              <a:extLst>
                <a:ext uri="{FF2B5EF4-FFF2-40B4-BE49-F238E27FC236}">
                  <a16:creationId xmlns:a16="http://schemas.microsoft.com/office/drawing/2014/main" id="{EA4B52B3-5F92-40AD-1430-FC35CA03A1E9}"/>
                </a:ext>
              </a:extLst>
            </p:cNvPr>
            <p:cNvGrpSpPr/>
            <p:nvPr/>
          </p:nvGrpSpPr>
          <p:grpSpPr>
            <a:xfrm>
              <a:off x="2827535" y="1889312"/>
              <a:ext cx="3393079" cy="921038"/>
              <a:chOff x="1846210" y="1902494"/>
              <a:chExt cx="3393079" cy="921038"/>
            </a:xfrm>
          </p:grpSpPr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5120EE7E-EEC7-3B23-52DD-020D0B9A1AC3}"/>
                  </a:ext>
                </a:extLst>
              </p:cNvPr>
              <p:cNvSpPr txBox="1"/>
              <p:nvPr/>
            </p:nvSpPr>
            <p:spPr>
              <a:xfrm>
                <a:off x="4064654" y="2479814"/>
                <a:ext cx="1174635" cy="335646"/>
              </a:xfrm>
              <a:prstGeom prst="rect">
                <a:avLst/>
              </a:prstGeom>
              <a:noFill/>
              <a:ln>
                <a:noFill/>
              </a:ln>
              <a:effectLst>
                <a:softEdge rad="508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80000" tIns="90000" rIns="180000" bIns="90000" rtlCol="0">
                <a:spAutoFit/>
              </a:bodyPr>
              <a:lstStyle/>
              <a:p>
                <a:pPr algn="ctr"/>
                <a:r>
                  <a:rPr lang="pl-PL" sz="1000" dirty="0" err="1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Business Rule</a:t>
                </a:r>
                <a:endParaRPr lang="pl-PL" sz="10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0" name="Grupa 19">
                <a:extLst>
                  <a:ext uri="{FF2B5EF4-FFF2-40B4-BE49-F238E27FC236}">
                    <a16:creationId xmlns:a16="http://schemas.microsoft.com/office/drawing/2014/main" id="{59D6972F-99A0-FC08-D187-D85C7A08DF0D}"/>
                  </a:ext>
                </a:extLst>
              </p:cNvPr>
              <p:cNvGrpSpPr/>
              <p:nvPr/>
            </p:nvGrpSpPr>
            <p:grpSpPr>
              <a:xfrm>
                <a:off x="3112810" y="1902494"/>
                <a:ext cx="722589" cy="916041"/>
                <a:chOff x="5831013" y="2576340"/>
                <a:chExt cx="722589" cy="916041"/>
              </a:xfrm>
            </p:grpSpPr>
            <p:sp>
              <p:nvSpPr>
                <p:cNvPr id="21" name="Freeform 123">
                  <a:extLst>
                    <a:ext uri="{FF2B5EF4-FFF2-40B4-BE49-F238E27FC236}">
                      <a16:creationId xmlns:a16="http://schemas.microsoft.com/office/drawing/2014/main" id="{47AB1F95-D264-9012-6AE5-F356F084C75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39125" y="2576340"/>
                  <a:ext cx="578482" cy="580395"/>
                </a:xfrm>
                <a:custGeom>
                  <a:avLst/>
                  <a:gdLst>
                    <a:gd name="T0" fmla="*/ 529 w 676"/>
                    <a:gd name="T1" fmla="*/ 279 h 678"/>
                    <a:gd name="T2" fmla="*/ 431 w 676"/>
                    <a:gd name="T3" fmla="*/ 293 h 678"/>
                    <a:gd name="T4" fmla="*/ 409 w 676"/>
                    <a:gd name="T5" fmla="*/ 210 h 678"/>
                    <a:gd name="T6" fmla="*/ 367 w 676"/>
                    <a:gd name="T7" fmla="*/ 125 h 678"/>
                    <a:gd name="T8" fmla="*/ 401 w 676"/>
                    <a:gd name="T9" fmla="*/ 58 h 678"/>
                    <a:gd name="T10" fmla="*/ 504 w 676"/>
                    <a:gd name="T11" fmla="*/ 6 h 678"/>
                    <a:gd name="T12" fmla="*/ 579 w 676"/>
                    <a:gd name="T13" fmla="*/ 18 h 678"/>
                    <a:gd name="T14" fmla="*/ 659 w 676"/>
                    <a:gd name="T15" fmla="*/ 100 h 678"/>
                    <a:gd name="T16" fmla="*/ 676 w 676"/>
                    <a:gd name="T17" fmla="*/ 169 h 678"/>
                    <a:gd name="T18" fmla="*/ 605 w 676"/>
                    <a:gd name="T19" fmla="*/ 241 h 678"/>
                    <a:gd name="T20" fmla="*/ 558 w 676"/>
                    <a:gd name="T21" fmla="*/ 314 h 678"/>
                    <a:gd name="T22" fmla="*/ 539 w 676"/>
                    <a:gd name="T23" fmla="*/ 267 h 678"/>
                    <a:gd name="T24" fmla="*/ 590 w 676"/>
                    <a:gd name="T25" fmla="*/ 242 h 678"/>
                    <a:gd name="T26" fmla="*/ 626 w 676"/>
                    <a:gd name="T27" fmla="*/ 172 h 678"/>
                    <a:gd name="T28" fmla="*/ 655 w 676"/>
                    <a:gd name="T29" fmla="*/ 114 h 678"/>
                    <a:gd name="T30" fmla="*/ 566 w 676"/>
                    <a:gd name="T31" fmla="*/ 67 h 678"/>
                    <a:gd name="T32" fmla="*/ 517 w 676"/>
                    <a:gd name="T33" fmla="*/ 15 h 678"/>
                    <a:gd name="T34" fmla="*/ 500 w 676"/>
                    <a:gd name="T35" fmla="*/ 56 h 678"/>
                    <a:gd name="T36" fmla="*/ 401 w 676"/>
                    <a:gd name="T37" fmla="*/ 73 h 678"/>
                    <a:gd name="T38" fmla="*/ 413 w 676"/>
                    <a:gd name="T39" fmla="*/ 144 h 678"/>
                    <a:gd name="T40" fmla="*/ 422 w 676"/>
                    <a:gd name="T41" fmla="*/ 215 h 678"/>
                    <a:gd name="T42" fmla="*/ 463 w 676"/>
                    <a:gd name="T43" fmla="*/ 255 h 678"/>
                    <a:gd name="T44" fmla="*/ 532 w 676"/>
                    <a:gd name="T45" fmla="*/ 264 h 678"/>
                    <a:gd name="T46" fmla="*/ 478 w 676"/>
                    <a:gd name="T47" fmla="*/ 160 h 678"/>
                    <a:gd name="T48" fmla="*/ 517 w 676"/>
                    <a:gd name="T49" fmla="*/ 199 h 678"/>
                    <a:gd name="T50" fmla="*/ 517 w 676"/>
                    <a:gd name="T51" fmla="*/ 185 h 678"/>
                    <a:gd name="T52" fmla="*/ 258 w 676"/>
                    <a:gd name="T53" fmla="*/ 678 h 678"/>
                    <a:gd name="T54" fmla="*/ 233 w 676"/>
                    <a:gd name="T55" fmla="*/ 615 h 678"/>
                    <a:gd name="T56" fmla="*/ 105 w 676"/>
                    <a:gd name="T57" fmla="*/ 628 h 678"/>
                    <a:gd name="T58" fmla="*/ 90 w 676"/>
                    <a:gd name="T59" fmla="*/ 522 h 678"/>
                    <a:gd name="T60" fmla="*/ 0 w 676"/>
                    <a:gd name="T61" fmla="*/ 424 h 678"/>
                    <a:gd name="T62" fmla="*/ 14 w 676"/>
                    <a:gd name="T63" fmla="*/ 350 h 678"/>
                    <a:gd name="T64" fmla="*/ 91 w 676"/>
                    <a:gd name="T65" fmla="*/ 229 h 678"/>
                    <a:gd name="T66" fmla="*/ 159 w 676"/>
                    <a:gd name="T67" fmla="*/ 185 h 678"/>
                    <a:gd name="T68" fmla="*/ 276 w 676"/>
                    <a:gd name="T69" fmla="*/ 222 h 678"/>
                    <a:gd name="T70" fmla="*/ 378 w 676"/>
                    <a:gd name="T71" fmla="*/ 190 h 678"/>
                    <a:gd name="T72" fmla="*/ 423 w 676"/>
                    <a:gd name="T73" fmla="*/ 310 h 678"/>
                    <a:gd name="T74" fmla="*/ 513 w 676"/>
                    <a:gd name="T75" fmla="*/ 370 h 678"/>
                    <a:gd name="T76" fmla="*/ 456 w 676"/>
                    <a:gd name="T77" fmla="*/ 419 h 678"/>
                    <a:gd name="T78" fmla="*/ 494 w 676"/>
                    <a:gd name="T79" fmla="*/ 527 h 678"/>
                    <a:gd name="T80" fmla="*/ 393 w 676"/>
                    <a:gd name="T81" fmla="*/ 564 h 678"/>
                    <a:gd name="T82" fmla="*/ 325 w 676"/>
                    <a:gd name="T83" fmla="*/ 669 h 678"/>
                    <a:gd name="T84" fmla="*/ 165 w 676"/>
                    <a:gd name="T85" fmla="*/ 577 h 678"/>
                    <a:gd name="T86" fmla="*/ 261 w 676"/>
                    <a:gd name="T87" fmla="*/ 664 h 678"/>
                    <a:gd name="T88" fmla="*/ 323 w 676"/>
                    <a:gd name="T89" fmla="*/ 591 h 678"/>
                    <a:gd name="T90" fmla="*/ 449 w 676"/>
                    <a:gd name="T91" fmla="*/ 573 h 678"/>
                    <a:gd name="T92" fmla="*/ 432 w 676"/>
                    <a:gd name="T93" fmla="*/ 479 h 678"/>
                    <a:gd name="T94" fmla="*/ 445 w 676"/>
                    <a:gd name="T95" fmla="*/ 396 h 678"/>
                    <a:gd name="T96" fmla="*/ 421 w 676"/>
                    <a:gd name="T97" fmla="*/ 325 h 678"/>
                    <a:gd name="T98" fmla="*/ 356 w 676"/>
                    <a:gd name="T99" fmla="*/ 258 h 678"/>
                    <a:gd name="T100" fmla="*/ 286 w 676"/>
                    <a:gd name="T101" fmla="*/ 233 h 678"/>
                    <a:gd name="T102" fmla="*/ 199 w 676"/>
                    <a:gd name="T103" fmla="*/ 245 h 678"/>
                    <a:gd name="T104" fmla="*/ 106 w 676"/>
                    <a:gd name="T105" fmla="*/ 228 h 678"/>
                    <a:gd name="T106" fmla="*/ 85 w 676"/>
                    <a:gd name="T107" fmla="*/ 357 h 678"/>
                    <a:gd name="T108" fmla="*/ 14 w 676"/>
                    <a:gd name="T109" fmla="*/ 419 h 678"/>
                    <a:gd name="T110" fmla="*/ 104 w 676"/>
                    <a:gd name="T111" fmla="*/ 519 h 678"/>
                    <a:gd name="T112" fmla="*/ 109 w 676"/>
                    <a:gd name="T113" fmla="*/ 613 h 678"/>
                    <a:gd name="T114" fmla="*/ 258 w 676"/>
                    <a:gd name="T115" fmla="*/ 484 h 678"/>
                    <a:gd name="T116" fmla="*/ 323 w 676"/>
                    <a:gd name="T117" fmla="*/ 419 h 678"/>
                    <a:gd name="T118" fmla="*/ 207 w 676"/>
                    <a:gd name="T119" fmla="*/ 419 h 678"/>
                    <a:gd name="T120" fmla="*/ 258 w 676"/>
                    <a:gd name="T121" fmla="*/ 368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76" h="678">
                      <a:moveTo>
                        <a:pt x="556" y="314"/>
                      </a:moveTo>
                      <a:cubicBezTo>
                        <a:pt x="554" y="314"/>
                        <a:pt x="551" y="313"/>
                        <a:pt x="550" y="311"/>
                      </a:cubicBezTo>
                      <a:cubicBezTo>
                        <a:pt x="529" y="279"/>
                        <a:pt x="529" y="279"/>
                        <a:pt x="529" y="279"/>
                      </a:cubicBezTo>
                      <a:cubicBezTo>
                        <a:pt x="508" y="281"/>
                        <a:pt x="488" y="277"/>
                        <a:pt x="468" y="269"/>
                      </a:cubicBezTo>
                      <a:cubicBezTo>
                        <a:pt x="439" y="293"/>
                        <a:pt x="439" y="293"/>
                        <a:pt x="439" y="293"/>
                      </a:cubicBezTo>
                      <a:cubicBezTo>
                        <a:pt x="437" y="295"/>
                        <a:pt x="433" y="295"/>
                        <a:pt x="431" y="293"/>
                      </a:cubicBezTo>
                      <a:cubicBezTo>
                        <a:pt x="412" y="281"/>
                        <a:pt x="397" y="266"/>
                        <a:pt x="385" y="248"/>
                      </a:cubicBezTo>
                      <a:cubicBezTo>
                        <a:pt x="383" y="245"/>
                        <a:pt x="383" y="242"/>
                        <a:pt x="385" y="239"/>
                      </a:cubicBezTo>
                      <a:cubicBezTo>
                        <a:pt x="409" y="210"/>
                        <a:pt x="409" y="210"/>
                        <a:pt x="409" y="210"/>
                      </a:cubicBezTo>
                      <a:cubicBezTo>
                        <a:pt x="401" y="194"/>
                        <a:pt x="398" y="177"/>
                        <a:pt x="398" y="160"/>
                      </a:cubicBezTo>
                      <a:cubicBezTo>
                        <a:pt x="398" y="155"/>
                        <a:pt x="398" y="151"/>
                        <a:pt x="398" y="146"/>
                      </a:cubicBezTo>
                      <a:cubicBezTo>
                        <a:pt x="367" y="125"/>
                        <a:pt x="367" y="125"/>
                        <a:pt x="367" y="125"/>
                      </a:cubicBezTo>
                      <a:cubicBezTo>
                        <a:pt x="364" y="124"/>
                        <a:pt x="363" y="120"/>
                        <a:pt x="364" y="117"/>
                      </a:cubicBezTo>
                      <a:cubicBezTo>
                        <a:pt x="370" y="96"/>
                        <a:pt x="380" y="77"/>
                        <a:pt x="393" y="60"/>
                      </a:cubicBezTo>
                      <a:cubicBezTo>
                        <a:pt x="395" y="57"/>
                        <a:pt x="399" y="57"/>
                        <a:pt x="401" y="58"/>
                      </a:cubicBezTo>
                      <a:cubicBezTo>
                        <a:pt x="437" y="71"/>
                        <a:pt x="437" y="71"/>
                        <a:pt x="437" y="71"/>
                      </a:cubicBezTo>
                      <a:cubicBezTo>
                        <a:pt x="453" y="57"/>
                        <a:pt x="472" y="47"/>
                        <a:pt x="494" y="43"/>
                      </a:cubicBezTo>
                      <a:cubicBezTo>
                        <a:pt x="504" y="6"/>
                        <a:pt x="504" y="6"/>
                        <a:pt x="504" y="6"/>
                      </a:cubicBezTo>
                      <a:cubicBezTo>
                        <a:pt x="505" y="3"/>
                        <a:pt x="507" y="1"/>
                        <a:pt x="510" y="1"/>
                      </a:cubicBezTo>
                      <a:cubicBezTo>
                        <a:pt x="532" y="0"/>
                        <a:pt x="554" y="4"/>
                        <a:pt x="574" y="11"/>
                      </a:cubicBezTo>
                      <a:cubicBezTo>
                        <a:pt x="577" y="12"/>
                        <a:pt x="579" y="15"/>
                        <a:pt x="579" y="18"/>
                      </a:cubicBezTo>
                      <a:cubicBezTo>
                        <a:pt x="577" y="56"/>
                        <a:pt x="577" y="56"/>
                        <a:pt x="577" y="56"/>
                      </a:cubicBezTo>
                      <a:cubicBezTo>
                        <a:pt x="596" y="67"/>
                        <a:pt x="611" y="83"/>
                        <a:pt x="621" y="102"/>
                      </a:cubicBezTo>
                      <a:cubicBezTo>
                        <a:pt x="659" y="100"/>
                        <a:pt x="659" y="100"/>
                        <a:pt x="659" y="100"/>
                      </a:cubicBezTo>
                      <a:cubicBezTo>
                        <a:pt x="662" y="100"/>
                        <a:pt x="665" y="102"/>
                        <a:pt x="666" y="105"/>
                      </a:cubicBezTo>
                      <a:cubicBezTo>
                        <a:pt x="673" y="122"/>
                        <a:pt x="676" y="141"/>
                        <a:pt x="676" y="160"/>
                      </a:cubicBezTo>
                      <a:cubicBezTo>
                        <a:pt x="676" y="163"/>
                        <a:pt x="676" y="166"/>
                        <a:pt x="676" y="169"/>
                      </a:cubicBezTo>
                      <a:cubicBezTo>
                        <a:pt x="676" y="172"/>
                        <a:pt x="674" y="174"/>
                        <a:pt x="671" y="175"/>
                      </a:cubicBezTo>
                      <a:cubicBezTo>
                        <a:pt x="634" y="185"/>
                        <a:pt x="634" y="185"/>
                        <a:pt x="634" y="185"/>
                      </a:cubicBezTo>
                      <a:cubicBezTo>
                        <a:pt x="629" y="206"/>
                        <a:pt x="619" y="225"/>
                        <a:pt x="605" y="241"/>
                      </a:cubicBezTo>
                      <a:cubicBezTo>
                        <a:pt x="618" y="277"/>
                        <a:pt x="618" y="277"/>
                        <a:pt x="618" y="277"/>
                      </a:cubicBezTo>
                      <a:cubicBezTo>
                        <a:pt x="619" y="279"/>
                        <a:pt x="618" y="283"/>
                        <a:pt x="616" y="284"/>
                      </a:cubicBezTo>
                      <a:cubicBezTo>
                        <a:pt x="598" y="298"/>
                        <a:pt x="579" y="308"/>
                        <a:pt x="558" y="314"/>
                      </a:cubicBezTo>
                      <a:cubicBezTo>
                        <a:pt x="557" y="314"/>
                        <a:pt x="557" y="314"/>
                        <a:pt x="556" y="314"/>
                      </a:cubicBezTo>
                      <a:close/>
                      <a:moveTo>
                        <a:pt x="533" y="264"/>
                      </a:moveTo>
                      <a:cubicBezTo>
                        <a:pt x="535" y="264"/>
                        <a:pt x="538" y="265"/>
                        <a:pt x="539" y="267"/>
                      </a:cubicBezTo>
                      <a:cubicBezTo>
                        <a:pt x="559" y="299"/>
                        <a:pt x="559" y="299"/>
                        <a:pt x="559" y="299"/>
                      </a:cubicBezTo>
                      <a:cubicBezTo>
                        <a:pt x="575" y="294"/>
                        <a:pt x="590" y="286"/>
                        <a:pt x="603" y="277"/>
                      </a:cubicBezTo>
                      <a:cubicBezTo>
                        <a:pt x="590" y="242"/>
                        <a:pt x="590" y="242"/>
                        <a:pt x="590" y="242"/>
                      </a:cubicBezTo>
                      <a:cubicBezTo>
                        <a:pt x="589" y="239"/>
                        <a:pt x="590" y="236"/>
                        <a:pt x="592" y="234"/>
                      </a:cubicBezTo>
                      <a:cubicBezTo>
                        <a:pt x="607" y="219"/>
                        <a:pt x="617" y="199"/>
                        <a:pt x="621" y="178"/>
                      </a:cubicBezTo>
                      <a:cubicBezTo>
                        <a:pt x="621" y="175"/>
                        <a:pt x="623" y="173"/>
                        <a:pt x="626" y="172"/>
                      </a:cubicBezTo>
                      <a:cubicBezTo>
                        <a:pt x="662" y="163"/>
                        <a:pt x="662" y="163"/>
                        <a:pt x="662" y="163"/>
                      </a:cubicBezTo>
                      <a:cubicBezTo>
                        <a:pt x="662" y="162"/>
                        <a:pt x="662" y="161"/>
                        <a:pt x="662" y="160"/>
                      </a:cubicBezTo>
                      <a:cubicBezTo>
                        <a:pt x="662" y="144"/>
                        <a:pt x="660" y="129"/>
                        <a:pt x="655" y="114"/>
                      </a:cubicBezTo>
                      <a:cubicBezTo>
                        <a:pt x="618" y="116"/>
                        <a:pt x="618" y="116"/>
                        <a:pt x="618" y="116"/>
                      </a:cubicBezTo>
                      <a:cubicBezTo>
                        <a:pt x="615" y="116"/>
                        <a:pt x="612" y="114"/>
                        <a:pt x="611" y="112"/>
                      </a:cubicBezTo>
                      <a:cubicBezTo>
                        <a:pt x="601" y="92"/>
                        <a:pt x="586" y="77"/>
                        <a:pt x="566" y="67"/>
                      </a:cubicBezTo>
                      <a:cubicBezTo>
                        <a:pt x="564" y="65"/>
                        <a:pt x="562" y="63"/>
                        <a:pt x="563" y="60"/>
                      </a:cubicBezTo>
                      <a:cubicBezTo>
                        <a:pt x="565" y="23"/>
                        <a:pt x="565" y="23"/>
                        <a:pt x="565" y="23"/>
                      </a:cubicBezTo>
                      <a:cubicBezTo>
                        <a:pt x="549" y="17"/>
                        <a:pt x="533" y="15"/>
                        <a:pt x="517" y="15"/>
                      </a:cubicBezTo>
                      <a:cubicBezTo>
                        <a:pt x="517" y="15"/>
                        <a:pt x="516" y="15"/>
                        <a:pt x="516" y="15"/>
                      </a:cubicBezTo>
                      <a:cubicBezTo>
                        <a:pt x="506" y="51"/>
                        <a:pt x="506" y="51"/>
                        <a:pt x="506" y="51"/>
                      </a:cubicBezTo>
                      <a:cubicBezTo>
                        <a:pt x="505" y="53"/>
                        <a:pt x="503" y="55"/>
                        <a:pt x="500" y="56"/>
                      </a:cubicBezTo>
                      <a:cubicBezTo>
                        <a:pt x="479" y="59"/>
                        <a:pt x="459" y="69"/>
                        <a:pt x="443" y="84"/>
                      </a:cubicBezTo>
                      <a:cubicBezTo>
                        <a:pt x="442" y="86"/>
                        <a:pt x="439" y="87"/>
                        <a:pt x="436" y="86"/>
                      </a:cubicBezTo>
                      <a:cubicBezTo>
                        <a:pt x="401" y="73"/>
                        <a:pt x="401" y="73"/>
                        <a:pt x="401" y="73"/>
                      </a:cubicBezTo>
                      <a:cubicBezTo>
                        <a:pt x="391" y="86"/>
                        <a:pt x="384" y="101"/>
                        <a:pt x="379" y="116"/>
                      </a:cubicBezTo>
                      <a:cubicBezTo>
                        <a:pt x="410" y="137"/>
                        <a:pt x="410" y="137"/>
                        <a:pt x="410" y="137"/>
                      </a:cubicBezTo>
                      <a:cubicBezTo>
                        <a:pt x="412" y="138"/>
                        <a:pt x="413" y="141"/>
                        <a:pt x="413" y="144"/>
                      </a:cubicBezTo>
                      <a:cubicBezTo>
                        <a:pt x="412" y="149"/>
                        <a:pt x="412" y="154"/>
                        <a:pt x="412" y="160"/>
                      </a:cubicBezTo>
                      <a:cubicBezTo>
                        <a:pt x="412" y="176"/>
                        <a:pt x="415" y="193"/>
                        <a:pt x="423" y="207"/>
                      </a:cubicBezTo>
                      <a:cubicBezTo>
                        <a:pt x="424" y="210"/>
                        <a:pt x="424" y="213"/>
                        <a:pt x="422" y="215"/>
                      </a:cubicBezTo>
                      <a:cubicBezTo>
                        <a:pt x="399" y="244"/>
                        <a:pt x="399" y="244"/>
                        <a:pt x="399" y="244"/>
                      </a:cubicBezTo>
                      <a:cubicBezTo>
                        <a:pt x="409" y="258"/>
                        <a:pt x="421" y="269"/>
                        <a:pt x="434" y="279"/>
                      </a:cubicBezTo>
                      <a:cubicBezTo>
                        <a:pt x="463" y="255"/>
                        <a:pt x="463" y="255"/>
                        <a:pt x="463" y="255"/>
                      </a:cubicBezTo>
                      <a:cubicBezTo>
                        <a:pt x="465" y="254"/>
                        <a:pt x="468" y="253"/>
                        <a:pt x="471" y="254"/>
                      </a:cubicBezTo>
                      <a:cubicBezTo>
                        <a:pt x="485" y="262"/>
                        <a:pt x="501" y="265"/>
                        <a:pt x="517" y="265"/>
                      </a:cubicBezTo>
                      <a:cubicBezTo>
                        <a:pt x="522" y="265"/>
                        <a:pt x="527" y="265"/>
                        <a:pt x="532" y="264"/>
                      </a:cubicBezTo>
                      <a:cubicBezTo>
                        <a:pt x="532" y="264"/>
                        <a:pt x="533" y="264"/>
                        <a:pt x="533" y="264"/>
                      </a:cubicBezTo>
                      <a:close/>
                      <a:moveTo>
                        <a:pt x="517" y="199"/>
                      </a:moveTo>
                      <a:cubicBezTo>
                        <a:pt x="496" y="199"/>
                        <a:pt x="478" y="181"/>
                        <a:pt x="478" y="160"/>
                      </a:cubicBezTo>
                      <a:cubicBezTo>
                        <a:pt x="478" y="138"/>
                        <a:pt x="496" y="121"/>
                        <a:pt x="517" y="121"/>
                      </a:cubicBezTo>
                      <a:cubicBezTo>
                        <a:pt x="539" y="121"/>
                        <a:pt x="556" y="138"/>
                        <a:pt x="556" y="160"/>
                      </a:cubicBezTo>
                      <a:cubicBezTo>
                        <a:pt x="556" y="181"/>
                        <a:pt x="539" y="199"/>
                        <a:pt x="517" y="199"/>
                      </a:cubicBezTo>
                      <a:close/>
                      <a:moveTo>
                        <a:pt x="517" y="135"/>
                      </a:moveTo>
                      <a:cubicBezTo>
                        <a:pt x="503" y="135"/>
                        <a:pt x="492" y="146"/>
                        <a:pt x="492" y="160"/>
                      </a:cubicBezTo>
                      <a:cubicBezTo>
                        <a:pt x="492" y="174"/>
                        <a:pt x="503" y="185"/>
                        <a:pt x="517" y="185"/>
                      </a:cubicBezTo>
                      <a:cubicBezTo>
                        <a:pt x="531" y="185"/>
                        <a:pt x="542" y="174"/>
                        <a:pt x="542" y="160"/>
                      </a:cubicBezTo>
                      <a:cubicBezTo>
                        <a:pt x="542" y="146"/>
                        <a:pt x="531" y="135"/>
                        <a:pt x="517" y="135"/>
                      </a:cubicBezTo>
                      <a:close/>
                      <a:moveTo>
                        <a:pt x="258" y="678"/>
                      </a:moveTo>
                      <a:cubicBezTo>
                        <a:pt x="256" y="678"/>
                        <a:pt x="256" y="678"/>
                        <a:pt x="256" y="678"/>
                      </a:cubicBezTo>
                      <a:cubicBezTo>
                        <a:pt x="252" y="678"/>
                        <a:pt x="250" y="676"/>
                        <a:pt x="249" y="673"/>
                      </a:cubicBezTo>
                      <a:cubicBezTo>
                        <a:pt x="233" y="615"/>
                        <a:pt x="233" y="615"/>
                        <a:pt x="233" y="615"/>
                      </a:cubicBezTo>
                      <a:cubicBezTo>
                        <a:pt x="208" y="612"/>
                        <a:pt x="184" y="604"/>
                        <a:pt x="162" y="592"/>
                      </a:cubicBezTo>
                      <a:cubicBezTo>
                        <a:pt x="113" y="628"/>
                        <a:pt x="113" y="628"/>
                        <a:pt x="113" y="628"/>
                      </a:cubicBezTo>
                      <a:cubicBezTo>
                        <a:pt x="111" y="630"/>
                        <a:pt x="108" y="630"/>
                        <a:pt x="105" y="628"/>
                      </a:cubicBezTo>
                      <a:cubicBezTo>
                        <a:pt x="86" y="614"/>
                        <a:pt x="69" y="598"/>
                        <a:pt x="55" y="579"/>
                      </a:cubicBezTo>
                      <a:cubicBezTo>
                        <a:pt x="53" y="577"/>
                        <a:pt x="53" y="574"/>
                        <a:pt x="55" y="571"/>
                      </a:cubicBezTo>
                      <a:cubicBezTo>
                        <a:pt x="90" y="522"/>
                        <a:pt x="90" y="522"/>
                        <a:pt x="90" y="522"/>
                      </a:cubicBezTo>
                      <a:cubicBezTo>
                        <a:pt x="75" y="499"/>
                        <a:pt x="66" y="474"/>
                        <a:pt x="62" y="447"/>
                      </a:cubicBezTo>
                      <a:cubicBezTo>
                        <a:pt x="5" y="431"/>
                        <a:pt x="5" y="431"/>
                        <a:pt x="5" y="431"/>
                      </a:cubicBezTo>
                      <a:cubicBezTo>
                        <a:pt x="2" y="430"/>
                        <a:pt x="0" y="427"/>
                        <a:pt x="0" y="424"/>
                      </a:cubicBezTo>
                      <a:cubicBezTo>
                        <a:pt x="0" y="423"/>
                        <a:pt x="0" y="421"/>
                        <a:pt x="0" y="419"/>
                      </a:cubicBezTo>
                      <a:cubicBezTo>
                        <a:pt x="0" y="398"/>
                        <a:pt x="2" y="376"/>
                        <a:pt x="8" y="355"/>
                      </a:cubicBezTo>
                      <a:cubicBezTo>
                        <a:pt x="8" y="352"/>
                        <a:pt x="11" y="350"/>
                        <a:pt x="14" y="350"/>
                      </a:cubicBezTo>
                      <a:cubicBezTo>
                        <a:pt x="74" y="348"/>
                        <a:pt x="74" y="348"/>
                        <a:pt x="74" y="348"/>
                      </a:cubicBezTo>
                      <a:cubicBezTo>
                        <a:pt x="83" y="324"/>
                        <a:pt x="97" y="302"/>
                        <a:pt x="114" y="283"/>
                      </a:cubicBezTo>
                      <a:cubicBezTo>
                        <a:pt x="91" y="229"/>
                        <a:pt x="91" y="229"/>
                        <a:pt x="91" y="229"/>
                      </a:cubicBezTo>
                      <a:cubicBezTo>
                        <a:pt x="89" y="226"/>
                        <a:pt x="90" y="223"/>
                        <a:pt x="93" y="221"/>
                      </a:cubicBezTo>
                      <a:cubicBezTo>
                        <a:pt x="110" y="206"/>
                        <a:pt x="130" y="193"/>
                        <a:pt x="151" y="184"/>
                      </a:cubicBezTo>
                      <a:cubicBezTo>
                        <a:pt x="154" y="182"/>
                        <a:pt x="157" y="183"/>
                        <a:pt x="159" y="185"/>
                      </a:cubicBezTo>
                      <a:cubicBezTo>
                        <a:pt x="199" y="230"/>
                        <a:pt x="199" y="230"/>
                        <a:pt x="199" y="230"/>
                      </a:cubicBezTo>
                      <a:cubicBezTo>
                        <a:pt x="218" y="224"/>
                        <a:pt x="238" y="221"/>
                        <a:pt x="258" y="221"/>
                      </a:cubicBezTo>
                      <a:cubicBezTo>
                        <a:pt x="264" y="221"/>
                        <a:pt x="270" y="222"/>
                        <a:pt x="276" y="222"/>
                      </a:cubicBezTo>
                      <a:cubicBezTo>
                        <a:pt x="304" y="170"/>
                        <a:pt x="304" y="170"/>
                        <a:pt x="304" y="170"/>
                      </a:cubicBezTo>
                      <a:cubicBezTo>
                        <a:pt x="306" y="167"/>
                        <a:pt x="309" y="165"/>
                        <a:pt x="312" y="166"/>
                      </a:cubicBezTo>
                      <a:cubicBezTo>
                        <a:pt x="335" y="171"/>
                        <a:pt x="357" y="179"/>
                        <a:pt x="378" y="190"/>
                      </a:cubicBezTo>
                      <a:cubicBezTo>
                        <a:pt x="380" y="191"/>
                        <a:pt x="382" y="194"/>
                        <a:pt x="381" y="197"/>
                      </a:cubicBezTo>
                      <a:cubicBezTo>
                        <a:pt x="371" y="256"/>
                        <a:pt x="371" y="256"/>
                        <a:pt x="371" y="256"/>
                      </a:cubicBezTo>
                      <a:cubicBezTo>
                        <a:pt x="391" y="271"/>
                        <a:pt x="410" y="289"/>
                        <a:pt x="423" y="310"/>
                      </a:cubicBezTo>
                      <a:cubicBezTo>
                        <a:pt x="482" y="300"/>
                        <a:pt x="482" y="300"/>
                        <a:pt x="482" y="300"/>
                      </a:cubicBezTo>
                      <a:cubicBezTo>
                        <a:pt x="485" y="299"/>
                        <a:pt x="489" y="301"/>
                        <a:pt x="490" y="303"/>
                      </a:cubicBezTo>
                      <a:cubicBezTo>
                        <a:pt x="500" y="325"/>
                        <a:pt x="508" y="347"/>
                        <a:pt x="513" y="370"/>
                      </a:cubicBezTo>
                      <a:cubicBezTo>
                        <a:pt x="513" y="373"/>
                        <a:pt x="512" y="376"/>
                        <a:pt x="509" y="378"/>
                      </a:cubicBezTo>
                      <a:cubicBezTo>
                        <a:pt x="456" y="406"/>
                        <a:pt x="456" y="406"/>
                        <a:pt x="456" y="406"/>
                      </a:cubicBezTo>
                      <a:cubicBezTo>
                        <a:pt x="456" y="410"/>
                        <a:pt x="456" y="415"/>
                        <a:pt x="456" y="419"/>
                      </a:cubicBezTo>
                      <a:cubicBezTo>
                        <a:pt x="456" y="439"/>
                        <a:pt x="453" y="459"/>
                        <a:pt x="447" y="479"/>
                      </a:cubicBezTo>
                      <a:cubicBezTo>
                        <a:pt x="492" y="519"/>
                        <a:pt x="492" y="519"/>
                        <a:pt x="492" y="519"/>
                      </a:cubicBezTo>
                      <a:cubicBezTo>
                        <a:pt x="494" y="521"/>
                        <a:pt x="495" y="524"/>
                        <a:pt x="494" y="527"/>
                      </a:cubicBezTo>
                      <a:cubicBezTo>
                        <a:pt x="484" y="548"/>
                        <a:pt x="471" y="568"/>
                        <a:pt x="456" y="586"/>
                      </a:cubicBezTo>
                      <a:cubicBezTo>
                        <a:pt x="454" y="589"/>
                        <a:pt x="451" y="589"/>
                        <a:pt x="448" y="588"/>
                      </a:cubicBezTo>
                      <a:cubicBezTo>
                        <a:pt x="393" y="564"/>
                        <a:pt x="393" y="564"/>
                        <a:pt x="393" y="564"/>
                      </a:cubicBezTo>
                      <a:cubicBezTo>
                        <a:pt x="375" y="581"/>
                        <a:pt x="355" y="594"/>
                        <a:pt x="333" y="603"/>
                      </a:cubicBezTo>
                      <a:cubicBezTo>
                        <a:pt x="330" y="663"/>
                        <a:pt x="330" y="663"/>
                        <a:pt x="330" y="663"/>
                      </a:cubicBezTo>
                      <a:cubicBezTo>
                        <a:pt x="330" y="666"/>
                        <a:pt x="328" y="669"/>
                        <a:pt x="325" y="669"/>
                      </a:cubicBezTo>
                      <a:cubicBezTo>
                        <a:pt x="303" y="675"/>
                        <a:pt x="281" y="678"/>
                        <a:pt x="258" y="678"/>
                      </a:cubicBezTo>
                      <a:close/>
                      <a:moveTo>
                        <a:pt x="161" y="576"/>
                      </a:moveTo>
                      <a:cubicBezTo>
                        <a:pt x="162" y="576"/>
                        <a:pt x="164" y="577"/>
                        <a:pt x="165" y="577"/>
                      </a:cubicBezTo>
                      <a:cubicBezTo>
                        <a:pt x="188" y="591"/>
                        <a:pt x="213" y="599"/>
                        <a:pt x="239" y="602"/>
                      </a:cubicBezTo>
                      <a:cubicBezTo>
                        <a:pt x="242" y="602"/>
                        <a:pt x="244" y="604"/>
                        <a:pt x="245" y="607"/>
                      </a:cubicBezTo>
                      <a:cubicBezTo>
                        <a:pt x="261" y="664"/>
                        <a:pt x="261" y="664"/>
                        <a:pt x="261" y="664"/>
                      </a:cubicBezTo>
                      <a:cubicBezTo>
                        <a:pt x="280" y="664"/>
                        <a:pt x="298" y="661"/>
                        <a:pt x="316" y="657"/>
                      </a:cubicBezTo>
                      <a:cubicBezTo>
                        <a:pt x="319" y="598"/>
                        <a:pt x="319" y="598"/>
                        <a:pt x="319" y="598"/>
                      </a:cubicBezTo>
                      <a:cubicBezTo>
                        <a:pt x="319" y="595"/>
                        <a:pt x="321" y="592"/>
                        <a:pt x="323" y="591"/>
                      </a:cubicBezTo>
                      <a:cubicBezTo>
                        <a:pt x="347" y="582"/>
                        <a:pt x="368" y="569"/>
                        <a:pt x="387" y="551"/>
                      </a:cubicBezTo>
                      <a:cubicBezTo>
                        <a:pt x="389" y="549"/>
                        <a:pt x="392" y="548"/>
                        <a:pt x="394" y="549"/>
                      </a:cubicBezTo>
                      <a:cubicBezTo>
                        <a:pt x="449" y="573"/>
                        <a:pt x="449" y="573"/>
                        <a:pt x="449" y="573"/>
                      </a:cubicBezTo>
                      <a:cubicBezTo>
                        <a:pt x="461" y="558"/>
                        <a:pt x="471" y="542"/>
                        <a:pt x="479" y="526"/>
                      </a:cubicBezTo>
                      <a:cubicBezTo>
                        <a:pt x="434" y="486"/>
                        <a:pt x="434" y="486"/>
                        <a:pt x="434" y="486"/>
                      </a:cubicBezTo>
                      <a:cubicBezTo>
                        <a:pt x="432" y="484"/>
                        <a:pt x="431" y="481"/>
                        <a:pt x="432" y="479"/>
                      </a:cubicBezTo>
                      <a:cubicBezTo>
                        <a:pt x="439" y="459"/>
                        <a:pt x="442" y="439"/>
                        <a:pt x="442" y="419"/>
                      </a:cubicBezTo>
                      <a:cubicBezTo>
                        <a:pt x="442" y="414"/>
                        <a:pt x="442" y="408"/>
                        <a:pt x="441" y="402"/>
                      </a:cubicBezTo>
                      <a:cubicBezTo>
                        <a:pt x="441" y="400"/>
                        <a:pt x="443" y="397"/>
                        <a:pt x="445" y="396"/>
                      </a:cubicBezTo>
                      <a:cubicBezTo>
                        <a:pt x="498" y="368"/>
                        <a:pt x="498" y="368"/>
                        <a:pt x="498" y="368"/>
                      </a:cubicBezTo>
                      <a:cubicBezTo>
                        <a:pt x="494" y="349"/>
                        <a:pt x="488" y="331"/>
                        <a:pt x="480" y="314"/>
                      </a:cubicBezTo>
                      <a:cubicBezTo>
                        <a:pt x="421" y="325"/>
                        <a:pt x="421" y="325"/>
                        <a:pt x="421" y="325"/>
                      </a:cubicBezTo>
                      <a:cubicBezTo>
                        <a:pt x="419" y="325"/>
                        <a:pt x="416" y="324"/>
                        <a:pt x="414" y="322"/>
                      </a:cubicBezTo>
                      <a:cubicBezTo>
                        <a:pt x="400" y="299"/>
                        <a:pt x="381" y="280"/>
                        <a:pt x="359" y="265"/>
                      </a:cubicBezTo>
                      <a:cubicBezTo>
                        <a:pt x="357" y="264"/>
                        <a:pt x="356" y="261"/>
                        <a:pt x="356" y="258"/>
                      </a:cubicBezTo>
                      <a:cubicBezTo>
                        <a:pt x="367" y="200"/>
                        <a:pt x="367" y="200"/>
                        <a:pt x="367" y="200"/>
                      </a:cubicBezTo>
                      <a:cubicBezTo>
                        <a:pt x="350" y="191"/>
                        <a:pt x="332" y="185"/>
                        <a:pt x="314" y="181"/>
                      </a:cubicBezTo>
                      <a:cubicBezTo>
                        <a:pt x="286" y="233"/>
                        <a:pt x="286" y="233"/>
                        <a:pt x="286" y="233"/>
                      </a:cubicBezTo>
                      <a:cubicBezTo>
                        <a:pt x="285" y="235"/>
                        <a:pt x="282" y="237"/>
                        <a:pt x="279" y="237"/>
                      </a:cubicBezTo>
                      <a:cubicBezTo>
                        <a:pt x="272" y="236"/>
                        <a:pt x="265" y="235"/>
                        <a:pt x="258" y="235"/>
                      </a:cubicBezTo>
                      <a:cubicBezTo>
                        <a:pt x="238" y="235"/>
                        <a:pt x="218" y="239"/>
                        <a:pt x="199" y="245"/>
                      </a:cubicBezTo>
                      <a:cubicBezTo>
                        <a:pt x="197" y="246"/>
                        <a:pt x="194" y="245"/>
                        <a:pt x="192" y="243"/>
                      </a:cubicBezTo>
                      <a:cubicBezTo>
                        <a:pt x="152" y="198"/>
                        <a:pt x="152" y="198"/>
                        <a:pt x="152" y="198"/>
                      </a:cubicBezTo>
                      <a:cubicBezTo>
                        <a:pt x="136" y="207"/>
                        <a:pt x="120" y="216"/>
                        <a:pt x="106" y="228"/>
                      </a:cubicBezTo>
                      <a:cubicBezTo>
                        <a:pt x="129" y="282"/>
                        <a:pt x="129" y="282"/>
                        <a:pt x="129" y="282"/>
                      </a:cubicBezTo>
                      <a:cubicBezTo>
                        <a:pt x="130" y="285"/>
                        <a:pt x="130" y="288"/>
                        <a:pt x="128" y="290"/>
                      </a:cubicBezTo>
                      <a:cubicBezTo>
                        <a:pt x="109" y="309"/>
                        <a:pt x="94" y="332"/>
                        <a:pt x="85" y="357"/>
                      </a:cubicBezTo>
                      <a:cubicBezTo>
                        <a:pt x="84" y="360"/>
                        <a:pt x="82" y="361"/>
                        <a:pt x="79" y="362"/>
                      </a:cubicBezTo>
                      <a:cubicBezTo>
                        <a:pt x="20" y="364"/>
                        <a:pt x="20" y="364"/>
                        <a:pt x="20" y="364"/>
                      </a:cubicBezTo>
                      <a:cubicBezTo>
                        <a:pt x="16" y="382"/>
                        <a:pt x="14" y="400"/>
                        <a:pt x="14" y="419"/>
                      </a:cubicBezTo>
                      <a:cubicBezTo>
                        <a:pt x="71" y="435"/>
                        <a:pt x="71" y="435"/>
                        <a:pt x="71" y="435"/>
                      </a:cubicBezTo>
                      <a:cubicBezTo>
                        <a:pt x="73" y="435"/>
                        <a:pt x="75" y="438"/>
                        <a:pt x="76" y="441"/>
                      </a:cubicBezTo>
                      <a:cubicBezTo>
                        <a:pt x="79" y="468"/>
                        <a:pt x="89" y="495"/>
                        <a:pt x="104" y="519"/>
                      </a:cubicBezTo>
                      <a:cubicBezTo>
                        <a:pt x="105" y="521"/>
                        <a:pt x="105" y="524"/>
                        <a:pt x="104" y="527"/>
                      </a:cubicBezTo>
                      <a:cubicBezTo>
                        <a:pt x="69" y="575"/>
                        <a:pt x="69" y="575"/>
                        <a:pt x="69" y="575"/>
                      </a:cubicBezTo>
                      <a:cubicBezTo>
                        <a:pt x="81" y="589"/>
                        <a:pt x="94" y="602"/>
                        <a:pt x="109" y="613"/>
                      </a:cubicBezTo>
                      <a:cubicBezTo>
                        <a:pt x="157" y="578"/>
                        <a:pt x="157" y="578"/>
                        <a:pt x="157" y="578"/>
                      </a:cubicBezTo>
                      <a:cubicBezTo>
                        <a:pt x="158" y="577"/>
                        <a:pt x="160" y="576"/>
                        <a:pt x="161" y="576"/>
                      </a:cubicBezTo>
                      <a:close/>
                      <a:moveTo>
                        <a:pt x="258" y="484"/>
                      </a:moveTo>
                      <a:cubicBezTo>
                        <a:pt x="223" y="484"/>
                        <a:pt x="193" y="455"/>
                        <a:pt x="193" y="419"/>
                      </a:cubicBezTo>
                      <a:cubicBezTo>
                        <a:pt x="193" y="383"/>
                        <a:pt x="223" y="354"/>
                        <a:pt x="258" y="354"/>
                      </a:cubicBezTo>
                      <a:cubicBezTo>
                        <a:pt x="294" y="354"/>
                        <a:pt x="323" y="383"/>
                        <a:pt x="323" y="419"/>
                      </a:cubicBezTo>
                      <a:cubicBezTo>
                        <a:pt x="323" y="455"/>
                        <a:pt x="294" y="484"/>
                        <a:pt x="258" y="484"/>
                      </a:cubicBezTo>
                      <a:close/>
                      <a:moveTo>
                        <a:pt x="258" y="368"/>
                      </a:moveTo>
                      <a:cubicBezTo>
                        <a:pt x="230" y="368"/>
                        <a:pt x="207" y="391"/>
                        <a:pt x="207" y="419"/>
                      </a:cubicBezTo>
                      <a:cubicBezTo>
                        <a:pt x="207" y="447"/>
                        <a:pt x="230" y="470"/>
                        <a:pt x="258" y="470"/>
                      </a:cubicBezTo>
                      <a:cubicBezTo>
                        <a:pt x="286" y="470"/>
                        <a:pt x="309" y="447"/>
                        <a:pt x="309" y="419"/>
                      </a:cubicBezTo>
                      <a:cubicBezTo>
                        <a:pt x="309" y="391"/>
                        <a:pt x="286" y="368"/>
                        <a:pt x="258" y="36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350"/>
                </a:p>
              </p:txBody>
            </p:sp>
            <p:sp>
              <p:nvSpPr>
                <p:cNvPr id="22" name="pole tekstowe 21">
                  <a:extLst>
                    <a:ext uri="{FF2B5EF4-FFF2-40B4-BE49-F238E27FC236}">
                      <a16:creationId xmlns:a16="http://schemas.microsoft.com/office/drawing/2014/main" id="{20BB4124-3C43-24B3-6027-4ECE15207BEE}"/>
                    </a:ext>
                  </a:extLst>
                </p:cNvPr>
                <p:cNvSpPr txBox="1"/>
                <p:nvPr/>
              </p:nvSpPr>
              <p:spPr>
                <a:xfrm>
                  <a:off x="5831013" y="3156735"/>
                  <a:ext cx="722589" cy="33564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softEdge rad="50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80000" tIns="90000" rIns="180000" bIns="90000" rtlCol="0">
                  <a:spAutoFit/>
                </a:bodyPr>
                <a:lstStyle/>
                <a:p>
                  <a:pPr algn="ctr"/>
                  <a:r>
                    <a:rPr lang="pl-PL" sz="1000" dirty="0" err="1">
                      <a:solidFill>
                        <a:schemeClr val="tx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Model</a:t>
                  </a:r>
                  <a:endParaRPr lang="pl-PL" sz="10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23" name="Grupa 22">
                <a:extLst>
                  <a:ext uri="{FF2B5EF4-FFF2-40B4-BE49-F238E27FC236}">
                    <a16:creationId xmlns:a16="http://schemas.microsoft.com/office/drawing/2014/main" id="{ADA9E004-541D-6D14-7E42-91FE3CCFE3CB}"/>
                  </a:ext>
                </a:extLst>
              </p:cNvPr>
              <p:cNvGrpSpPr/>
              <p:nvPr/>
            </p:nvGrpSpPr>
            <p:grpSpPr>
              <a:xfrm>
                <a:off x="1846210" y="1968545"/>
                <a:ext cx="862050" cy="854987"/>
                <a:chOff x="2368984" y="1266706"/>
                <a:chExt cx="862050" cy="854987"/>
              </a:xfrm>
            </p:grpSpPr>
            <p:sp>
              <p:nvSpPr>
                <p:cNvPr id="24" name="pole tekstowe 23">
                  <a:extLst>
                    <a:ext uri="{FF2B5EF4-FFF2-40B4-BE49-F238E27FC236}">
                      <a16:creationId xmlns:a16="http://schemas.microsoft.com/office/drawing/2014/main" id="{3CA26094-D9E1-6CF5-F6B8-147DC6950D9A}"/>
                    </a:ext>
                  </a:extLst>
                </p:cNvPr>
                <p:cNvSpPr txBox="1"/>
                <p:nvPr/>
              </p:nvSpPr>
              <p:spPr>
                <a:xfrm>
                  <a:off x="2368984" y="1786047"/>
                  <a:ext cx="862050" cy="33564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softEdge rad="50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80000" tIns="90000" rIns="180000" bIns="90000" rtlCol="0">
                  <a:spAutoFit/>
                </a:bodyPr>
                <a:lstStyle/>
                <a:p>
                  <a:pPr algn="ctr"/>
                  <a:r>
                    <a:rPr lang="pl-PL" sz="1000" dirty="0" err="1">
                      <a:solidFill>
                        <a:schemeClr val="tx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Features</a:t>
                  </a:r>
                  <a:endParaRPr lang="pl-PL" sz="1000" dirty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25" name="Freeform 145">
                  <a:extLst>
                    <a:ext uri="{FF2B5EF4-FFF2-40B4-BE49-F238E27FC236}">
                      <a16:creationId xmlns:a16="http://schemas.microsoft.com/office/drawing/2014/main" id="{CDAAB6A7-DAEF-82FC-BF07-49D1142438A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 rot="16200000">
                  <a:off x="2538504" y="1243448"/>
                  <a:ext cx="475886" cy="522401"/>
                </a:xfrm>
                <a:custGeom>
                  <a:avLst/>
                  <a:gdLst>
                    <a:gd name="T0" fmla="*/ 301 w 615"/>
                    <a:gd name="T1" fmla="*/ 7 h 675"/>
                    <a:gd name="T2" fmla="*/ 315 w 615"/>
                    <a:gd name="T3" fmla="*/ 7 h 675"/>
                    <a:gd name="T4" fmla="*/ 374 w 615"/>
                    <a:gd name="T5" fmla="*/ 140 h 675"/>
                    <a:gd name="T6" fmla="*/ 384 w 615"/>
                    <a:gd name="T7" fmla="*/ 150 h 675"/>
                    <a:gd name="T8" fmla="*/ 311 w 615"/>
                    <a:gd name="T9" fmla="*/ 223 h 675"/>
                    <a:gd name="T10" fmla="*/ 310 w 615"/>
                    <a:gd name="T11" fmla="*/ 223 h 675"/>
                    <a:gd name="T12" fmla="*/ 309 w 615"/>
                    <a:gd name="T13" fmla="*/ 224 h 675"/>
                    <a:gd name="T14" fmla="*/ 306 w 615"/>
                    <a:gd name="T15" fmla="*/ 224 h 675"/>
                    <a:gd name="T16" fmla="*/ 305 w 615"/>
                    <a:gd name="T17" fmla="*/ 223 h 675"/>
                    <a:gd name="T18" fmla="*/ 304 w 615"/>
                    <a:gd name="T19" fmla="*/ 223 h 675"/>
                    <a:gd name="T20" fmla="*/ 231 w 615"/>
                    <a:gd name="T21" fmla="*/ 150 h 675"/>
                    <a:gd name="T22" fmla="*/ 241 w 615"/>
                    <a:gd name="T23" fmla="*/ 140 h 675"/>
                    <a:gd name="T24" fmla="*/ 609 w 615"/>
                    <a:gd name="T25" fmla="*/ 197 h 675"/>
                    <a:gd name="T26" fmla="*/ 402 w 615"/>
                    <a:gd name="T27" fmla="*/ 524 h 675"/>
                    <a:gd name="T28" fmla="*/ 315 w 615"/>
                    <a:gd name="T29" fmla="*/ 546 h 675"/>
                    <a:gd name="T30" fmla="*/ 374 w 615"/>
                    <a:gd name="T31" fmla="*/ 591 h 675"/>
                    <a:gd name="T32" fmla="*/ 384 w 615"/>
                    <a:gd name="T33" fmla="*/ 601 h 675"/>
                    <a:gd name="T34" fmla="*/ 311 w 615"/>
                    <a:gd name="T35" fmla="*/ 673 h 675"/>
                    <a:gd name="T36" fmla="*/ 310 w 615"/>
                    <a:gd name="T37" fmla="*/ 674 h 675"/>
                    <a:gd name="T38" fmla="*/ 309 w 615"/>
                    <a:gd name="T39" fmla="*/ 675 h 675"/>
                    <a:gd name="T40" fmla="*/ 306 w 615"/>
                    <a:gd name="T41" fmla="*/ 675 h 675"/>
                    <a:gd name="T42" fmla="*/ 305 w 615"/>
                    <a:gd name="T43" fmla="*/ 674 h 675"/>
                    <a:gd name="T44" fmla="*/ 304 w 615"/>
                    <a:gd name="T45" fmla="*/ 673 h 675"/>
                    <a:gd name="T46" fmla="*/ 231 w 615"/>
                    <a:gd name="T47" fmla="*/ 601 h 675"/>
                    <a:gd name="T48" fmla="*/ 241 w 615"/>
                    <a:gd name="T49" fmla="*/ 591 h 675"/>
                    <a:gd name="T50" fmla="*/ 301 w 615"/>
                    <a:gd name="T51" fmla="*/ 546 h 675"/>
                    <a:gd name="T52" fmla="*/ 213 w 615"/>
                    <a:gd name="T53" fmla="*/ 524 h 675"/>
                    <a:gd name="T54" fmla="*/ 6 w 615"/>
                    <a:gd name="T55" fmla="*/ 197 h 675"/>
                    <a:gd name="T56" fmla="*/ 83 w 615"/>
                    <a:gd name="T57" fmla="*/ 123 h 675"/>
                    <a:gd name="T58" fmla="*/ 275 w 615"/>
                    <a:gd name="T59" fmla="*/ 98 h 675"/>
                    <a:gd name="T60" fmla="*/ 275 w 615"/>
                    <a:gd name="T61" fmla="*/ 112 h 675"/>
                    <a:gd name="T62" fmla="*/ 15 w 615"/>
                    <a:gd name="T63" fmla="*/ 182 h 675"/>
                    <a:gd name="T64" fmla="*/ 18 w 615"/>
                    <a:gd name="T65" fmla="*/ 191 h 675"/>
                    <a:gd name="T66" fmla="*/ 597 w 615"/>
                    <a:gd name="T67" fmla="*/ 191 h 675"/>
                    <a:gd name="T68" fmla="*/ 601 w 615"/>
                    <a:gd name="T69" fmla="*/ 182 h 675"/>
                    <a:gd name="T70" fmla="*/ 340 w 615"/>
                    <a:gd name="T71" fmla="*/ 112 h 675"/>
                    <a:gd name="T72" fmla="*/ 340 w 615"/>
                    <a:gd name="T73" fmla="*/ 98 h 675"/>
                    <a:gd name="T74" fmla="*/ 615 w 615"/>
                    <a:gd name="T75" fmla="*/ 180 h 675"/>
                    <a:gd name="T76" fmla="*/ 577 w 615"/>
                    <a:gd name="T77" fmla="*/ 221 h 675"/>
                    <a:gd name="T78" fmla="*/ 38 w 615"/>
                    <a:gd name="T79" fmla="*/ 221 h 675"/>
                    <a:gd name="T80" fmla="*/ 225 w 615"/>
                    <a:gd name="T81" fmla="*/ 516 h 675"/>
                    <a:gd name="T82" fmla="*/ 308 w 615"/>
                    <a:gd name="T83" fmla="*/ 532 h 675"/>
                    <a:gd name="T84" fmla="*/ 390 w 615"/>
                    <a:gd name="T85" fmla="*/ 516 h 675"/>
                    <a:gd name="T86" fmla="*/ 577 w 615"/>
                    <a:gd name="T87" fmla="*/ 221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615" h="675">
                      <a:moveTo>
                        <a:pt x="301" y="200"/>
                      </a:moveTo>
                      <a:cubicBezTo>
                        <a:pt x="301" y="7"/>
                        <a:pt x="301" y="7"/>
                        <a:pt x="301" y="7"/>
                      </a:cubicBezTo>
                      <a:cubicBezTo>
                        <a:pt x="301" y="3"/>
                        <a:pt x="304" y="0"/>
                        <a:pt x="308" y="0"/>
                      </a:cubicBezTo>
                      <a:cubicBezTo>
                        <a:pt x="311" y="0"/>
                        <a:pt x="315" y="3"/>
                        <a:pt x="315" y="7"/>
                      </a:cubicBezTo>
                      <a:cubicBezTo>
                        <a:pt x="315" y="200"/>
                        <a:pt x="315" y="200"/>
                        <a:pt x="315" y="200"/>
                      </a:cubicBezTo>
                      <a:cubicBezTo>
                        <a:pt x="374" y="140"/>
                        <a:pt x="374" y="140"/>
                        <a:pt x="374" y="140"/>
                      </a:cubicBezTo>
                      <a:cubicBezTo>
                        <a:pt x="377" y="137"/>
                        <a:pt x="382" y="137"/>
                        <a:pt x="384" y="140"/>
                      </a:cubicBezTo>
                      <a:cubicBezTo>
                        <a:pt x="387" y="143"/>
                        <a:pt x="387" y="147"/>
                        <a:pt x="384" y="150"/>
                      </a:cubicBezTo>
                      <a:cubicBezTo>
                        <a:pt x="313" y="222"/>
                        <a:pt x="313" y="222"/>
                        <a:pt x="313" y="222"/>
                      </a:cubicBezTo>
                      <a:cubicBezTo>
                        <a:pt x="312" y="222"/>
                        <a:pt x="312" y="223"/>
                        <a:pt x="311" y="223"/>
                      </a:cubicBezTo>
                      <a:cubicBezTo>
                        <a:pt x="311" y="223"/>
                        <a:pt x="311" y="223"/>
                        <a:pt x="311" y="223"/>
                      </a:cubicBezTo>
                      <a:cubicBezTo>
                        <a:pt x="311" y="223"/>
                        <a:pt x="310" y="223"/>
                        <a:pt x="310" y="223"/>
                      </a:cubicBezTo>
                      <a:cubicBezTo>
                        <a:pt x="310" y="224"/>
                        <a:pt x="310" y="224"/>
                        <a:pt x="310" y="224"/>
                      </a:cubicBezTo>
                      <a:cubicBezTo>
                        <a:pt x="309" y="224"/>
                        <a:pt x="309" y="224"/>
                        <a:pt x="309" y="224"/>
                      </a:cubicBezTo>
                      <a:cubicBezTo>
                        <a:pt x="308" y="224"/>
                        <a:pt x="308" y="224"/>
                        <a:pt x="308" y="224"/>
                      </a:cubicBezTo>
                      <a:cubicBezTo>
                        <a:pt x="307" y="224"/>
                        <a:pt x="307" y="224"/>
                        <a:pt x="306" y="224"/>
                      </a:cubicBezTo>
                      <a:cubicBezTo>
                        <a:pt x="306" y="224"/>
                        <a:pt x="306" y="224"/>
                        <a:pt x="306" y="224"/>
                      </a:cubicBezTo>
                      <a:cubicBezTo>
                        <a:pt x="305" y="224"/>
                        <a:pt x="305" y="224"/>
                        <a:pt x="305" y="223"/>
                      </a:cubicBezTo>
                      <a:cubicBezTo>
                        <a:pt x="305" y="223"/>
                        <a:pt x="304" y="223"/>
                        <a:pt x="304" y="223"/>
                      </a:cubicBezTo>
                      <a:cubicBezTo>
                        <a:pt x="304" y="223"/>
                        <a:pt x="304" y="223"/>
                        <a:pt x="304" y="223"/>
                      </a:cubicBezTo>
                      <a:cubicBezTo>
                        <a:pt x="303" y="223"/>
                        <a:pt x="303" y="222"/>
                        <a:pt x="303" y="222"/>
                      </a:cubicBezTo>
                      <a:cubicBezTo>
                        <a:pt x="231" y="150"/>
                        <a:pt x="231" y="150"/>
                        <a:pt x="231" y="150"/>
                      </a:cubicBezTo>
                      <a:cubicBezTo>
                        <a:pt x="228" y="147"/>
                        <a:pt x="228" y="143"/>
                        <a:pt x="231" y="140"/>
                      </a:cubicBezTo>
                      <a:cubicBezTo>
                        <a:pt x="233" y="137"/>
                        <a:pt x="238" y="137"/>
                        <a:pt x="241" y="140"/>
                      </a:cubicBezTo>
                      <a:lnTo>
                        <a:pt x="301" y="200"/>
                      </a:lnTo>
                      <a:close/>
                      <a:moveTo>
                        <a:pt x="609" y="197"/>
                      </a:moveTo>
                      <a:cubicBezTo>
                        <a:pt x="505" y="361"/>
                        <a:pt x="505" y="361"/>
                        <a:pt x="505" y="361"/>
                      </a:cubicBezTo>
                      <a:cubicBezTo>
                        <a:pt x="454" y="442"/>
                        <a:pt x="402" y="523"/>
                        <a:pt x="402" y="524"/>
                      </a:cubicBezTo>
                      <a:cubicBezTo>
                        <a:pt x="402" y="524"/>
                        <a:pt x="402" y="524"/>
                        <a:pt x="402" y="524"/>
                      </a:cubicBezTo>
                      <a:cubicBezTo>
                        <a:pt x="393" y="538"/>
                        <a:pt x="348" y="545"/>
                        <a:pt x="315" y="546"/>
                      </a:cubicBezTo>
                      <a:cubicBezTo>
                        <a:pt x="315" y="651"/>
                        <a:pt x="315" y="651"/>
                        <a:pt x="315" y="651"/>
                      </a:cubicBezTo>
                      <a:cubicBezTo>
                        <a:pt x="374" y="591"/>
                        <a:pt x="374" y="591"/>
                        <a:pt x="374" y="591"/>
                      </a:cubicBezTo>
                      <a:cubicBezTo>
                        <a:pt x="377" y="588"/>
                        <a:pt x="382" y="588"/>
                        <a:pt x="384" y="591"/>
                      </a:cubicBezTo>
                      <a:cubicBezTo>
                        <a:pt x="387" y="594"/>
                        <a:pt x="387" y="598"/>
                        <a:pt x="384" y="601"/>
                      </a:cubicBezTo>
                      <a:cubicBezTo>
                        <a:pt x="313" y="673"/>
                        <a:pt x="313" y="673"/>
                        <a:pt x="313" y="673"/>
                      </a:cubicBezTo>
                      <a:cubicBezTo>
                        <a:pt x="312" y="673"/>
                        <a:pt x="312" y="673"/>
                        <a:pt x="311" y="673"/>
                      </a:cubicBezTo>
                      <a:cubicBezTo>
                        <a:pt x="311" y="674"/>
                        <a:pt x="311" y="674"/>
                        <a:pt x="311" y="674"/>
                      </a:cubicBezTo>
                      <a:cubicBezTo>
                        <a:pt x="311" y="674"/>
                        <a:pt x="310" y="674"/>
                        <a:pt x="310" y="674"/>
                      </a:cubicBezTo>
                      <a:cubicBezTo>
                        <a:pt x="310" y="674"/>
                        <a:pt x="310" y="674"/>
                        <a:pt x="310" y="674"/>
                      </a:cubicBezTo>
                      <a:cubicBezTo>
                        <a:pt x="309" y="674"/>
                        <a:pt x="309" y="674"/>
                        <a:pt x="309" y="675"/>
                      </a:cubicBezTo>
                      <a:cubicBezTo>
                        <a:pt x="308" y="675"/>
                        <a:pt x="308" y="675"/>
                        <a:pt x="308" y="675"/>
                      </a:cubicBezTo>
                      <a:cubicBezTo>
                        <a:pt x="307" y="675"/>
                        <a:pt x="307" y="675"/>
                        <a:pt x="306" y="675"/>
                      </a:cubicBezTo>
                      <a:cubicBezTo>
                        <a:pt x="306" y="674"/>
                        <a:pt x="306" y="674"/>
                        <a:pt x="306" y="674"/>
                      </a:cubicBezTo>
                      <a:cubicBezTo>
                        <a:pt x="305" y="674"/>
                        <a:pt x="305" y="674"/>
                        <a:pt x="305" y="674"/>
                      </a:cubicBezTo>
                      <a:cubicBezTo>
                        <a:pt x="305" y="674"/>
                        <a:pt x="304" y="674"/>
                        <a:pt x="304" y="674"/>
                      </a:cubicBezTo>
                      <a:cubicBezTo>
                        <a:pt x="304" y="674"/>
                        <a:pt x="304" y="674"/>
                        <a:pt x="304" y="673"/>
                      </a:cubicBezTo>
                      <a:cubicBezTo>
                        <a:pt x="303" y="673"/>
                        <a:pt x="303" y="673"/>
                        <a:pt x="303" y="673"/>
                      </a:cubicBezTo>
                      <a:cubicBezTo>
                        <a:pt x="231" y="601"/>
                        <a:pt x="231" y="601"/>
                        <a:pt x="231" y="601"/>
                      </a:cubicBezTo>
                      <a:cubicBezTo>
                        <a:pt x="228" y="598"/>
                        <a:pt x="228" y="594"/>
                        <a:pt x="231" y="591"/>
                      </a:cubicBezTo>
                      <a:cubicBezTo>
                        <a:pt x="233" y="588"/>
                        <a:pt x="238" y="588"/>
                        <a:pt x="241" y="591"/>
                      </a:cubicBezTo>
                      <a:cubicBezTo>
                        <a:pt x="301" y="651"/>
                        <a:pt x="301" y="651"/>
                        <a:pt x="301" y="651"/>
                      </a:cubicBezTo>
                      <a:cubicBezTo>
                        <a:pt x="301" y="546"/>
                        <a:pt x="301" y="546"/>
                        <a:pt x="301" y="546"/>
                      </a:cubicBezTo>
                      <a:cubicBezTo>
                        <a:pt x="268" y="545"/>
                        <a:pt x="223" y="538"/>
                        <a:pt x="213" y="524"/>
                      </a:cubicBezTo>
                      <a:cubicBezTo>
                        <a:pt x="213" y="524"/>
                        <a:pt x="213" y="524"/>
                        <a:pt x="213" y="524"/>
                      </a:cubicBezTo>
                      <a:cubicBezTo>
                        <a:pt x="213" y="523"/>
                        <a:pt x="123" y="382"/>
                        <a:pt x="62" y="285"/>
                      </a:cubicBezTo>
                      <a:cubicBezTo>
                        <a:pt x="6" y="197"/>
                        <a:pt x="6" y="197"/>
                        <a:pt x="6" y="197"/>
                      </a:cubicBezTo>
                      <a:cubicBezTo>
                        <a:pt x="2" y="192"/>
                        <a:pt x="0" y="186"/>
                        <a:pt x="0" y="180"/>
                      </a:cubicBezTo>
                      <a:cubicBezTo>
                        <a:pt x="0" y="158"/>
                        <a:pt x="29" y="138"/>
                        <a:pt x="83" y="123"/>
                      </a:cubicBezTo>
                      <a:cubicBezTo>
                        <a:pt x="133" y="109"/>
                        <a:pt x="201" y="100"/>
                        <a:pt x="275" y="98"/>
                      </a:cubicBezTo>
                      <a:cubicBezTo>
                        <a:pt x="275" y="98"/>
                        <a:pt x="275" y="98"/>
                        <a:pt x="275" y="98"/>
                      </a:cubicBezTo>
                      <a:cubicBezTo>
                        <a:pt x="279" y="98"/>
                        <a:pt x="282" y="101"/>
                        <a:pt x="282" y="105"/>
                      </a:cubicBezTo>
                      <a:cubicBezTo>
                        <a:pt x="282" y="109"/>
                        <a:pt x="279" y="112"/>
                        <a:pt x="275" y="112"/>
                      </a:cubicBezTo>
                      <a:cubicBezTo>
                        <a:pt x="114" y="117"/>
                        <a:pt x="14" y="151"/>
                        <a:pt x="14" y="180"/>
                      </a:cubicBezTo>
                      <a:cubicBezTo>
                        <a:pt x="14" y="181"/>
                        <a:pt x="14" y="182"/>
                        <a:pt x="15" y="182"/>
                      </a:cubicBezTo>
                      <a:cubicBezTo>
                        <a:pt x="15" y="185"/>
                        <a:pt x="16" y="187"/>
                        <a:pt x="17" y="189"/>
                      </a:cubicBezTo>
                      <a:cubicBezTo>
                        <a:pt x="18" y="191"/>
                        <a:pt x="18" y="191"/>
                        <a:pt x="18" y="191"/>
                      </a:cubicBezTo>
                      <a:cubicBezTo>
                        <a:pt x="40" y="220"/>
                        <a:pt x="153" y="249"/>
                        <a:pt x="308" y="249"/>
                      </a:cubicBezTo>
                      <a:cubicBezTo>
                        <a:pt x="462" y="249"/>
                        <a:pt x="575" y="220"/>
                        <a:pt x="597" y="191"/>
                      </a:cubicBezTo>
                      <a:cubicBezTo>
                        <a:pt x="598" y="189"/>
                        <a:pt x="598" y="189"/>
                        <a:pt x="598" y="189"/>
                      </a:cubicBezTo>
                      <a:cubicBezTo>
                        <a:pt x="599" y="187"/>
                        <a:pt x="600" y="185"/>
                        <a:pt x="601" y="182"/>
                      </a:cubicBezTo>
                      <a:cubicBezTo>
                        <a:pt x="601" y="182"/>
                        <a:pt x="601" y="181"/>
                        <a:pt x="601" y="180"/>
                      </a:cubicBezTo>
                      <a:cubicBezTo>
                        <a:pt x="601" y="151"/>
                        <a:pt x="501" y="117"/>
                        <a:pt x="340" y="112"/>
                      </a:cubicBezTo>
                      <a:cubicBezTo>
                        <a:pt x="336" y="112"/>
                        <a:pt x="333" y="109"/>
                        <a:pt x="333" y="105"/>
                      </a:cubicBezTo>
                      <a:cubicBezTo>
                        <a:pt x="333" y="101"/>
                        <a:pt x="336" y="98"/>
                        <a:pt x="340" y="98"/>
                      </a:cubicBezTo>
                      <a:cubicBezTo>
                        <a:pt x="414" y="100"/>
                        <a:pt x="482" y="109"/>
                        <a:pt x="532" y="123"/>
                      </a:cubicBezTo>
                      <a:cubicBezTo>
                        <a:pt x="586" y="138"/>
                        <a:pt x="615" y="158"/>
                        <a:pt x="615" y="180"/>
                      </a:cubicBezTo>
                      <a:cubicBezTo>
                        <a:pt x="615" y="186"/>
                        <a:pt x="613" y="192"/>
                        <a:pt x="609" y="197"/>
                      </a:cubicBezTo>
                      <a:close/>
                      <a:moveTo>
                        <a:pt x="577" y="221"/>
                      </a:moveTo>
                      <a:cubicBezTo>
                        <a:pt x="522" y="248"/>
                        <a:pt x="412" y="263"/>
                        <a:pt x="308" y="263"/>
                      </a:cubicBezTo>
                      <a:cubicBezTo>
                        <a:pt x="203" y="263"/>
                        <a:pt x="94" y="248"/>
                        <a:pt x="38" y="221"/>
                      </a:cubicBezTo>
                      <a:cubicBezTo>
                        <a:pt x="73" y="277"/>
                        <a:pt x="73" y="277"/>
                        <a:pt x="73" y="277"/>
                      </a:cubicBezTo>
                      <a:cubicBezTo>
                        <a:pt x="201" y="479"/>
                        <a:pt x="221" y="511"/>
                        <a:pt x="225" y="516"/>
                      </a:cubicBezTo>
                      <a:cubicBezTo>
                        <a:pt x="225" y="516"/>
                        <a:pt x="225" y="516"/>
                        <a:pt x="225" y="517"/>
                      </a:cubicBezTo>
                      <a:cubicBezTo>
                        <a:pt x="229" y="523"/>
                        <a:pt x="266" y="532"/>
                        <a:pt x="308" y="532"/>
                      </a:cubicBezTo>
                      <a:cubicBezTo>
                        <a:pt x="349" y="532"/>
                        <a:pt x="386" y="523"/>
                        <a:pt x="390" y="517"/>
                      </a:cubicBezTo>
                      <a:cubicBezTo>
                        <a:pt x="390" y="516"/>
                        <a:pt x="390" y="516"/>
                        <a:pt x="390" y="516"/>
                      </a:cubicBezTo>
                      <a:cubicBezTo>
                        <a:pt x="392" y="514"/>
                        <a:pt x="403" y="496"/>
                        <a:pt x="493" y="353"/>
                      </a:cubicBezTo>
                      <a:lnTo>
                        <a:pt x="577" y="22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1350"/>
                </a:p>
              </p:txBody>
            </p:sp>
          </p:grpSp>
          <p:pic>
            <p:nvPicPr>
              <p:cNvPr id="27" name="Grafika 26" descr="Diagram sieciowy kontur">
                <a:extLst>
                  <a:ext uri="{FF2B5EF4-FFF2-40B4-BE49-F238E27FC236}">
                    <a16:creationId xmlns:a16="http://schemas.microsoft.com/office/drawing/2014/main" id="{1C6A300E-FD1D-792D-49D6-AAF4C4601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24363" y="1934256"/>
                <a:ext cx="553630" cy="553630"/>
              </a:xfrm>
              <a:prstGeom prst="rect">
                <a:avLst/>
              </a:prstGeom>
            </p:spPr>
          </p:pic>
          <p:cxnSp>
            <p:nvCxnSpPr>
              <p:cNvPr id="28" name="Łącznik prosty ze strzałką 27">
                <a:extLst>
                  <a:ext uri="{FF2B5EF4-FFF2-40B4-BE49-F238E27FC236}">
                    <a16:creationId xmlns:a16="http://schemas.microsoft.com/office/drawing/2014/main" id="{751385BA-D3BA-E413-0779-81E6581CDC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5828" y="2215111"/>
                <a:ext cx="37625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Łącznik prosty ze strzałką 28">
                <a:extLst>
                  <a:ext uri="{FF2B5EF4-FFF2-40B4-BE49-F238E27FC236}">
                    <a16:creationId xmlns:a16="http://schemas.microsoft.com/office/drawing/2014/main" id="{2BA35515-60FD-AEAA-18C3-ABEA670F5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6129" y="2205318"/>
                <a:ext cx="37625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amka 30">
              <a:extLst>
                <a:ext uri="{FF2B5EF4-FFF2-40B4-BE49-F238E27FC236}">
                  <a16:creationId xmlns:a16="http://schemas.microsoft.com/office/drawing/2014/main" id="{D02AC293-8BAD-8956-3386-A21B947D16BA}"/>
                </a:ext>
              </a:extLst>
            </p:cNvPr>
            <p:cNvSpPr/>
            <p:nvPr/>
          </p:nvSpPr>
          <p:spPr>
            <a:xfrm>
              <a:off x="2628844" y="1626149"/>
              <a:ext cx="3508793" cy="1387996"/>
            </a:xfrm>
            <a:prstGeom prst="frame">
              <a:avLst>
                <a:gd name="adj1" fmla="val 2041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33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It is trained and evaluated on historical data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C303D68-AD58-8574-1D9D-23221DE05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27" y="1063229"/>
            <a:ext cx="6679504" cy="372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17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557"/>
            <a:ext cx="8229600" cy="857250"/>
          </a:xfrm>
        </p:spPr>
        <p:txBody>
          <a:bodyPr/>
          <a:lstStyle/>
          <a:p>
            <a:r>
              <a:rPr lang="pl-PL" sz="2800"/>
              <a:t>Requires a precise definition of the dependent variable...</a:t>
            </a:r>
            <a:br>
              <a:rPr lang="pl-PL" sz="2800"/>
            </a:br>
            <a:br>
              <a:rPr lang="pl-PL" sz="2800"/>
            </a:br>
            <a:r>
              <a:rPr lang="pl-PL" sz="2000" i="1"/>
              <a:t>What do we want to predict?</a:t>
            </a:r>
            <a:endParaRPr lang="pl-PL" sz="2800"/>
          </a:p>
        </p:txBody>
      </p:sp>
      <p:grpSp>
        <p:nvGrpSpPr>
          <p:cNvPr id="4" name="Grupa 3">
            <a:extLst>
              <a:ext uri="{FF2B5EF4-FFF2-40B4-BE49-F238E27FC236}">
                <a16:creationId xmlns:a16="http://schemas.microsoft.com/office/drawing/2014/main" id="{44AAAF4C-1B36-2031-C625-959B0169953A}"/>
              </a:ext>
            </a:extLst>
          </p:cNvPr>
          <p:cNvGrpSpPr/>
          <p:nvPr/>
        </p:nvGrpSpPr>
        <p:grpSpPr>
          <a:xfrm>
            <a:off x="2079999" y="1665576"/>
            <a:ext cx="5499834" cy="2354893"/>
            <a:chOff x="3644167" y="1440493"/>
            <a:chExt cx="5499834" cy="2354893"/>
          </a:xfrm>
        </p:grpSpPr>
        <p:pic>
          <p:nvPicPr>
            <p:cNvPr id="5" name="Obraz 4">
              <a:extLst>
                <a:ext uri="{FF2B5EF4-FFF2-40B4-BE49-F238E27FC236}">
                  <a16:creationId xmlns:a16="http://schemas.microsoft.com/office/drawing/2014/main" id="{86122F5B-A5A0-998C-BC26-A039804D4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167" y="1544262"/>
              <a:ext cx="5499834" cy="2163442"/>
            </a:xfrm>
            <a:prstGeom prst="rect">
              <a:avLst/>
            </a:prstGeom>
          </p:spPr>
        </p:pic>
        <p:sp>
          <p:nvSpPr>
            <p:cNvPr id="6" name="Prostokąt 5">
              <a:extLst>
                <a:ext uri="{FF2B5EF4-FFF2-40B4-BE49-F238E27FC236}">
                  <a16:creationId xmlns:a16="http://schemas.microsoft.com/office/drawing/2014/main" id="{FEA9951D-BCBE-8DD6-112A-AFA22B0A1A04}"/>
                </a:ext>
              </a:extLst>
            </p:cNvPr>
            <p:cNvSpPr/>
            <p:nvPr/>
          </p:nvSpPr>
          <p:spPr>
            <a:xfrm>
              <a:off x="3644167" y="1440493"/>
              <a:ext cx="5020808" cy="2354893"/>
            </a:xfrm>
            <a:prstGeom prst="rect">
              <a:avLst/>
            </a:prstGeom>
            <a:solidFill>
              <a:schemeClr val="bg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176425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… and the selection and engineering of features</a:t>
            </a:r>
          </a:p>
        </p:txBody>
      </p:sp>
      <p:grpSp>
        <p:nvGrpSpPr>
          <p:cNvPr id="3" name="Grupa 2">
            <a:extLst>
              <a:ext uri="{FF2B5EF4-FFF2-40B4-BE49-F238E27FC236}">
                <a16:creationId xmlns:a16="http://schemas.microsoft.com/office/drawing/2014/main" id="{F5341C4B-5B8D-53B8-1C6E-BFC3B2209113}"/>
              </a:ext>
            </a:extLst>
          </p:cNvPr>
          <p:cNvGrpSpPr/>
          <p:nvPr/>
        </p:nvGrpSpPr>
        <p:grpSpPr>
          <a:xfrm>
            <a:off x="2051863" y="1394303"/>
            <a:ext cx="5499834" cy="2354893"/>
            <a:chOff x="3644167" y="1394303"/>
            <a:chExt cx="5499834" cy="2354893"/>
          </a:xfrm>
        </p:grpSpPr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728C1235-81D6-35FB-C383-1D39DCF7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4167" y="1544262"/>
              <a:ext cx="5499834" cy="2163442"/>
            </a:xfrm>
            <a:prstGeom prst="rect">
              <a:avLst/>
            </a:prstGeom>
          </p:spPr>
        </p:pic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335E0D1F-8954-B638-4C99-9EB4D2F09DD6}"/>
                </a:ext>
              </a:extLst>
            </p:cNvPr>
            <p:cNvSpPr/>
            <p:nvPr/>
          </p:nvSpPr>
          <p:spPr>
            <a:xfrm>
              <a:off x="8680075" y="1394303"/>
              <a:ext cx="442099" cy="2354893"/>
            </a:xfrm>
            <a:prstGeom prst="rect">
              <a:avLst/>
            </a:prstGeom>
            <a:solidFill>
              <a:schemeClr val="bg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1196012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l-PL" sz="2800"/>
              <a:t>As a result of training, we get many models. </a:t>
            </a:r>
            <a:br>
              <a:rPr lang="pl-PL" sz="2800"/>
            </a:br>
            <a:r>
              <a:rPr lang="pl-PL" sz="1800"/>
              <a:t>We choose the best one using some statistical measures</a:t>
            </a:r>
          </a:p>
        </p:txBody>
      </p:sp>
      <p:sp>
        <p:nvSpPr>
          <p:cNvPr id="6" name="Freeform 123">
            <a:extLst>
              <a:ext uri="{FF2B5EF4-FFF2-40B4-BE49-F238E27FC236}">
                <a16:creationId xmlns:a16="http://schemas.microsoft.com/office/drawing/2014/main" id="{C809E61C-859A-EE01-DE98-EBEAF9797E6F}"/>
              </a:ext>
            </a:extLst>
          </p:cNvPr>
          <p:cNvSpPr>
            <a:spLocks noEditPoints="1"/>
          </p:cNvSpPr>
          <p:nvPr/>
        </p:nvSpPr>
        <p:spPr bwMode="auto">
          <a:xfrm>
            <a:off x="4314028" y="1563616"/>
            <a:ext cx="1267447" cy="1271638"/>
          </a:xfrm>
          <a:custGeom>
            <a:avLst/>
            <a:gdLst>
              <a:gd name="T0" fmla="*/ 529 w 676"/>
              <a:gd name="T1" fmla="*/ 279 h 678"/>
              <a:gd name="T2" fmla="*/ 431 w 676"/>
              <a:gd name="T3" fmla="*/ 293 h 678"/>
              <a:gd name="T4" fmla="*/ 409 w 676"/>
              <a:gd name="T5" fmla="*/ 210 h 678"/>
              <a:gd name="T6" fmla="*/ 367 w 676"/>
              <a:gd name="T7" fmla="*/ 125 h 678"/>
              <a:gd name="T8" fmla="*/ 401 w 676"/>
              <a:gd name="T9" fmla="*/ 58 h 678"/>
              <a:gd name="T10" fmla="*/ 504 w 676"/>
              <a:gd name="T11" fmla="*/ 6 h 678"/>
              <a:gd name="T12" fmla="*/ 579 w 676"/>
              <a:gd name="T13" fmla="*/ 18 h 678"/>
              <a:gd name="T14" fmla="*/ 659 w 676"/>
              <a:gd name="T15" fmla="*/ 100 h 678"/>
              <a:gd name="T16" fmla="*/ 676 w 676"/>
              <a:gd name="T17" fmla="*/ 169 h 678"/>
              <a:gd name="T18" fmla="*/ 605 w 676"/>
              <a:gd name="T19" fmla="*/ 241 h 678"/>
              <a:gd name="T20" fmla="*/ 558 w 676"/>
              <a:gd name="T21" fmla="*/ 314 h 678"/>
              <a:gd name="T22" fmla="*/ 539 w 676"/>
              <a:gd name="T23" fmla="*/ 267 h 678"/>
              <a:gd name="T24" fmla="*/ 590 w 676"/>
              <a:gd name="T25" fmla="*/ 242 h 678"/>
              <a:gd name="T26" fmla="*/ 626 w 676"/>
              <a:gd name="T27" fmla="*/ 172 h 678"/>
              <a:gd name="T28" fmla="*/ 655 w 676"/>
              <a:gd name="T29" fmla="*/ 114 h 678"/>
              <a:gd name="T30" fmla="*/ 566 w 676"/>
              <a:gd name="T31" fmla="*/ 67 h 678"/>
              <a:gd name="T32" fmla="*/ 517 w 676"/>
              <a:gd name="T33" fmla="*/ 15 h 678"/>
              <a:gd name="T34" fmla="*/ 500 w 676"/>
              <a:gd name="T35" fmla="*/ 56 h 678"/>
              <a:gd name="T36" fmla="*/ 401 w 676"/>
              <a:gd name="T37" fmla="*/ 73 h 678"/>
              <a:gd name="T38" fmla="*/ 413 w 676"/>
              <a:gd name="T39" fmla="*/ 144 h 678"/>
              <a:gd name="T40" fmla="*/ 422 w 676"/>
              <a:gd name="T41" fmla="*/ 215 h 678"/>
              <a:gd name="T42" fmla="*/ 463 w 676"/>
              <a:gd name="T43" fmla="*/ 255 h 678"/>
              <a:gd name="T44" fmla="*/ 532 w 676"/>
              <a:gd name="T45" fmla="*/ 264 h 678"/>
              <a:gd name="T46" fmla="*/ 478 w 676"/>
              <a:gd name="T47" fmla="*/ 160 h 678"/>
              <a:gd name="T48" fmla="*/ 517 w 676"/>
              <a:gd name="T49" fmla="*/ 199 h 678"/>
              <a:gd name="T50" fmla="*/ 517 w 676"/>
              <a:gd name="T51" fmla="*/ 185 h 678"/>
              <a:gd name="T52" fmla="*/ 258 w 676"/>
              <a:gd name="T53" fmla="*/ 678 h 678"/>
              <a:gd name="T54" fmla="*/ 233 w 676"/>
              <a:gd name="T55" fmla="*/ 615 h 678"/>
              <a:gd name="T56" fmla="*/ 105 w 676"/>
              <a:gd name="T57" fmla="*/ 628 h 678"/>
              <a:gd name="T58" fmla="*/ 90 w 676"/>
              <a:gd name="T59" fmla="*/ 522 h 678"/>
              <a:gd name="T60" fmla="*/ 0 w 676"/>
              <a:gd name="T61" fmla="*/ 424 h 678"/>
              <a:gd name="T62" fmla="*/ 14 w 676"/>
              <a:gd name="T63" fmla="*/ 350 h 678"/>
              <a:gd name="T64" fmla="*/ 91 w 676"/>
              <a:gd name="T65" fmla="*/ 229 h 678"/>
              <a:gd name="T66" fmla="*/ 159 w 676"/>
              <a:gd name="T67" fmla="*/ 185 h 678"/>
              <a:gd name="T68" fmla="*/ 276 w 676"/>
              <a:gd name="T69" fmla="*/ 222 h 678"/>
              <a:gd name="T70" fmla="*/ 378 w 676"/>
              <a:gd name="T71" fmla="*/ 190 h 678"/>
              <a:gd name="T72" fmla="*/ 423 w 676"/>
              <a:gd name="T73" fmla="*/ 310 h 678"/>
              <a:gd name="T74" fmla="*/ 513 w 676"/>
              <a:gd name="T75" fmla="*/ 370 h 678"/>
              <a:gd name="T76" fmla="*/ 456 w 676"/>
              <a:gd name="T77" fmla="*/ 419 h 678"/>
              <a:gd name="T78" fmla="*/ 494 w 676"/>
              <a:gd name="T79" fmla="*/ 527 h 678"/>
              <a:gd name="T80" fmla="*/ 393 w 676"/>
              <a:gd name="T81" fmla="*/ 564 h 678"/>
              <a:gd name="T82" fmla="*/ 325 w 676"/>
              <a:gd name="T83" fmla="*/ 669 h 678"/>
              <a:gd name="T84" fmla="*/ 165 w 676"/>
              <a:gd name="T85" fmla="*/ 577 h 678"/>
              <a:gd name="T86" fmla="*/ 261 w 676"/>
              <a:gd name="T87" fmla="*/ 664 h 678"/>
              <a:gd name="T88" fmla="*/ 323 w 676"/>
              <a:gd name="T89" fmla="*/ 591 h 678"/>
              <a:gd name="T90" fmla="*/ 449 w 676"/>
              <a:gd name="T91" fmla="*/ 573 h 678"/>
              <a:gd name="T92" fmla="*/ 432 w 676"/>
              <a:gd name="T93" fmla="*/ 479 h 678"/>
              <a:gd name="T94" fmla="*/ 445 w 676"/>
              <a:gd name="T95" fmla="*/ 396 h 678"/>
              <a:gd name="T96" fmla="*/ 421 w 676"/>
              <a:gd name="T97" fmla="*/ 325 h 678"/>
              <a:gd name="T98" fmla="*/ 356 w 676"/>
              <a:gd name="T99" fmla="*/ 258 h 678"/>
              <a:gd name="T100" fmla="*/ 286 w 676"/>
              <a:gd name="T101" fmla="*/ 233 h 678"/>
              <a:gd name="T102" fmla="*/ 199 w 676"/>
              <a:gd name="T103" fmla="*/ 245 h 678"/>
              <a:gd name="T104" fmla="*/ 106 w 676"/>
              <a:gd name="T105" fmla="*/ 228 h 678"/>
              <a:gd name="T106" fmla="*/ 85 w 676"/>
              <a:gd name="T107" fmla="*/ 357 h 678"/>
              <a:gd name="T108" fmla="*/ 14 w 676"/>
              <a:gd name="T109" fmla="*/ 419 h 678"/>
              <a:gd name="T110" fmla="*/ 104 w 676"/>
              <a:gd name="T111" fmla="*/ 519 h 678"/>
              <a:gd name="T112" fmla="*/ 109 w 676"/>
              <a:gd name="T113" fmla="*/ 613 h 678"/>
              <a:gd name="T114" fmla="*/ 258 w 676"/>
              <a:gd name="T115" fmla="*/ 484 h 678"/>
              <a:gd name="T116" fmla="*/ 323 w 676"/>
              <a:gd name="T117" fmla="*/ 419 h 678"/>
              <a:gd name="T118" fmla="*/ 207 w 676"/>
              <a:gd name="T119" fmla="*/ 419 h 678"/>
              <a:gd name="T120" fmla="*/ 258 w 676"/>
              <a:gd name="T121" fmla="*/ 36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76" h="678">
                <a:moveTo>
                  <a:pt x="556" y="314"/>
                </a:moveTo>
                <a:cubicBezTo>
                  <a:pt x="554" y="314"/>
                  <a:pt x="551" y="313"/>
                  <a:pt x="550" y="311"/>
                </a:cubicBezTo>
                <a:cubicBezTo>
                  <a:pt x="529" y="279"/>
                  <a:pt x="529" y="279"/>
                  <a:pt x="529" y="279"/>
                </a:cubicBezTo>
                <a:cubicBezTo>
                  <a:pt x="508" y="281"/>
                  <a:pt x="488" y="277"/>
                  <a:pt x="468" y="269"/>
                </a:cubicBezTo>
                <a:cubicBezTo>
                  <a:pt x="439" y="293"/>
                  <a:pt x="439" y="293"/>
                  <a:pt x="439" y="293"/>
                </a:cubicBezTo>
                <a:cubicBezTo>
                  <a:pt x="437" y="295"/>
                  <a:pt x="433" y="295"/>
                  <a:pt x="431" y="293"/>
                </a:cubicBezTo>
                <a:cubicBezTo>
                  <a:pt x="412" y="281"/>
                  <a:pt x="397" y="266"/>
                  <a:pt x="385" y="248"/>
                </a:cubicBezTo>
                <a:cubicBezTo>
                  <a:pt x="383" y="245"/>
                  <a:pt x="383" y="242"/>
                  <a:pt x="385" y="239"/>
                </a:cubicBezTo>
                <a:cubicBezTo>
                  <a:pt x="409" y="210"/>
                  <a:pt x="409" y="210"/>
                  <a:pt x="409" y="210"/>
                </a:cubicBezTo>
                <a:cubicBezTo>
                  <a:pt x="401" y="194"/>
                  <a:pt x="398" y="177"/>
                  <a:pt x="398" y="160"/>
                </a:cubicBezTo>
                <a:cubicBezTo>
                  <a:pt x="398" y="155"/>
                  <a:pt x="398" y="151"/>
                  <a:pt x="398" y="146"/>
                </a:cubicBezTo>
                <a:cubicBezTo>
                  <a:pt x="367" y="125"/>
                  <a:pt x="367" y="125"/>
                  <a:pt x="367" y="125"/>
                </a:cubicBezTo>
                <a:cubicBezTo>
                  <a:pt x="364" y="124"/>
                  <a:pt x="363" y="120"/>
                  <a:pt x="364" y="117"/>
                </a:cubicBezTo>
                <a:cubicBezTo>
                  <a:pt x="370" y="96"/>
                  <a:pt x="380" y="77"/>
                  <a:pt x="393" y="60"/>
                </a:cubicBezTo>
                <a:cubicBezTo>
                  <a:pt x="395" y="57"/>
                  <a:pt x="399" y="57"/>
                  <a:pt x="401" y="58"/>
                </a:cubicBezTo>
                <a:cubicBezTo>
                  <a:pt x="437" y="71"/>
                  <a:pt x="437" y="71"/>
                  <a:pt x="437" y="71"/>
                </a:cubicBezTo>
                <a:cubicBezTo>
                  <a:pt x="453" y="57"/>
                  <a:pt x="472" y="47"/>
                  <a:pt x="494" y="43"/>
                </a:cubicBezTo>
                <a:cubicBezTo>
                  <a:pt x="504" y="6"/>
                  <a:pt x="504" y="6"/>
                  <a:pt x="504" y="6"/>
                </a:cubicBezTo>
                <a:cubicBezTo>
                  <a:pt x="505" y="3"/>
                  <a:pt x="507" y="1"/>
                  <a:pt x="510" y="1"/>
                </a:cubicBezTo>
                <a:cubicBezTo>
                  <a:pt x="532" y="0"/>
                  <a:pt x="554" y="4"/>
                  <a:pt x="574" y="11"/>
                </a:cubicBezTo>
                <a:cubicBezTo>
                  <a:pt x="577" y="12"/>
                  <a:pt x="579" y="15"/>
                  <a:pt x="579" y="18"/>
                </a:cubicBezTo>
                <a:cubicBezTo>
                  <a:pt x="577" y="56"/>
                  <a:pt x="577" y="56"/>
                  <a:pt x="577" y="56"/>
                </a:cubicBezTo>
                <a:cubicBezTo>
                  <a:pt x="596" y="67"/>
                  <a:pt x="611" y="83"/>
                  <a:pt x="621" y="102"/>
                </a:cubicBezTo>
                <a:cubicBezTo>
                  <a:pt x="659" y="100"/>
                  <a:pt x="659" y="100"/>
                  <a:pt x="659" y="100"/>
                </a:cubicBezTo>
                <a:cubicBezTo>
                  <a:pt x="662" y="100"/>
                  <a:pt x="665" y="102"/>
                  <a:pt x="666" y="105"/>
                </a:cubicBezTo>
                <a:cubicBezTo>
                  <a:pt x="673" y="122"/>
                  <a:pt x="676" y="141"/>
                  <a:pt x="676" y="160"/>
                </a:cubicBezTo>
                <a:cubicBezTo>
                  <a:pt x="676" y="163"/>
                  <a:pt x="676" y="166"/>
                  <a:pt x="676" y="169"/>
                </a:cubicBezTo>
                <a:cubicBezTo>
                  <a:pt x="676" y="172"/>
                  <a:pt x="674" y="174"/>
                  <a:pt x="671" y="175"/>
                </a:cubicBezTo>
                <a:cubicBezTo>
                  <a:pt x="634" y="185"/>
                  <a:pt x="634" y="185"/>
                  <a:pt x="634" y="185"/>
                </a:cubicBezTo>
                <a:cubicBezTo>
                  <a:pt x="629" y="206"/>
                  <a:pt x="619" y="225"/>
                  <a:pt x="605" y="241"/>
                </a:cubicBezTo>
                <a:cubicBezTo>
                  <a:pt x="618" y="277"/>
                  <a:pt x="618" y="277"/>
                  <a:pt x="618" y="277"/>
                </a:cubicBezTo>
                <a:cubicBezTo>
                  <a:pt x="619" y="279"/>
                  <a:pt x="618" y="283"/>
                  <a:pt x="616" y="284"/>
                </a:cubicBezTo>
                <a:cubicBezTo>
                  <a:pt x="598" y="298"/>
                  <a:pt x="579" y="308"/>
                  <a:pt x="558" y="314"/>
                </a:cubicBezTo>
                <a:cubicBezTo>
                  <a:pt x="557" y="314"/>
                  <a:pt x="557" y="314"/>
                  <a:pt x="556" y="314"/>
                </a:cubicBezTo>
                <a:close/>
                <a:moveTo>
                  <a:pt x="533" y="264"/>
                </a:moveTo>
                <a:cubicBezTo>
                  <a:pt x="535" y="264"/>
                  <a:pt x="538" y="265"/>
                  <a:pt x="539" y="267"/>
                </a:cubicBezTo>
                <a:cubicBezTo>
                  <a:pt x="559" y="299"/>
                  <a:pt x="559" y="299"/>
                  <a:pt x="559" y="299"/>
                </a:cubicBezTo>
                <a:cubicBezTo>
                  <a:pt x="575" y="294"/>
                  <a:pt x="590" y="286"/>
                  <a:pt x="603" y="277"/>
                </a:cubicBezTo>
                <a:cubicBezTo>
                  <a:pt x="590" y="242"/>
                  <a:pt x="590" y="242"/>
                  <a:pt x="590" y="242"/>
                </a:cubicBezTo>
                <a:cubicBezTo>
                  <a:pt x="589" y="239"/>
                  <a:pt x="590" y="236"/>
                  <a:pt x="592" y="234"/>
                </a:cubicBezTo>
                <a:cubicBezTo>
                  <a:pt x="607" y="219"/>
                  <a:pt x="617" y="199"/>
                  <a:pt x="621" y="178"/>
                </a:cubicBezTo>
                <a:cubicBezTo>
                  <a:pt x="621" y="175"/>
                  <a:pt x="623" y="173"/>
                  <a:pt x="626" y="172"/>
                </a:cubicBezTo>
                <a:cubicBezTo>
                  <a:pt x="662" y="163"/>
                  <a:pt x="662" y="163"/>
                  <a:pt x="662" y="163"/>
                </a:cubicBezTo>
                <a:cubicBezTo>
                  <a:pt x="662" y="162"/>
                  <a:pt x="662" y="161"/>
                  <a:pt x="662" y="160"/>
                </a:cubicBezTo>
                <a:cubicBezTo>
                  <a:pt x="662" y="144"/>
                  <a:pt x="660" y="129"/>
                  <a:pt x="655" y="114"/>
                </a:cubicBezTo>
                <a:cubicBezTo>
                  <a:pt x="618" y="116"/>
                  <a:pt x="618" y="116"/>
                  <a:pt x="618" y="116"/>
                </a:cubicBezTo>
                <a:cubicBezTo>
                  <a:pt x="615" y="116"/>
                  <a:pt x="612" y="114"/>
                  <a:pt x="611" y="112"/>
                </a:cubicBezTo>
                <a:cubicBezTo>
                  <a:pt x="601" y="92"/>
                  <a:pt x="586" y="77"/>
                  <a:pt x="566" y="67"/>
                </a:cubicBezTo>
                <a:cubicBezTo>
                  <a:pt x="564" y="65"/>
                  <a:pt x="562" y="63"/>
                  <a:pt x="563" y="60"/>
                </a:cubicBezTo>
                <a:cubicBezTo>
                  <a:pt x="565" y="23"/>
                  <a:pt x="565" y="23"/>
                  <a:pt x="565" y="23"/>
                </a:cubicBezTo>
                <a:cubicBezTo>
                  <a:pt x="549" y="17"/>
                  <a:pt x="533" y="15"/>
                  <a:pt x="517" y="15"/>
                </a:cubicBezTo>
                <a:cubicBezTo>
                  <a:pt x="517" y="15"/>
                  <a:pt x="516" y="15"/>
                  <a:pt x="516" y="15"/>
                </a:cubicBezTo>
                <a:cubicBezTo>
                  <a:pt x="506" y="51"/>
                  <a:pt x="506" y="51"/>
                  <a:pt x="506" y="51"/>
                </a:cubicBezTo>
                <a:cubicBezTo>
                  <a:pt x="505" y="53"/>
                  <a:pt x="503" y="55"/>
                  <a:pt x="500" y="56"/>
                </a:cubicBezTo>
                <a:cubicBezTo>
                  <a:pt x="479" y="59"/>
                  <a:pt x="459" y="69"/>
                  <a:pt x="443" y="84"/>
                </a:cubicBezTo>
                <a:cubicBezTo>
                  <a:pt x="442" y="86"/>
                  <a:pt x="439" y="87"/>
                  <a:pt x="436" y="86"/>
                </a:cubicBezTo>
                <a:cubicBezTo>
                  <a:pt x="401" y="73"/>
                  <a:pt x="401" y="73"/>
                  <a:pt x="401" y="73"/>
                </a:cubicBezTo>
                <a:cubicBezTo>
                  <a:pt x="391" y="86"/>
                  <a:pt x="384" y="101"/>
                  <a:pt x="379" y="116"/>
                </a:cubicBezTo>
                <a:cubicBezTo>
                  <a:pt x="410" y="137"/>
                  <a:pt x="410" y="137"/>
                  <a:pt x="410" y="137"/>
                </a:cubicBezTo>
                <a:cubicBezTo>
                  <a:pt x="412" y="138"/>
                  <a:pt x="413" y="141"/>
                  <a:pt x="413" y="144"/>
                </a:cubicBezTo>
                <a:cubicBezTo>
                  <a:pt x="412" y="149"/>
                  <a:pt x="412" y="154"/>
                  <a:pt x="412" y="160"/>
                </a:cubicBezTo>
                <a:cubicBezTo>
                  <a:pt x="412" y="176"/>
                  <a:pt x="415" y="193"/>
                  <a:pt x="423" y="207"/>
                </a:cubicBezTo>
                <a:cubicBezTo>
                  <a:pt x="424" y="210"/>
                  <a:pt x="424" y="213"/>
                  <a:pt x="422" y="215"/>
                </a:cubicBezTo>
                <a:cubicBezTo>
                  <a:pt x="399" y="244"/>
                  <a:pt x="399" y="244"/>
                  <a:pt x="399" y="244"/>
                </a:cubicBezTo>
                <a:cubicBezTo>
                  <a:pt x="409" y="258"/>
                  <a:pt x="421" y="269"/>
                  <a:pt x="434" y="279"/>
                </a:cubicBezTo>
                <a:cubicBezTo>
                  <a:pt x="463" y="255"/>
                  <a:pt x="463" y="255"/>
                  <a:pt x="463" y="255"/>
                </a:cubicBezTo>
                <a:cubicBezTo>
                  <a:pt x="465" y="254"/>
                  <a:pt x="468" y="253"/>
                  <a:pt x="471" y="254"/>
                </a:cubicBezTo>
                <a:cubicBezTo>
                  <a:pt x="485" y="262"/>
                  <a:pt x="501" y="265"/>
                  <a:pt x="517" y="265"/>
                </a:cubicBezTo>
                <a:cubicBezTo>
                  <a:pt x="522" y="265"/>
                  <a:pt x="527" y="265"/>
                  <a:pt x="532" y="264"/>
                </a:cubicBezTo>
                <a:cubicBezTo>
                  <a:pt x="532" y="264"/>
                  <a:pt x="533" y="264"/>
                  <a:pt x="533" y="264"/>
                </a:cubicBezTo>
                <a:close/>
                <a:moveTo>
                  <a:pt x="517" y="199"/>
                </a:moveTo>
                <a:cubicBezTo>
                  <a:pt x="496" y="199"/>
                  <a:pt x="478" y="181"/>
                  <a:pt x="478" y="160"/>
                </a:cubicBezTo>
                <a:cubicBezTo>
                  <a:pt x="478" y="138"/>
                  <a:pt x="496" y="121"/>
                  <a:pt x="517" y="121"/>
                </a:cubicBezTo>
                <a:cubicBezTo>
                  <a:pt x="539" y="121"/>
                  <a:pt x="556" y="138"/>
                  <a:pt x="556" y="160"/>
                </a:cubicBezTo>
                <a:cubicBezTo>
                  <a:pt x="556" y="181"/>
                  <a:pt x="539" y="199"/>
                  <a:pt x="517" y="199"/>
                </a:cubicBezTo>
                <a:close/>
                <a:moveTo>
                  <a:pt x="517" y="135"/>
                </a:moveTo>
                <a:cubicBezTo>
                  <a:pt x="503" y="135"/>
                  <a:pt x="492" y="146"/>
                  <a:pt x="492" y="160"/>
                </a:cubicBezTo>
                <a:cubicBezTo>
                  <a:pt x="492" y="174"/>
                  <a:pt x="503" y="185"/>
                  <a:pt x="517" y="185"/>
                </a:cubicBezTo>
                <a:cubicBezTo>
                  <a:pt x="531" y="185"/>
                  <a:pt x="542" y="174"/>
                  <a:pt x="542" y="160"/>
                </a:cubicBezTo>
                <a:cubicBezTo>
                  <a:pt x="542" y="146"/>
                  <a:pt x="531" y="135"/>
                  <a:pt x="517" y="135"/>
                </a:cubicBezTo>
                <a:close/>
                <a:moveTo>
                  <a:pt x="258" y="678"/>
                </a:moveTo>
                <a:cubicBezTo>
                  <a:pt x="256" y="678"/>
                  <a:pt x="256" y="678"/>
                  <a:pt x="256" y="678"/>
                </a:cubicBezTo>
                <a:cubicBezTo>
                  <a:pt x="252" y="678"/>
                  <a:pt x="250" y="676"/>
                  <a:pt x="249" y="673"/>
                </a:cubicBezTo>
                <a:cubicBezTo>
                  <a:pt x="233" y="615"/>
                  <a:pt x="233" y="615"/>
                  <a:pt x="233" y="615"/>
                </a:cubicBezTo>
                <a:cubicBezTo>
                  <a:pt x="208" y="612"/>
                  <a:pt x="184" y="604"/>
                  <a:pt x="162" y="592"/>
                </a:cubicBezTo>
                <a:cubicBezTo>
                  <a:pt x="113" y="628"/>
                  <a:pt x="113" y="628"/>
                  <a:pt x="113" y="628"/>
                </a:cubicBezTo>
                <a:cubicBezTo>
                  <a:pt x="111" y="630"/>
                  <a:pt x="108" y="630"/>
                  <a:pt x="105" y="628"/>
                </a:cubicBezTo>
                <a:cubicBezTo>
                  <a:pt x="86" y="614"/>
                  <a:pt x="69" y="598"/>
                  <a:pt x="55" y="579"/>
                </a:cubicBezTo>
                <a:cubicBezTo>
                  <a:pt x="53" y="577"/>
                  <a:pt x="53" y="574"/>
                  <a:pt x="55" y="571"/>
                </a:cubicBezTo>
                <a:cubicBezTo>
                  <a:pt x="90" y="522"/>
                  <a:pt x="90" y="522"/>
                  <a:pt x="90" y="522"/>
                </a:cubicBezTo>
                <a:cubicBezTo>
                  <a:pt x="75" y="499"/>
                  <a:pt x="66" y="474"/>
                  <a:pt x="62" y="447"/>
                </a:cubicBezTo>
                <a:cubicBezTo>
                  <a:pt x="5" y="431"/>
                  <a:pt x="5" y="431"/>
                  <a:pt x="5" y="431"/>
                </a:cubicBezTo>
                <a:cubicBezTo>
                  <a:pt x="2" y="430"/>
                  <a:pt x="0" y="427"/>
                  <a:pt x="0" y="424"/>
                </a:cubicBezTo>
                <a:cubicBezTo>
                  <a:pt x="0" y="423"/>
                  <a:pt x="0" y="421"/>
                  <a:pt x="0" y="419"/>
                </a:cubicBezTo>
                <a:cubicBezTo>
                  <a:pt x="0" y="398"/>
                  <a:pt x="2" y="376"/>
                  <a:pt x="8" y="355"/>
                </a:cubicBezTo>
                <a:cubicBezTo>
                  <a:pt x="8" y="352"/>
                  <a:pt x="11" y="350"/>
                  <a:pt x="14" y="350"/>
                </a:cubicBezTo>
                <a:cubicBezTo>
                  <a:pt x="74" y="348"/>
                  <a:pt x="74" y="348"/>
                  <a:pt x="74" y="348"/>
                </a:cubicBezTo>
                <a:cubicBezTo>
                  <a:pt x="83" y="324"/>
                  <a:pt x="97" y="302"/>
                  <a:pt x="114" y="283"/>
                </a:cubicBezTo>
                <a:cubicBezTo>
                  <a:pt x="91" y="229"/>
                  <a:pt x="91" y="229"/>
                  <a:pt x="91" y="229"/>
                </a:cubicBezTo>
                <a:cubicBezTo>
                  <a:pt x="89" y="226"/>
                  <a:pt x="90" y="223"/>
                  <a:pt x="93" y="221"/>
                </a:cubicBezTo>
                <a:cubicBezTo>
                  <a:pt x="110" y="206"/>
                  <a:pt x="130" y="193"/>
                  <a:pt x="151" y="184"/>
                </a:cubicBezTo>
                <a:cubicBezTo>
                  <a:pt x="154" y="182"/>
                  <a:pt x="157" y="183"/>
                  <a:pt x="159" y="185"/>
                </a:cubicBezTo>
                <a:cubicBezTo>
                  <a:pt x="199" y="230"/>
                  <a:pt x="199" y="230"/>
                  <a:pt x="199" y="230"/>
                </a:cubicBezTo>
                <a:cubicBezTo>
                  <a:pt x="218" y="224"/>
                  <a:pt x="238" y="221"/>
                  <a:pt x="258" y="221"/>
                </a:cubicBezTo>
                <a:cubicBezTo>
                  <a:pt x="264" y="221"/>
                  <a:pt x="270" y="222"/>
                  <a:pt x="276" y="222"/>
                </a:cubicBezTo>
                <a:cubicBezTo>
                  <a:pt x="304" y="170"/>
                  <a:pt x="304" y="170"/>
                  <a:pt x="304" y="170"/>
                </a:cubicBezTo>
                <a:cubicBezTo>
                  <a:pt x="306" y="167"/>
                  <a:pt x="309" y="165"/>
                  <a:pt x="312" y="166"/>
                </a:cubicBezTo>
                <a:cubicBezTo>
                  <a:pt x="335" y="171"/>
                  <a:pt x="357" y="179"/>
                  <a:pt x="378" y="190"/>
                </a:cubicBezTo>
                <a:cubicBezTo>
                  <a:pt x="380" y="191"/>
                  <a:pt x="382" y="194"/>
                  <a:pt x="381" y="197"/>
                </a:cubicBezTo>
                <a:cubicBezTo>
                  <a:pt x="371" y="256"/>
                  <a:pt x="371" y="256"/>
                  <a:pt x="371" y="256"/>
                </a:cubicBezTo>
                <a:cubicBezTo>
                  <a:pt x="391" y="271"/>
                  <a:pt x="410" y="289"/>
                  <a:pt x="423" y="310"/>
                </a:cubicBezTo>
                <a:cubicBezTo>
                  <a:pt x="482" y="300"/>
                  <a:pt x="482" y="300"/>
                  <a:pt x="482" y="300"/>
                </a:cubicBezTo>
                <a:cubicBezTo>
                  <a:pt x="485" y="299"/>
                  <a:pt x="489" y="301"/>
                  <a:pt x="490" y="303"/>
                </a:cubicBezTo>
                <a:cubicBezTo>
                  <a:pt x="500" y="325"/>
                  <a:pt x="508" y="347"/>
                  <a:pt x="513" y="370"/>
                </a:cubicBezTo>
                <a:cubicBezTo>
                  <a:pt x="513" y="373"/>
                  <a:pt x="512" y="376"/>
                  <a:pt x="509" y="378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6" y="410"/>
                  <a:pt x="456" y="415"/>
                  <a:pt x="456" y="419"/>
                </a:cubicBezTo>
                <a:cubicBezTo>
                  <a:pt x="456" y="439"/>
                  <a:pt x="453" y="459"/>
                  <a:pt x="447" y="479"/>
                </a:cubicBezTo>
                <a:cubicBezTo>
                  <a:pt x="492" y="519"/>
                  <a:pt x="492" y="519"/>
                  <a:pt x="492" y="519"/>
                </a:cubicBezTo>
                <a:cubicBezTo>
                  <a:pt x="494" y="521"/>
                  <a:pt x="495" y="524"/>
                  <a:pt x="494" y="527"/>
                </a:cubicBezTo>
                <a:cubicBezTo>
                  <a:pt x="484" y="548"/>
                  <a:pt x="471" y="568"/>
                  <a:pt x="456" y="586"/>
                </a:cubicBezTo>
                <a:cubicBezTo>
                  <a:pt x="454" y="589"/>
                  <a:pt x="451" y="589"/>
                  <a:pt x="448" y="588"/>
                </a:cubicBezTo>
                <a:cubicBezTo>
                  <a:pt x="393" y="564"/>
                  <a:pt x="393" y="564"/>
                  <a:pt x="393" y="564"/>
                </a:cubicBezTo>
                <a:cubicBezTo>
                  <a:pt x="375" y="581"/>
                  <a:pt x="355" y="594"/>
                  <a:pt x="333" y="603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30" y="666"/>
                  <a:pt x="328" y="669"/>
                  <a:pt x="325" y="669"/>
                </a:cubicBezTo>
                <a:cubicBezTo>
                  <a:pt x="303" y="675"/>
                  <a:pt x="281" y="678"/>
                  <a:pt x="258" y="678"/>
                </a:cubicBezTo>
                <a:close/>
                <a:moveTo>
                  <a:pt x="161" y="576"/>
                </a:moveTo>
                <a:cubicBezTo>
                  <a:pt x="162" y="576"/>
                  <a:pt x="164" y="577"/>
                  <a:pt x="165" y="577"/>
                </a:cubicBezTo>
                <a:cubicBezTo>
                  <a:pt x="188" y="591"/>
                  <a:pt x="213" y="599"/>
                  <a:pt x="239" y="602"/>
                </a:cubicBezTo>
                <a:cubicBezTo>
                  <a:pt x="242" y="602"/>
                  <a:pt x="244" y="604"/>
                  <a:pt x="245" y="607"/>
                </a:cubicBezTo>
                <a:cubicBezTo>
                  <a:pt x="261" y="664"/>
                  <a:pt x="261" y="664"/>
                  <a:pt x="261" y="664"/>
                </a:cubicBezTo>
                <a:cubicBezTo>
                  <a:pt x="280" y="664"/>
                  <a:pt x="298" y="661"/>
                  <a:pt x="316" y="657"/>
                </a:cubicBezTo>
                <a:cubicBezTo>
                  <a:pt x="319" y="598"/>
                  <a:pt x="319" y="598"/>
                  <a:pt x="319" y="598"/>
                </a:cubicBezTo>
                <a:cubicBezTo>
                  <a:pt x="319" y="595"/>
                  <a:pt x="321" y="592"/>
                  <a:pt x="323" y="591"/>
                </a:cubicBezTo>
                <a:cubicBezTo>
                  <a:pt x="347" y="582"/>
                  <a:pt x="368" y="569"/>
                  <a:pt x="387" y="551"/>
                </a:cubicBezTo>
                <a:cubicBezTo>
                  <a:pt x="389" y="549"/>
                  <a:pt x="392" y="548"/>
                  <a:pt x="394" y="549"/>
                </a:cubicBezTo>
                <a:cubicBezTo>
                  <a:pt x="449" y="573"/>
                  <a:pt x="449" y="573"/>
                  <a:pt x="449" y="573"/>
                </a:cubicBezTo>
                <a:cubicBezTo>
                  <a:pt x="461" y="558"/>
                  <a:pt x="471" y="542"/>
                  <a:pt x="479" y="526"/>
                </a:cubicBezTo>
                <a:cubicBezTo>
                  <a:pt x="434" y="486"/>
                  <a:pt x="434" y="486"/>
                  <a:pt x="434" y="486"/>
                </a:cubicBezTo>
                <a:cubicBezTo>
                  <a:pt x="432" y="484"/>
                  <a:pt x="431" y="481"/>
                  <a:pt x="432" y="479"/>
                </a:cubicBezTo>
                <a:cubicBezTo>
                  <a:pt x="439" y="459"/>
                  <a:pt x="442" y="439"/>
                  <a:pt x="442" y="419"/>
                </a:cubicBezTo>
                <a:cubicBezTo>
                  <a:pt x="442" y="414"/>
                  <a:pt x="442" y="408"/>
                  <a:pt x="441" y="402"/>
                </a:cubicBezTo>
                <a:cubicBezTo>
                  <a:pt x="441" y="400"/>
                  <a:pt x="443" y="397"/>
                  <a:pt x="445" y="396"/>
                </a:cubicBezTo>
                <a:cubicBezTo>
                  <a:pt x="498" y="368"/>
                  <a:pt x="498" y="368"/>
                  <a:pt x="498" y="368"/>
                </a:cubicBezTo>
                <a:cubicBezTo>
                  <a:pt x="494" y="349"/>
                  <a:pt x="488" y="331"/>
                  <a:pt x="480" y="314"/>
                </a:cubicBezTo>
                <a:cubicBezTo>
                  <a:pt x="421" y="325"/>
                  <a:pt x="421" y="325"/>
                  <a:pt x="421" y="325"/>
                </a:cubicBezTo>
                <a:cubicBezTo>
                  <a:pt x="419" y="325"/>
                  <a:pt x="416" y="324"/>
                  <a:pt x="414" y="322"/>
                </a:cubicBezTo>
                <a:cubicBezTo>
                  <a:pt x="400" y="299"/>
                  <a:pt x="381" y="280"/>
                  <a:pt x="359" y="265"/>
                </a:cubicBezTo>
                <a:cubicBezTo>
                  <a:pt x="357" y="264"/>
                  <a:pt x="356" y="261"/>
                  <a:pt x="356" y="258"/>
                </a:cubicBezTo>
                <a:cubicBezTo>
                  <a:pt x="367" y="200"/>
                  <a:pt x="367" y="200"/>
                  <a:pt x="367" y="200"/>
                </a:cubicBezTo>
                <a:cubicBezTo>
                  <a:pt x="350" y="191"/>
                  <a:pt x="332" y="185"/>
                  <a:pt x="314" y="181"/>
                </a:cubicBezTo>
                <a:cubicBezTo>
                  <a:pt x="286" y="233"/>
                  <a:pt x="286" y="233"/>
                  <a:pt x="286" y="233"/>
                </a:cubicBezTo>
                <a:cubicBezTo>
                  <a:pt x="285" y="235"/>
                  <a:pt x="282" y="237"/>
                  <a:pt x="279" y="237"/>
                </a:cubicBezTo>
                <a:cubicBezTo>
                  <a:pt x="272" y="236"/>
                  <a:pt x="265" y="235"/>
                  <a:pt x="258" y="235"/>
                </a:cubicBezTo>
                <a:cubicBezTo>
                  <a:pt x="238" y="235"/>
                  <a:pt x="218" y="239"/>
                  <a:pt x="199" y="245"/>
                </a:cubicBezTo>
                <a:cubicBezTo>
                  <a:pt x="197" y="246"/>
                  <a:pt x="194" y="245"/>
                  <a:pt x="192" y="243"/>
                </a:cubicBezTo>
                <a:cubicBezTo>
                  <a:pt x="152" y="198"/>
                  <a:pt x="152" y="198"/>
                  <a:pt x="152" y="198"/>
                </a:cubicBezTo>
                <a:cubicBezTo>
                  <a:pt x="136" y="207"/>
                  <a:pt x="120" y="216"/>
                  <a:pt x="106" y="228"/>
                </a:cubicBezTo>
                <a:cubicBezTo>
                  <a:pt x="129" y="282"/>
                  <a:pt x="129" y="282"/>
                  <a:pt x="129" y="282"/>
                </a:cubicBezTo>
                <a:cubicBezTo>
                  <a:pt x="130" y="285"/>
                  <a:pt x="130" y="288"/>
                  <a:pt x="128" y="290"/>
                </a:cubicBezTo>
                <a:cubicBezTo>
                  <a:pt x="109" y="309"/>
                  <a:pt x="94" y="332"/>
                  <a:pt x="85" y="357"/>
                </a:cubicBezTo>
                <a:cubicBezTo>
                  <a:pt x="84" y="360"/>
                  <a:pt x="82" y="361"/>
                  <a:pt x="79" y="362"/>
                </a:cubicBezTo>
                <a:cubicBezTo>
                  <a:pt x="20" y="364"/>
                  <a:pt x="20" y="364"/>
                  <a:pt x="20" y="364"/>
                </a:cubicBezTo>
                <a:cubicBezTo>
                  <a:pt x="16" y="382"/>
                  <a:pt x="14" y="400"/>
                  <a:pt x="14" y="419"/>
                </a:cubicBezTo>
                <a:cubicBezTo>
                  <a:pt x="71" y="435"/>
                  <a:pt x="71" y="435"/>
                  <a:pt x="71" y="435"/>
                </a:cubicBezTo>
                <a:cubicBezTo>
                  <a:pt x="73" y="435"/>
                  <a:pt x="75" y="438"/>
                  <a:pt x="76" y="441"/>
                </a:cubicBezTo>
                <a:cubicBezTo>
                  <a:pt x="79" y="468"/>
                  <a:pt x="89" y="495"/>
                  <a:pt x="104" y="519"/>
                </a:cubicBezTo>
                <a:cubicBezTo>
                  <a:pt x="105" y="521"/>
                  <a:pt x="105" y="524"/>
                  <a:pt x="104" y="527"/>
                </a:cubicBezTo>
                <a:cubicBezTo>
                  <a:pt x="69" y="575"/>
                  <a:pt x="69" y="575"/>
                  <a:pt x="69" y="575"/>
                </a:cubicBezTo>
                <a:cubicBezTo>
                  <a:pt x="81" y="589"/>
                  <a:pt x="94" y="602"/>
                  <a:pt x="109" y="613"/>
                </a:cubicBezTo>
                <a:cubicBezTo>
                  <a:pt x="157" y="578"/>
                  <a:pt x="157" y="578"/>
                  <a:pt x="157" y="578"/>
                </a:cubicBezTo>
                <a:cubicBezTo>
                  <a:pt x="158" y="577"/>
                  <a:pt x="160" y="576"/>
                  <a:pt x="161" y="576"/>
                </a:cubicBezTo>
                <a:close/>
                <a:moveTo>
                  <a:pt x="258" y="484"/>
                </a:moveTo>
                <a:cubicBezTo>
                  <a:pt x="223" y="484"/>
                  <a:pt x="193" y="455"/>
                  <a:pt x="193" y="419"/>
                </a:cubicBezTo>
                <a:cubicBezTo>
                  <a:pt x="193" y="383"/>
                  <a:pt x="223" y="354"/>
                  <a:pt x="258" y="354"/>
                </a:cubicBezTo>
                <a:cubicBezTo>
                  <a:pt x="294" y="354"/>
                  <a:pt x="323" y="383"/>
                  <a:pt x="323" y="419"/>
                </a:cubicBezTo>
                <a:cubicBezTo>
                  <a:pt x="323" y="455"/>
                  <a:pt x="294" y="484"/>
                  <a:pt x="258" y="484"/>
                </a:cubicBezTo>
                <a:close/>
                <a:moveTo>
                  <a:pt x="258" y="368"/>
                </a:moveTo>
                <a:cubicBezTo>
                  <a:pt x="230" y="368"/>
                  <a:pt x="207" y="391"/>
                  <a:pt x="207" y="419"/>
                </a:cubicBezTo>
                <a:cubicBezTo>
                  <a:pt x="207" y="447"/>
                  <a:pt x="230" y="470"/>
                  <a:pt x="258" y="470"/>
                </a:cubicBezTo>
                <a:cubicBezTo>
                  <a:pt x="286" y="470"/>
                  <a:pt x="309" y="447"/>
                  <a:pt x="309" y="419"/>
                </a:cubicBezTo>
                <a:cubicBezTo>
                  <a:pt x="309" y="391"/>
                  <a:pt x="286" y="368"/>
                  <a:pt x="258" y="36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+mn-lt"/>
            </a:endParaRPr>
          </a:p>
        </p:txBody>
      </p:sp>
      <p:sp>
        <p:nvSpPr>
          <p:cNvPr id="7" name="Freeform 123">
            <a:extLst>
              <a:ext uri="{FF2B5EF4-FFF2-40B4-BE49-F238E27FC236}">
                <a16:creationId xmlns:a16="http://schemas.microsoft.com/office/drawing/2014/main" id="{C2A9C60E-1509-7AA0-17F3-84E6C79A62F5}"/>
              </a:ext>
            </a:extLst>
          </p:cNvPr>
          <p:cNvSpPr>
            <a:spLocks noEditPoints="1"/>
          </p:cNvSpPr>
          <p:nvPr/>
        </p:nvSpPr>
        <p:spPr bwMode="auto">
          <a:xfrm>
            <a:off x="3219504" y="3613523"/>
            <a:ext cx="578482" cy="580395"/>
          </a:xfrm>
          <a:custGeom>
            <a:avLst/>
            <a:gdLst>
              <a:gd name="T0" fmla="*/ 529 w 676"/>
              <a:gd name="T1" fmla="*/ 279 h 678"/>
              <a:gd name="T2" fmla="*/ 431 w 676"/>
              <a:gd name="T3" fmla="*/ 293 h 678"/>
              <a:gd name="T4" fmla="*/ 409 w 676"/>
              <a:gd name="T5" fmla="*/ 210 h 678"/>
              <a:gd name="T6" fmla="*/ 367 w 676"/>
              <a:gd name="T7" fmla="*/ 125 h 678"/>
              <a:gd name="T8" fmla="*/ 401 w 676"/>
              <a:gd name="T9" fmla="*/ 58 h 678"/>
              <a:gd name="T10" fmla="*/ 504 w 676"/>
              <a:gd name="T11" fmla="*/ 6 h 678"/>
              <a:gd name="T12" fmla="*/ 579 w 676"/>
              <a:gd name="T13" fmla="*/ 18 h 678"/>
              <a:gd name="T14" fmla="*/ 659 w 676"/>
              <a:gd name="T15" fmla="*/ 100 h 678"/>
              <a:gd name="T16" fmla="*/ 676 w 676"/>
              <a:gd name="T17" fmla="*/ 169 h 678"/>
              <a:gd name="T18" fmla="*/ 605 w 676"/>
              <a:gd name="T19" fmla="*/ 241 h 678"/>
              <a:gd name="T20" fmla="*/ 558 w 676"/>
              <a:gd name="T21" fmla="*/ 314 h 678"/>
              <a:gd name="T22" fmla="*/ 539 w 676"/>
              <a:gd name="T23" fmla="*/ 267 h 678"/>
              <a:gd name="T24" fmla="*/ 590 w 676"/>
              <a:gd name="T25" fmla="*/ 242 h 678"/>
              <a:gd name="T26" fmla="*/ 626 w 676"/>
              <a:gd name="T27" fmla="*/ 172 h 678"/>
              <a:gd name="T28" fmla="*/ 655 w 676"/>
              <a:gd name="T29" fmla="*/ 114 h 678"/>
              <a:gd name="T30" fmla="*/ 566 w 676"/>
              <a:gd name="T31" fmla="*/ 67 h 678"/>
              <a:gd name="T32" fmla="*/ 517 w 676"/>
              <a:gd name="T33" fmla="*/ 15 h 678"/>
              <a:gd name="T34" fmla="*/ 500 w 676"/>
              <a:gd name="T35" fmla="*/ 56 h 678"/>
              <a:gd name="T36" fmla="*/ 401 w 676"/>
              <a:gd name="T37" fmla="*/ 73 h 678"/>
              <a:gd name="T38" fmla="*/ 413 w 676"/>
              <a:gd name="T39" fmla="*/ 144 h 678"/>
              <a:gd name="T40" fmla="*/ 422 w 676"/>
              <a:gd name="T41" fmla="*/ 215 h 678"/>
              <a:gd name="T42" fmla="*/ 463 w 676"/>
              <a:gd name="T43" fmla="*/ 255 h 678"/>
              <a:gd name="T44" fmla="*/ 532 w 676"/>
              <a:gd name="T45" fmla="*/ 264 h 678"/>
              <a:gd name="T46" fmla="*/ 478 w 676"/>
              <a:gd name="T47" fmla="*/ 160 h 678"/>
              <a:gd name="T48" fmla="*/ 517 w 676"/>
              <a:gd name="T49" fmla="*/ 199 h 678"/>
              <a:gd name="T50" fmla="*/ 517 w 676"/>
              <a:gd name="T51" fmla="*/ 185 h 678"/>
              <a:gd name="T52" fmla="*/ 258 w 676"/>
              <a:gd name="T53" fmla="*/ 678 h 678"/>
              <a:gd name="T54" fmla="*/ 233 w 676"/>
              <a:gd name="T55" fmla="*/ 615 h 678"/>
              <a:gd name="T56" fmla="*/ 105 w 676"/>
              <a:gd name="T57" fmla="*/ 628 h 678"/>
              <a:gd name="T58" fmla="*/ 90 w 676"/>
              <a:gd name="T59" fmla="*/ 522 h 678"/>
              <a:gd name="T60" fmla="*/ 0 w 676"/>
              <a:gd name="T61" fmla="*/ 424 h 678"/>
              <a:gd name="T62" fmla="*/ 14 w 676"/>
              <a:gd name="T63" fmla="*/ 350 h 678"/>
              <a:gd name="T64" fmla="*/ 91 w 676"/>
              <a:gd name="T65" fmla="*/ 229 h 678"/>
              <a:gd name="T66" fmla="*/ 159 w 676"/>
              <a:gd name="T67" fmla="*/ 185 h 678"/>
              <a:gd name="T68" fmla="*/ 276 w 676"/>
              <a:gd name="T69" fmla="*/ 222 h 678"/>
              <a:gd name="T70" fmla="*/ 378 w 676"/>
              <a:gd name="T71" fmla="*/ 190 h 678"/>
              <a:gd name="T72" fmla="*/ 423 w 676"/>
              <a:gd name="T73" fmla="*/ 310 h 678"/>
              <a:gd name="T74" fmla="*/ 513 w 676"/>
              <a:gd name="T75" fmla="*/ 370 h 678"/>
              <a:gd name="T76" fmla="*/ 456 w 676"/>
              <a:gd name="T77" fmla="*/ 419 h 678"/>
              <a:gd name="T78" fmla="*/ 494 w 676"/>
              <a:gd name="T79" fmla="*/ 527 h 678"/>
              <a:gd name="T80" fmla="*/ 393 w 676"/>
              <a:gd name="T81" fmla="*/ 564 h 678"/>
              <a:gd name="T82" fmla="*/ 325 w 676"/>
              <a:gd name="T83" fmla="*/ 669 h 678"/>
              <a:gd name="T84" fmla="*/ 165 w 676"/>
              <a:gd name="T85" fmla="*/ 577 h 678"/>
              <a:gd name="T86" fmla="*/ 261 w 676"/>
              <a:gd name="T87" fmla="*/ 664 h 678"/>
              <a:gd name="T88" fmla="*/ 323 w 676"/>
              <a:gd name="T89" fmla="*/ 591 h 678"/>
              <a:gd name="T90" fmla="*/ 449 w 676"/>
              <a:gd name="T91" fmla="*/ 573 h 678"/>
              <a:gd name="T92" fmla="*/ 432 w 676"/>
              <a:gd name="T93" fmla="*/ 479 h 678"/>
              <a:gd name="T94" fmla="*/ 445 w 676"/>
              <a:gd name="T95" fmla="*/ 396 h 678"/>
              <a:gd name="T96" fmla="*/ 421 w 676"/>
              <a:gd name="T97" fmla="*/ 325 h 678"/>
              <a:gd name="T98" fmla="*/ 356 w 676"/>
              <a:gd name="T99" fmla="*/ 258 h 678"/>
              <a:gd name="T100" fmla="*/ 286 w 676"/>
              <a:gd name="T101" fmla="*/ 233 h 678"/>
              <a:gd name="T102" fmla="*/ 199 w 676"/>
              <a:gd name="T103" fmla="*/ 245 h 678"/>
              <a:gd name="T104" fmla="*/ 106 w 676"/>
              <a:gd name="T105" fmla="*/ 228 h 678"/>
              <a:gd name="T106" fmla="*/ 85 w 676"/>
              <a:gd name="T107" fmla="*/ 357 h 678"/>
              <a:gd name="T108" fmla="*/ 14 w 676"/>
              <a:gd name="T109" fmla="*/ 419 h 678"/>
              <a:gd name="T110" fmla="*/ 104 w 676"/>
              <a:gd name="T111" fmla="*/ 519 h 678"/>
              <a:gd name="T112" fmla="*/ 109 w 676"/>
              <a:gd name="T113" fmla="*/ 613 h 678"/>
              <a:gd name="T114" fmla="*/ 258 w 676"/>
              <a:gd name="T115" fmla="*/ 484 h 678"/>
              <a:gd name="T116" fmla="*/ 323 w 676"/>
              <a:gd name="T117" fmla="*/ 419 h 678"/>
              <a:gd name="T118" fmla="*/ 207 w 676"/>
              <a:gd name="T119" fmla="*/ 419 h 678"/>
              <a:gd name="T120" fmla="*/ 258 w 676"/>
              <a:gd name="T121" fmla="*/ 36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76" h="678">
                <a:moveTo>
                  <a:pt x="556" y="314"/>
                </a:moveTo>
                <a:cubicBezTo>
                  <a:pt x="554" y="314"/>
                  <a:pt x="551" y="313"/>
                  <a:pt x="550" y="311"/>
                </a:cubicBezTo>
                <a:cubicBezTo>
                  <a:pt x="529" y="279"/>
                  <a:pt x="529" y="279"/>
                  <a:pt x="529" y="279"/>
                </a:cubicBezTo>
                <a:cubicBezTo>
                  <a:pt x="508" y="281"/>
                  <a:pt x="488" y="277"/>
                  <a:pt x="468" y="269"/>
                </a:cubicBezTo>
                <a:cubicBezTo>
                  <a:pt x="439" y="293"/>
                  <a:pt x="439" y="293"/>
                  <a:pt x="439" y="293"/>
                </a:cubicBezTo>
                <a:cubicBezTo>
                  <a:pt x="437" y="295"/>
                  <a:pt x="433" y="295"/>
                  <a:pt x="431" y="293"/>
                </a:cubicBezTo>
                <a:cubicBezTo>
                  <a:pt x="412" y="281"/>
                  <a:pt x="397" y="266"/>
                  <a:pt x="385" y="248"/>
                </a:cubicBezTo>
                <a:cubicBezTo>
                  <a:pt x="383" y="245"/>
                  <a:pt x="383" y="242"/>
                  <a:pt x="385" y="239"/>
                </a:cubicBezTo>
                <a:cubicBezTo>
                  <a:pt x="409" y="210"/>
                  <a:pt x="409" y="210"/>
                  <a:pt x="409" y="210"/>
                </a:cubicBezTo>
                <a:cubicBezTo>
                  <a:pt x="401" y="194"/>
                  <a:pt x="398" y="177"/>
                  <a:pt x="398" y="160"/>
                </a:cubicBezTo>
                <a:cubicBezTo>
                  <a:pt x="398" y="155"/>
                  <a:pt x="398" y="151"/>
                  <a:pt x="398" y="146"/>
                </a:cubicBezTo>
                <a:cubicBezTo>
                  <a:pt x="367" y="125"/>
                  <a:pt x="367" y="125"/>
                  <a:pt x="367" y="125"/>
                </a:cubicBezTo>
                <a:cubicBezTo>
                  <a:pt x="364" y="124"/>
                  <a:pt x="363" y="120"/>
                  <a:pt x="364" y="117"/>
                </a:cubicBezTo>
                <a:cubicBezTo>
                  <a:pt x="370" y="96"/>
                  <a:pt x="380" y="77"/>
                  <a:pt x="393" y="60"/>
                </a:cubicBezTo>
                <a:cubicBezTo>
                  <a:pt x="395" y="57"/>
                  <a:pt x="399" y="57"/>
                  <a:pt x="401" y="58"/>
                </a:cubicBezTo>
                <a:cubicBezTo>
                  <a:pt x="437" y="71"/>
                  <a:pt x="437" y="71"/>
                  <a:pt x="437" y="71"/>
                </a:cubicBezTo>
                <a:cubicBezTo>
                  <a:pt x="453" y="57"/>
                  <a:pt x="472" y="47"/>
                  <a:pt x="494" y="43"/>
                </a:cubicBezTo>
                <a:cubicBezTo>
                  <a:pt x="504" y="6"/>
                  <a:pt x="504" y="6"/>
                  <a:pt x="504" y="6"/>
                </a:cubicBezTo>
                <a:cubicBezTo>
                  <a:pt x="505" y="3"/>
                  <a:pt x="507" y="1"/>
                  <a:pt x="510" y="1"/>
                </a:cubicBezTo>
                <a:cubicBezTo>
                  <a:pt x="532" y="0"/>
                  <a:pt x="554" y="4"/>
                  <a:pt x="574" y="11"/>
                </a:cubicBezTo>
                <a:cubicBezTo>
                  <a:pt x="577" y="12"/>
                  <a:pt x="579" y="15"/>
                  <a:pt x="579" y="18"/>
                </a:cubicBezTo>
                <a:cubicBezTo>
                  <a:pt x="577" y="56"/>
                  <a:pt x="577" y="56"/>
                  <a:pt x="577" y="56"/>
                </a:cubicBezTo>
                <a:cubicBezTo>
                  <a:pt x="596" y="67"/>
                  <a:pt x="611" y="83"/>
                  <a:pt x="621" y="102"/>
                </a:cubicBezTo>
                <a:cubicBezTo>
                  <a:pt x="659" y="100"/>
                  <a:pt x="659" y="100"/>
                  <a:pt x="659" y="100"/>
                </a:cubicBezTo>
                <a:cubicBezTo>
                  <a:pt x="662" y="100"/>
                  <a:pt x="665" y="102"/>
                  <a:pt x="666" y="105"/>
                </a:cubicBezTo>
                <a:cubicBezTo>
                  <a:pt x="673" y="122"/>
                  <a:pt x="676" y="141"/>
                  <a:pt x="676" y="160"/>
                </a:cubicBezTo>
                <a:cubicBezTo>
                  <a:pt x="676" y="163"/>
                  <a:pt x="676" y="166"/>
                  <a:pt x="676" y="169"/>
                </a:cubicBezTo>
                <a:cubicBezTo>
                  <a:pt x="676" y="172"/>
                  <a:pt x="674" y="174"/>
                  <a:pt x="671" y="175"/>
                </a:cubicBezTo>
                <a:cubicBezTo>
                  <a:pt x="634" y="185"/>
                  <a:pt x="634" y="185"/>
                  <a:pt x="634" y="185"/>
                </a:cubicBezTo>
                <a:cubicBezTo>
                  <a:pt x="629" y="206"/>
                  <a:pt x="619" y="225"/>
                  <a:pt x="605" y="241"/>
                </a:cubicBezTo>
                <a:cubicBezTo>
                  <a:pt x="618" y="277"/>
                  <a:pt x="618" y="277"/>
                  <a:pt x="618" y="277"/>
                </a:cubicBezTo>
                <a:cubicBezTo>
                  <a:pt x="619" y="279"/>
                  <a:pt x="618" y="283"/>
                  <a:pt x="616" y="284"/>
                </a:cubicBezTo>
                <a:cubicBezTo>
                  <a:pt x="598" y="298"/>
                  <a:pt x="579" y="308"/>
                  <a:pt x="558" y="314"/>
                </a:cubicBezTo>
                <a:cubicBezTo>
                  <a:pt x="557" y="314"/>
                  <a:pt x="557" y="314"/>
                  <a:pt x="556" y="314"/>
                </a:cubicBezTo>
                <a:close/>
                <a:moveTo>
                  <a:pt x="533" y="264"/>
                </a:moveTo>
                <a:cubicBezTo>
                  <a:pt x="535" y="264"/>
                  <a:pt x="538" y="265"/>
                  <a:pt x="539" y="267"/>
                </a:cubicBezTo>
                <a:cubicBezTo>
                  <a:pt x="559" y="299"/>
                  <a:pt x="559" y="299"/>
                  <a:pt x="559" y="299"/>
                </a:cubicBezTo>
                <a:cubicBezTo>
                  <a:pt x="575" y="294"/>
                  <a:pt x="590" y="286"/>
                  <a:pt x="603" y="277"/>
                </a:cubicBezTo>
                <a:cubicBezTo>
                  <a:pt x="590" y="242"/>
                  <a:pt x="590" y="242"/>
                  <a:pt x="590" y="242"/>
                </a:cubicBezTo>
                <a:cubicBezTo>
                  <a:pt x="589" y="239"/>
                  <a:pt x="590" y="236"/>
                  <a:pt x="592" y="234"/>
                </a:cubicBezTo>
                <a:cubicBezTo>
                  <a:pt x="607" y="219"/>
                  <a:pt x="617" y="199"/>
                  <a:pt x="621" y="178"/>
                </a:cubicBezTo>
                <a:cubicBezTo>
                  <a:pt x="621" y="175"/>
                  <a:pt x="623" y="173"/>
                  <a:pt x="626" y="172"/>
                </a:cubicBezTo>
                <a:cubicBezTo>
                  <a:pt x="662" y="163"/>
                  <a:pt x="662" y="163"/>
                  <a:pt x="662" y="163"/>
                </a:cubicBezTo>
                <a:cubicBezTo>
                  <a:pt x="662" y="162"/>
                  <a:pt x="662" y="161"/>
                  <a:pt x="662" y="160"/>
                </a:cubicBezTo>
                <a:cubicBezTo>
                  <a:pt x="662" y="144"/>
                  <a:pt x="660" y="129"/>
                  <a:pt x="655" y="114"/>
                </a:cubicBezTo>
                <a:cubicBezTo>
                  <a:pt x="618" y="116"/>
                  <a:pt x="618" y="116"/>
                  <a:pt x="618" y="116"/>
                </a:cubicBezTo>
                <a:cubicBezTo>
                  <a:pt x="615" y="116"/>
                  <a:pt x="612" y="114"/>
                  <a:pt x="611" y="112"/>
                </a:cubicBezTo>
                <a:cubicBezTo>
                  <a:pt x="601" y="92"/>
                  <a:pt x="586" y="77"/>
                  <a:pt x="566" y="67"/>
                </a:cubicBezTo>
                <a:cubicBezTo>
                  <a:pt x="564" y="65"/>
                  <a:pt x="562" y="63"/>
                  <a:pt x="563" y="60"/>
                </a:cubicBezTo>
                <a:cubicBezTo>
                  <a:pt x="565" y="23"/>
                  <a:pt x="565" y="23"/>
                  <a:pt x="565" y="23"/>
                </a:cubicBezTo>
                <a:cubicBezTo>
                  <a:pt x="549" y="17"/>
                  <a:pt x="533" y="15"/>
                  <a:pt x="517" y="15"/>
                </a:cubicBezTo>
                <a:cubicBezTo>
                  <a:pt x="517" y="15"/>
                  <a:pt x="516" y="15"/>
                  <a:pt x="516" y="15"/>
                </a:cubicBezTo>
                <a:cubicBezTo>
                  <a:pt x="506" y="51"/>
                  <a:pt x="506" y="51"/>
                  <a:pt x="506" y="51"/>
                </a:cubicBezTo>
                <a:cubicBezTo>
                  <a:pt x="505" y="53"/>
                  <a:pt x="503" y="55"/>
                  <a:pt x="500" y="56"/>
                </a:cubicBezTo>
                <a:cubicBezTo>
                  <a:pt x="479" y="59"/>
                  <a:pt x="459" y="69"/>
                  <a:pt x="443" y="84"/>
                </a:cubicBezTo>
                <a:cubicBezTo>
                  <a:pt x="442" y="86"/>
                  <a:pt x="439" y="87"/>
                  <a:pt x="436" y="86"/>
                </a:cubicBezTo>
                <a:cubicBezTo>
                  <a:pt x="401" y="73"/>
                  <a:pt x="401" y="73"/>
                  <a:pt x="401" y="73"/>
                </a:cubicBezTo>
                <a:cubicBezTo>
                  <a:pt x="391" y="86"/>
                  <a:pt x="384" y="101"/>
                  <a:pt x="379" y="116"/>
                </a:cubicBezTo>
                <a:cubicBezTo>
                  <a:pt x="410" y="137"/>
                  <a:pt x="410" y="137"/>
                  <a:pt x="410" y="137"/>
                </a:cubicBezTo>
                <a:cubicBezTo>
                  <a:pt x="412" y="138"/>
                  <a:pt x="413" y="141"/>
                  <a:pt x="413" y="144"/>
                </a:cubicBezTo>
                <a:cubicBezTo>
                  <a:pt x="412" y="149"/>
                  <a:pt x="412" y="154"/>
                  <a:pt x="412" y="160"/>
                </a:cubicBezTo>
                <a:cubicBezTo>
                  <a:pt x="412" y="176"/>
                  <a:pt x="415" y="193"/>
                  <a:pt x="423" y="207"/>
                </a:cubicBezTo>
                <a:cubicBezTo>
                  <a:pt x="424" y="210"/>
                  <a:pt x="424" y="213"/>
                  <a:pt x="422" y="215"/>
                </a:cubicBezTo>
                <a:cubicBezTo>
                  <a:pt x="399" y="244"/>
                  <a:pt x="399" y="244"/>
                  <a:pt x="399" y="244"/>
                </a:cubicBezTo>
                <a:cubicBezTo>
                  <a:pt x="409" y="258"/>
                  <a:pt x="421" y="269"/>
                  <a:pt x="434" y="279"/>
                </a:cubicBezTo>
                <a:cubicBezTo>
                  <a:pt x="463" y="255"/>
                  <a:pt x="463" y="255"/>
                  <a:pt x="463" y="255"/>
                </a:cubicBezTo>
                <a:cubicBezTo>
                  <a:pt x="465" y="254"/>
                  <a:pt x="468" y="253"/>
                  <a:pt x="471" y="254"/>
                </a:cubicBezTo>
                <a:cubicBezTo>
                  <a:pt x="485" y="262"/>
                  <a:pt x="501" y="265"/>
                  <a:pt x="517" y="265"/>
                </a:cubicBezTo>
                <a:cubicBezTo>
                  <a:pt x="522" y="265"/>
                  <a:pt x="527" y="265"/>
                  <a:pt x="532" y="264"/>
                </a:cubicBezTo>
                <a:cubicBezTo>
                  <a:pt x="532" y="264"/>
                  <a:pt x="533" y="264"/>
                  <a:pt x="533" y="264"/>
                </a:cubicBezTo>
                <a:close/>
                <a:moveTo>
                  <a:pt x="517" y="199"/>
                </a:moveTo>
                <a:cubicBezTo>
                  <a:pt x="496" y="199"/>
                  <a:pt x="478" y="181"/>
                  <a:pt x="478" y="160"/>
                </a:cubicBezTo>
                <a:cubicBezTo>
                  <a:pt x="478" y="138"/>
                  <a:pt x="496" y="121"/>
                  <a:pt x="517" y="121"/>
                </a:cubicBezTo>
                <a:cubicBezTo>
                  <a:pt x="539" y="121"/>
                  <a:pt x="556" y="138"/>
                  <a:pt x="556" y="160"/>
                </a:cubicBezTo>
                <a:cubicBezTo>
                  <a:pt x="556" y="181"/>
                  <a:pt x="539" y="199"/>
                  <a:pt x="517" y="199"/>
                </a:cubicBezTo>
                <a:close/>
                <a:moveTo>
                  <a:pt x="517" y="135"/>
                </a:moveTo>
                <a:cubicBezTo>
                  <a:pt x="503" y="135"/>
                  <a:pt x="492" y="146"/>
                  <a:pt x="492" y="160"/>
                </a:cubicBezTo>
                <a:cubicBezTo>
                  <a:pt x="492" y="174"/>
                  <a:pt x="503" y="185"/>
                  <a:pt x="517" y="185"/>
                </a:cubicBezTo>
                <a:cubicBezTo>
                  <a:pt x="531" y="185"/>
                  <a:pt x="542" y="174"/>
                  <a:pt x="542" y="160"/>
                </a:cubicBezTo>
                <a:cubicBezTo>
                  <a:pt x="542" y="146"/>
                  <a:pt x="531" y="135"/>
                  <a:pt x="517" y="135"/>
                </a:cubicBezTo>
                <a:close/>
                <a:moveTo>
                  <a:pt x="258" y="678"/>
                </a:moveTo>
                <a:cubicBezTo>
                  <a:pt x="256" y="678"/>
                  <a:pt x="256" y="678"/>
                  <a:pt x="256" y="678"/>
                </a:cubicBezTo>
                <a:cubicBezTo>
                  <a:pt x="252" y="678"/>
                  <a:pt x="250" y="676"/>
                  <a:pt x="249" y="673"/>
                </a:cubicBezTo>
                <a:cubicBezTo>
                  <a:pt x="233" y="615"/>
                  <a:pt x="233" y="615"/>
                  <a:pt x="233" y="615"/>
                </a:cubicBezTo>
                <a:cubicBezTo>
                  <a:pt x="208" y="612"/>
                  <a:pt x="184" y="604"/>
                  <a:pt x="162" y="592"/>
                </a:cubicBezTo>
                <a:cubicBezTo>
                  <a:pt x="113" y="628"/>
                  <a:pt x="113" y="628"/>
                  <a:pt x="113" y="628"/>
                </a:cubicBezTo>
                <a:cubicBezTo>
                  <a:pt x="111" y="630"/>
                  <a:pt x="108" y="630"/>
                  <a:pt x="105" y="628"/>
                </a:cubicBezTo>
                <a:cubicBezTo>
                  <a:pt x="86" y="614"/>
                  <a:pt x="69" y="598"/>
                  <a:pt x="55" y="579"/>
                </a:cubicBezTo>
                <a:cubicBezTo>
                  <a:pt x="53" y="577"/>
                  <a:pt x="53" y="574"/>
                  <a:pt x="55" y="571"/>
                </a:cubicBezTo>
                <a:cubicBezTo>
                  <a:pt x="90" y="522"/>
                  <a:pt x="90" y="522"/>
                  <a:pt x="90" y="522"/>
                </a:cubicBezTo>
                <a:cubicBezTo>
                  <a:pt x="75" y="499"/>
                  <a:pt x="66" y="474"/>
                  <a:pt x="62" y="447"/>
                </a:cubicBezTo>
                <a:cubicBezTo>
                  <a:pt x="5" y="431"/>
                  <a:pt x="5" y="431"/>
                  <a:pt x="5" y="431"/>
                </a:cubicBezTo>
                <a:cubicBezTo>
                  <a:pt x="2" y="430"/>
                  <a:pt x="0" y="427"/>
                  <a:pt x="0" y="424"/>
                </a:cubicBezTo>
                <a:cubicBezTo>
                  <a:pt x="0" y="423"/>
                  <a:pt x="0" y="421"/>
                  <a:pt x="0" y="419"/>
                </a:cubicBezTo>
                <a:cubicBezTo>
                  <a:pt x="0" y="398"/>
                  <a:pt x="2" y="376"/>
                  <a:pt x="8" y="355"/>
                </a:cubicBezTo>
                <a:cubicBezTo>
                  <a:pt x="8" y="352"/>
                  <a:pt x="11" y="350"/>
                  <a:pt x="14" y="350"/>
                </a:cubicBezTo>
                <a:cubicBezTo>
                  <a:pt x="74" y="348"/>
                  <a:pt x="74" y="348"/>
                  <a:pt x="74" y="348"/>
                </a:cubicBezTo>
                <a:cubicBezTo>
                  <a:pt x="83" y="324"/>
                  <a:pt x="97" y="302"/>
                  <a:pt x="114" y="283"/>
                </a:cubicBezTo>
                <a:cubicBezTo>
                  <a:pt x="91" y="229"/>
                  <a:pt x="91" y="229"/>
                  <a:pt x="91" y="229"/>
                </a:cubicBezTo>
                <a:cubicBezTo>
                  <a:pt x="89" y="226"/>
                  <a:pt x="90" y="223"/>
                  <a:pt x="93" y="221"/>
                </a:cubicBezTo>
                <a:cubicBezTo>
                  <a:pt x="110" y="206"/>
                  <a:pt x="130" y="193"/>
                  <a:pt x="151" y="184"/>
                </a:cubicBezTo>
                <a:cubicBezTo>
                  <a:pt x="154" y="182"/>
                  <a:pt x="157" y="183"/>
                  <a:pt x="159" y="185"/>
                </a:cubicBezTo>
                <a:cubicBezTo>
                  <a:pt x="199" y="230"/>
                  <a:pt x="199" y="230"/>
                  <a:pt x="199" y="230"/>
                </a:cubicBezTo>
                <a:cubicBezTo>
                  <a:pt x="218" y="224"/>
                  <a:pt x="238" y="221"/>
                  <a:pt x="258" y="221"/>
                </a:cubicBezTo>
                <a:cubicBezTo>
                  <a:pt x="264" y="221"/>
                  <a:pt x="270" y="222"/>
                  <a:pt x="276" y="222"/>
                </a:cubicBezTo>
                <a:cubicBezTo>
                  <a:pt x="304" y="170"/>
                  <a:pt x="304" y="170"/>
                  <a:pt x="304" y="170"/>
                </a:cubicBezTo>
                <a:cubicBezTo>
                  <a:pt x="306" y="167"/>
                  <a:pt x="309" y="165"/>
                  <a:pt x="312" y="166"/>
                </a:cubicBezTo>
                <a:cubicBezTo>
                  <a:pt x="335" y="171"/>
                  <a:pt x="357" y="179"/>
                  <a:pt x="378" y="190"/>
                </a:cubicBezTo>
                <a:cubicBezTo>
                  <a:pt x="380" y="191"/>
                  <a:pt x="382" y="194"/>
                  <a:pt x="381" y="197"/>
                </a:cubicBezTo>
                <a:cubicBezTo>
                  <a:pt x="371" y="256"/>
                  <a:pt x="371" y="256"/>
                  <a:pt x="371" y="256"/>
                </a:cubicBezTo>
                <a:cubicBezTo>
                  <a:pt x="391" y="271"/>
                  <a:pt x="410" y="289"/>
                  <a:pt x="423" y="310"/>
                </a:cubicBezTo>
                <a:cubicBezTo>
                  <a:pt x="482" y="300"/>
                  <a:pt x="482" y="300"/>
                  <a:pt x="482" y="300"/>
                </a:cubicBezTo>
                <a:cubicBezTo>
                  <a:pt x="485" y="299"/>
                  <a:pt x="489" y="301"/>
                  <a:pt x="490" y="303"/>
                </a:cubicBezTo>
                <a:cubicBezTo>
                  <a:pt x="500" y="325"/>
                  <a:pt x="508" y="347"/>
                  <a:pt x="513" y="370"/>
                </a:cubicBezTo>
                <a:cubicBezTo>
                  <a:pt x="513" y="373"/>
                  <a:pt x="512" y="376"/>
                  <a:pt x="509" y="378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6" y="410"/>
                  <a:pt x="456" y="415"/>
                  <a:pt x="456" y="419"/>
                </a:cubicBezTo>
                <a:cubicBezTo>
                  <a:pt x="456" y="439"/>
                  <a:pt x="453" y="459"/>
                  <a:pt x="447" y="479"/>
                </a:cubicBezTo>
                <a:cubicBezTo>
                  <a:pt x="492" y="519"/>
                  <a:pt x="492" y="519"/>
                  <a:pt x="492" y="519"/>
                </a:cubicBezTo>
                <a:cubicBezTo>
                  <a:pt x="494" y="521"/>
                  <a:pt x="495" y="524"/>
                  <a:pt x="494" y="527"/>
                </a:cubicBezTo>
                <a:cubicBezTo>
                  <a:pt x="484" y="548"/>
                  <a:pt x="471" y="568"/>
                  <a:pt x="456" y="586"/>
                </a:cubicBezTo>
                <a:cubicBezTo>
                  <a:pt x="454" y="589"/>
                  <a:pt x="451" y="589"/>
                  <a:pt x="448" y="588"/>
                </a:cubicBezTo>
                <a:cubicBezTo>
                  <a:pt x="393" y="564"/>
                  <a:pt x="393" y="564"/>
                  <a:pt x="393" y="564"/>
                </a:cubicBezTo>
                <a:cubicBezTo>
                  <a:pt x="375" y="581"/>
                  <a:pt x="355" y="594"/>
                  <a:pt x="333" y="603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30" y="666"/>
                  <a:pt x="328" y="669"/>
                  <a:pt x="325" y="669"/>
                </a:cubicBezTo>
                <a:cubicBezTo>
                  <a:pt x="303" y="675"/>
                  <a:pt x="281" y="678"/>
                  <a:pt x="258" y="678"/>
                </a:cubicBezTo>
                <a:close/>
                <a:moveTo>
                  <a:pt x="161" y="576"/>
                </a:moveTo>
                <a:cubicBezTo>
                  <a:pt x="162" y="576"/>
                  <a:pt x="164" y="577"/>
                  <a:pt x="165" y="577"/>
                </a:cubicBezTo>
                <a:cubicBezTo>
                  <a:pt x="188" y="591"/>
                  <a:pt x="213" y="599"/>
                  <a:pt x="239" y="602"/>
                </a:cubicBezTo>
                <a:cubicBezTo>
                  <a:pt x="242" y="602"/>
                  <a:pt x="244" y="604"/>
                  <a:pt x="245" y="607"/>
                </a:cubicBezTo>
                <a:cubicBezTo>
                  <a:pt x="261" y="664"/>
                  <a:pt x="261" y="664"/>
                  <a:pt x="261" y="664"/>
                </a:cubicBezTo>
                <a:cubicBezTo>
                  <a:pt x="280" y="664"/>
                  <a:pt x="298" y="661"/>
                  <a:pt x="316" y="657"/>
                </a:cubicBezTo>
                <a:cubicBezTo>
                  <a:pt x="319" y="598"/>
                  <a:pt x="319" y="598"/>
                  <a:pt x="319" y="598"/>
                </a:cubicBezTo>
                <a:cubicBezTo>
                  <a:pt x="319" y="595"/>
                  <a:pt x="321" y="592"/>
                  <a:pt x="323" y="591"/>
                </a:cubicBezTo>
                <a:cubicBezTo>
                  <a:pt x="347" y="582"/>
                  <a:pt x="368" y="569"/>
                  <a:pt x="387" y="551"/>
                </a:cubicBezTo>
                <a:cubicBezTo>
                  <a:pt x="389" y="549"/>
                  <a:pt x="392" y="548"/>
                  <a:pt x="394" y="549"/>
                </a:cubicBezTo>
                <a:cubicBezTo>
                  <a:pt x="449" y="573"/>
                  <a:pt x="449" y="573"/>
                  <a:pt x="449" y="573"/>
                </a:cubicBezTo>
                <a:cubicBezTo>
                  <a:pt x="461" y="558"/>
                  <a:pt x="471" y="542"/>
                  <a:pt x="479" y="526"/>
                </a:cubicBezTo>
                <a:cubicBezTo>
                  <a:pt x="434" y="486"/>
                  <a:pt x="434" y="486"/>
                  <a:pt x="434" y="486"/>
                </a:cubicBezTo>
                <a:cubicBezTo>
                  <a:pt x="432" y="484"/>
                  <a:pt x="431" y="481"/>
                  <a:pt x="432" y="479"/>
                </a:cubicBezTo>
                <a:cubicBezTo>
                  <a:pt x="439" y="459"/>
                  <a:pt x="442" y="439"/>
                  <a:pt x="442" y="419"/>
                </a:cubicBezTo>
                <a:cubicBezTo>
                  <a:pt x="442" y="414"/>
                  <a:pt x="442" y="408"/>
                  <a:pt x="441" y="402"/>
                </a:cubicBezTo>
                <a:cubicBezTo>
                  <a:pt x="441" y="400"/>
                  <a:pt x="443" y="397"/>
                  <a:pt x="445" y="396"/>
                </a:cubicBezTo>
                <a:cubicBezTo>
                  <a:pt x="498" y="368"/>
                  <a:pt x="498" y="368"/>
                  <a:pt x="498" y="368"/>
                </a:cubicBezTo>
                <a:cubicBezTo>
                  <a:pt x="494" y="349"/>
                  <a:pt x="488" y="331"/>
                  <a:pt x="480" y="314"/>
                </a:cubicBezTo>
                <a:cubicBezTo>
                  <a:pt x="421" y="325"/>
                  <a:pt x="421" y="325"/>
                  <a:pt x="421" y="325"/>
                </a:cubicBezTo>
                <a:cubicBezTo>
                  <a:pt x="419" y="325"/>
                  <a:pt x="416" y="324"/>
                  <a:pt x="414" y="322"/>
                </a:cubicBezTo>
                <a:cubicBezTo>
                  <a:pt x="400" y="299"/>
                  <a:pt x="381" y="280"/>
                  <a:pt x="359" y="265"/>
                </a:cubicBezTo>
                <a:cubicBezTo>
                  <a:pt x="357" y="264"/>
                  <a:pt x="356" y="261"/>
                  <a:pt x="356" y="258"/>
                </a:cubicBezTo>
                <a:cubicBezTo>
                  <a:pt x="367" y="200"/>
                  <a:pt x="367" y="200"/>
                  <a:pt x="367" y="200"/>
                </a:cubicBezTo>
                <a:cubicBezTo>
                  <a:pt x="350" y="191"/>
                  <a:pt x="332" y="185"/>
                  <a:pt x="314" y="181"/>
                </a:cubicBezTo>
                <a:cubicBezTo>
                  <a:pt x="286" y="233"/>
                  <a:pt x="286" y="233"/>
                  <a:pt x="286" y="233"/>
                </a:cubicBezTo>
                <a:cubicBezTo>
                  <a:pt x="285" y="235"/>
                  <a:pt x="282" y="237"/>
                  <a:pt x="279" y="237"/>
                </a:cubicBezTo>
                <a:cubicBezTo>
                  <a:pt x="272" y="236"/>
                  <a:pt x="265" y="235"/>
                  <a:pt x="258" y="235"/>
                </a:cubicBezTo>
                <a:cubicBezTo>
                  <a:pt x="238" y="235"/>
                  <a:pt x="218" y="239"/>
                  <a:pt x="199" y="245"/>
                </a:cubicBezTo>
                <a:cubicBezTo>
                  <a:pt x="197" y="246"/>
                  <a:pt x="194" y="245"/>
                  <a:pt x="192" y="243"/>
                </a:cubicBezTo>
                <a:cubicBezTo>
                  <a:pt x="152" y="198"/>
                  <a:pt x="152" y="198"/>
                  <a:pt x="152" y="198"/>
                </a:cubicBezTo>
                <a:cubicBezTo>
                  <a:pt x="136" y="207"/>
                  <a:pt x="120" y="216"/>
                  <a:pt x="106" y="228"/>
                </a:cubicBezTo>
                <a:cubicBezTo>
                  <a:pt x="129" y="282"/>
                  <a:pt x="129" y="282"/>
                  <a:pt x="129" y="282"/>
                </a:cubicBezTo>
                <a:cubicBezTo>
                  <a:pt x="130" y="285"/>
                  <a:pt x="130" y="288"/>
                  <a:pt x="128" y="290"/>
                </a:cubicBezTo>
                <a:cubicBezTo>
                  <a:pt x="109" y="309"/>
                  <a:pt x="94" y="332"/>
                  <a:pt x="85" y="357"/>
                </a:cubicBezTo>
                <a:cubicBezTo>
                  <a:pt x="84" y="360"/>
                  <a:pt x="82" y="361"/>
                  <a:pt x="79" y="362"/>
                </a:cubicBezTo>
                <a:cubicBezTo>
                  <a:pt x="20" y="364"/>
                  <a:pt x="20" y="364"/>
                  <a:pt x="20" y="364"/>
                </a:cubicBezTo>
                <a:cubicBezTo>
                  <a:pt x="16" y="382"/>
                  <a:pt x="14" y="400"/>
                  <a:pt x="14" y="419"/>
                </a:cubicBezTo>
                <a:cubicBezTo>
                  <a:pt x="71" y="435"/>
                  <a:pt x="71" y="435"/>
                  <a:pt x="71" y="435"/>
                </a:cubicBezTo>
                <a:cubicBezTo>
                  <a:pt x="73" y="435"/>
                  <a:pt x="75" y="438"/>
                  <a:pt x="76" y="441"/>
                </a:cubicBezTo>
                <a:cubicBezTo>
                  <a:pt x="79" y="468"/>
                  <a:pt x="89" y="495"/>
                  <a:pt x="104" y="519"/>
                </a:cubicBezTo>
                <a:cubicBezTo>
                  <a:pt x="105" y="521"/>
                  <a:pt x="105" y="524"/>
                  <a:pt x="104" y="527"/>
                </a:cubicBezTo>
                <a:cubicBezTo>
                  <a:pt x="69" y="575"/>
                  <a:pt x="69" y="575"/>
                  <a:pt x="69" y="575"/>
                </a:cubicBezTo>
                <a:cubicBezTo>
                  <a:pt x="81" y="589"/>
                  <a:pt x="94" y="602"/>
                  <a:pt x="109" y="613"/>
                </a:cubicBezTo>
                <a:cubicBezTo>
                  <a:pt x="157" y="578"/>
                  <a:pt x="157" y="578"/>
                  <a:pt x="157" y="578"/>
                </a:cubicBezTo>
                <a:cubicBezTo>
                  <a:pt x="158" y="577"/>
                  <a:pt x="160" y="576"/>
                  <a:pt x="161" y="576"/>
                </a:cubicBezTo>
                <a:close/>
                <a:moveTo>
                  <a:pt x="258" y="484"/>
                </a:moveTo>
                <a:cubicBezTo>
                  <a:pt x="223" y="484"/>
                  <a:pt x="193" y="455"/>
                  <a:pt x="193" y="419"/>
                </a:cubicBezTo>
                <a:cubicBezTo>
                  <a:pt x="193" y="383"/>
                  <a:pt x="223" y="354"/>
                  <a:pt x="258" y="354"/>
                </a:cubicBezTo>
                <a:cubicBezTo>
                  <a:pt x="294" y="354"/>
                  <a:pt x="323" y="383"/>
                  <a:pt x="323" y="419"/>
                </a:cubicBezTo>
                <a:cubicBezTo>
                  <a:pt x="323" y="455"/>
                  <a:pt x="294" y="484"/>
                  <a:pt x="258" y="484"/>
                </a:cubicBezTo>
                <a:close/>
                <a:moveTo>
                  <a:pt x="258" y="368"/>
                </a:moveTo>
                <a:cubicBezTo>
                  <a:pt x="230" y="368"/>
                  <a:pt x="207" y="391"/>
                  <a:pt x="207" y="419"/>
                </a:cubicBezTo>
                <a:cubicBezTo>
                  <a:pt x="207" y="447"/>
                  <a:pt x="230" y="470"/>
                  <a:pt x="258" y="470"/>
                </a:cubicBezTo>
                <a:cubicBezTo>
                  <a:pt x="286" y="470"/>
                  <a:pt x="309" y="447"/>
                  <a:pt x="309" y="419"/>
                </a:cubicBezTo>
                <a:cubicBezTo>
                  <a:pt x="309" y="391"/>
                  <a:pt x="286" y="368"/>
                  <a:pt x="258" y="36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+mn-lt"/>
            </a:endParaRPr>
          </a:p>
        </p:txBody>
      </p:sp>
      <p:sp>
        <p:nvSpPr>
          <p:cNvPr id="8" name="Freeform 123">
            <a:extLst>
              <a:ext uri="{FF2B5EF4-FFF2-40B4-BE49-F238E27FC236}">
                <a16:creationId xmlns:a16="http://schemas.microsoft.com/office/drawing/2014/main" id="{77CC3DF9-9961-7653-9972-F52EF0671BE2}"/>
              </a:ext>
            </a:extLst>
          </p:cNvPr>
          <p:cNvSpPr>
            <a:spLocks noEditPoints="1"/>
          </p:cNvSpPr>
          <p:nvPr/>
        </p:nvSpPr>
        <p:spPr bwMode="auto">
          <a:xfrm>
            <a:off x="4314028" y="3095872"/>
            <a:ext cx="805185" cy="807848"/>
          </a:xfrm>
          <a:custGeom>
            <a:avLst/>
            <a:gdLst>
              <a:gd name="T0" fmla="*/ 529 w 676"/>
              <a:gd name="T1" fmla="*/ 279 h 678"/>
              <a:gd name="T2" fmla="*/ 431 w 676"/>
              <a:gd name="T3" fmla="*/ 293 h 678"/>
              <a:gd name="T4" fmla="*/ 409 w 676"/>
              <a:gd name="T5" fmla="*/ 210 h 678"/>
              <a:gd name="T6" fmla="*/ 367 w 676"/>
              <a:gd name="T7" fmla="*/ 125 h 678"/>
              <a:gd name="T8" fmla="*/ 401 w 676"/>
              <a:gd name="T9" fmla="*/ 58 h 678"/>
              <a:gd name="T10" fmla="*/ 504 w 676"/>
              <a:gd name="T11" fmla="*/ 6 h 678"/>
              <a:gd name="T12" fmla="*/ 579 w 676"/>
              <a:gd name="T13" fmla="*/ 18 h 678"/>
              <a:gd name="T14" fmla="*/ 659 w 676"/>
              <a:gd name="T15" fmla="*/ 100 h 678"/>
              <a:gd name="T16" fmla="*/ 676 w 676"/>
              <a:gd name="T17" fmla="*/ 169 h 678"/>
              <a:gd name="T18" fmla="*/ 605 w 676"/>
              <a:gd name="T19" fmla="*/ 241 h 678"/>
              <a:gd name="T20" fmla="*/ 558 w 676"/>
              <a:gd name="T21" fmla="*/ 314 h 678"/>
              <a:gd name="T22" fmla="*/ 539 w 676"/>
              <a:gd name="T23" fmla="*/ 267 h 678"/>
              <a:gd name="T24" fmla="*/ 590 w 676"/>
              <a:gd name="T25" fmla="*/ 242 h 678"/>
              <a:gd name="T26" fmla="*/ 626 w 676"/>
              <a:gd name="T27" fmla="*/ 172 h 678"/>
              <a:gd name="T28" fmla="*/ 655 w 676"/>
              <a:gd name="T29" fmla="*/ 114 h 678"/>
              <a:gd name="T30" fmla="*/ 566 w 676"/>
              <a:gd name="T31" fmla="*/ 67 h 678"/>
              <a:gd name="T32" fmla="*/ 517 w 676"/>
              <a:gd name="T33" fmla="*/ 15 h 678"/>
              <a:gd name="T34" fmla="*/ 500 w 676"/>
              <a:gd name="T35" fmla="*/ 56 h 678"/>
              <a:gd name="T36" fmla="*/ 401 w 676"/>
              <a:gd name="T37" fmla="*/ 73 h 678"/>
              <a:gd name="T38" fmla="*/ 413 w 676"/>
              <a:gd name="T39" fmla="*/ 144 h 678"/>
              <a:gd name="T40" fmla="*/ 422 w 676"/>
              <a:gd name="T41" fmla="*/ 215 h 678"/>
              <a:gd name="T42" fmla="*/ 463 w 676"/>
              <a:gd name="T43" fmla="*/ 255 h 678"/>
              <a:gd name="T44" fmla="*/ 532 w 676"/>
              <a:gd name="T45" fmla="*/ 264 h 678"/>
              <a:gd name="T46" fmla="*/ 478 w 676"/>
              <a:gd name="T47" fmla="*/ 160 h 678"/>
              <a:gd name="T48" fmla="*/ 517 w 676"/>
              <a:gd name="T49" fmla="*/ 199 h 678"/>
              <a:gd name="T50" fmla="*/ 517 w 676"/>
              <a:gd name="T51" fmla="*/ 185 h 678"/>
              <a:gd name="T52" fmla="*/ 258 w 676"/>
              <a:gd name="T53" fmla="*/ 678 h 678"/>
              <a:gd name="T54" fmla="*/ 233 w 676"/>
              <a:gd name="T55" fmla="*/ 615 h 678"/>
              <a:gd name="T56" fmla="*/ 105 w 676"/>
              <a:gd name="T57" fmla="*/ 628 h 678"/>
              <a:gd name="T58" fmla="*/ 90 w 676"/>
              <a:gd name="T59" fmla="*/ 522 h 678"/>
              <a:gd name="T60" fmla="*/ 0 w 676"/>
              <a:gd name="T61" fmla="*/ 424 h 678"/>
              <a:gd name="T62" fmla="*/ 14 w 676"/>
              <a:gd name="T63" fmla="*/ 350 h 678"/>
              <a:gd name="T64" fmla="*/ 91 w 676"/>
              <a:gd name="T65" fmla="*/ 229 h 678"/>
              <a:gd name="T66" fmla="*/ 159 w 676"/>
              <a:gd name="T67" fmla="*/ 185 h 678"/>
              <a:gd name="T68" fmla="*/ 276 w 676"/>
              <a:gd name="T69" fmla="*/ 222 h 678"/>
              <a:gd name="T70" fmla="*/ 378 w 676"/>
              <a:gd name="T71" fmla="*/ 190 h 678"/>
              <a:gd name="T72" fmla="*/ 423 w 676"/>
              <a:gd name="T73" fmla="*/ 310 h 678"/>
              <a:gd name="T74" fmla="*/ 513 w 676"/>
              <a:gd name="T75" fmla="*/ 370 h 678"/>
              <a:gd name="T76" fmla="*/ 456 w 676"/>
              <a:gd name="T77" fmla="*/ 419 h 678"/>
              <a:gd name="T78" fmla="*/ 494 w 676"/>
              <a:gd name="T79" fmla="*/ 527 h 678"/>
              <a:gd name="T80" fmla="*/ 393 w 676"/>
              <a:gd name="T81" fmla="*/ 564 h 678"/>
              <a:gd name="T82" fmla="*/ 325 w 676"/>
              <a:gd name="T83" fmla="*/ 669 h 678"/>
              <a:gd name="T84" fmla="*/ 165 w 676"/>
              <a:gd name="T85" fmla="*/ 577 h 678"/>
              <a:gd name="T86" fmla="*/ 261 w 676"/>
              <a:gd name="T87" fmla="*/ 664 h 678"/>
              <a:gd name="T88" fmla="*/ 323 w 676"/>
              <a:gd name="T89" fmla="*/ 591 h 678"/>
              <a:gd name="T90" fmla="*/ 449 w 676"/>
              <a:gd name="T91" fmla="*/ 573 h 678"/>
              <a:gd name="T92" fmla="*/ 432 w 676"/>
              <a:gd name="T93" fmla="*/ 479 h 678"/>
              <a:gd name="T94" fmla="*/ 445 w 676"/>
              <a:gd name="T95" fmla="*/ 396 h 678"/>
              <a:gd name="T96" fmla="*/ 421 w 676"/>
              <a:gd name="T97" fmla="*/ 325 h 678"/>
              <a:gd name="T98" fmla="*/ 356 w 676"/>
              <a:gd name="T99" fmla="*/ 258 h 678"/>
              <a:gd name="T100" fmla="*/ 286 w 676"/>
              <a:gd name="T101" fmla="*/ 233 h 678"/>
              <a:gd name="T102" fmla="*/ 199 w 676"/>
              <a:gd name="T103" fmla="*/ 245 h 678"/>
              <a:gd name="T104" fmla="*/ 106 w 676"/>
              <a:gd name="T105" fmla="*/ 228 h 678"/>
              <a:gd name="T106" fmla="*/ 85 w 676"/>
              <a:gd name="T107" fmla="*/ 357 h 678"/>
              <a:gd name="T108" fmla="*/ 14 w 676"/>
              <a:gd name="T109" fmla="*/ 419 h 678"/>
              <a:gd name="T110" fmla="*/ 104 w 676"/>
              <a:gd name="T111" fmla="*/ 519 h 678"/>
              <a:gd name="T112" fmla="*/ 109 w 676"/>
              <a:gd name="T113" fmla="*/ 613 h 678"/>
              <a:gd name="T114" fmla="*/ 258 w 676"/>
              <a:gd name="T115" fmla="*/ 484 h 678"/>
              <a:gd name="T116" fmla="*/ 323 w 676"/>
              <a:gd name="T117" fmla="*/ 419 h 678"/>
              <a:gd name="T118" fmla="*/ 207 w 676"/>
              <a:gd name="T119" fmla="*/ 419 h 678"/>
              <a:gd name="T120" fmla="*/ 258 w 676"/>
              <a:gd name="T121" fmla="*/ 36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76" h="678">
                <a:moveTo>
                  <a:pt x="556" y="314"/>
                </a:moveTo>
                <a:cubicBezTo>
                  <a:pt x="554" y="314"/>
                  <a:pt x="551" y="313"/>
                  <a:pt x="550" y="311"/>
                </a:cubicBezTo>
                <a:cubicBezTo>
                  <a:pt x="529" y="279"/>
                  <a:pt x="529" y="279"/>
                  <a:pt x="529" y="279"/>
                </a:cubicBezTo>
                <a:cubicBezTo>
                  <a:pt x="508" y="281"/>
                  <a:pt x="488" y="277"/>
                  <a:pt x="468" y="269"/>
                </a:cubicBezTo>
                <a:cubicBezTo>
                  <a:pt x="439" y="293"/>
                  <a:pt x="439" y="293"/>
                  <a:pt x="439" y="293"/>
                </a:cubicBezTo>
                <a:cubicBezTo>
                  <a:pt x="437" y="295"/>
                  <a:pt x="433" y="295"/>
                  <a:pt x="431" y="293"/>
                </a:cubicBezTo>
                <a:cubicBezTo>
                  <a:pt x="412" y="281"/>
                  <a:pt x="397" y="266"/>
                  <a:pt x="385" y="248"/>
                </a:cubicBezTo>
                <a:cubicBezTo>
                  <a:pt x="383" y="245"/>
                  <a:pt x="383" y="242"/>
                  <a:pt x="385" y="239"/>
                </a:cubicBezTo>
                <a:cubicBezTo>
                  <a:pt x="409" y="210"/>
                  <a:pt x="409" y="210"/>
                  <a:pt x="409" y="210"/>
                </a:cubicBezTo>
                <a:cubicBezTo>
                  <a:pt x="401" y="194"/>
                  <a:pt x="398" y="177"/>
                  <a:pt x="398" y="160"/>
                </a:cubicBezTo>
                <a:cubicBezTo>
                  <a:pt x="398" y="155"/>
                  <a:pt x="398" y="151"/>
                  <a:pt x="398" y="146"/>
                </a:cubicBezTo>
                <a:cubicBezTo>
                  <a:pt x="367" y="125"/>
                  <a:pt x="367" y="125"/>
                  <a:pt x="367" y="125"/>
                </a:cubicBezTo>
                <a:cubicBezTo>
                  <a:pt x="364" y="124"/>
                  <a:pt x="363" y="120"/>
                  <a:pt x="364" y="117"/>
                </a:cubicBezTo>
                <a:cubicBezTo>
                  <a:pt x="370" y="96"/>
                  <a:pt x="380" y="77"/>
                  <a:pt x="393" y="60"/>
                </a:cubicBezTo>
                <a:cubicBezTo>
                  <a:pt x="395" y="57"/>
                  <a:pt x="399" y="57"/>
                  <a:pt x="401" y="58"/>
                </a:cubicBezTo>
                <a:cubicBezTo>
                  <a:pt x="437" y="71"/>
                  <a:pt x="437" y="71"/>
                  <a:pt x="437" y="71"/>
                </a:cubicBezTo>
                <a:cubicBezTo>
                  <a:pt x="453" y="57"/>
                  <a:pt x="472" y="47"/>
                  <a:pt x="494" y="43"/>
                </a:cubicBezTo>
                <a:cubicBezTo>
                  <a:pt x="504" y="6"/>
                  <a:pt x="504" y="6"/>
                  <a:pt x="504" y="6"/>
                </a:cubicBezTo>
                <a:cubicBezTo>
                  <a:pt x="505" y="3"/>
                  <a:pt x="507" y="1"/>
                  <a:pt x="510" y="1"/>
                </a:cubicBezTo>
                <a:cubicBezTo>
                  <a:pt x="532" y="0"/>
                  <a:pt x="554" y="4"/>
                  <a:pt x="574" y="11"/>
                </a:cubicBezTo>
                <a:cubicBezTo>
                  <a:pt x="577" y="12"/>
                  <a:pt x="579" y="15"/>
                  <a:pt x="579" y="18"/>
                </a:cubicBezTo>
                <a:cubicBezTo>
                  <a:pt x="577" y="56"/>
                  <a:pt x="577" y="56"/>
                  <a:pt x="577" y="56"/>
                </a:cubicBezTo>
                <a:cubicBezTo>
                  <a:pt x="596" y="67"/>
                  <a:pt x="611" y="83"/>
                  <a:pt x="621" y="102"/>
                </a:cubicBezTo>
                <a:cubicBezTo>
                  <a:pt x="659" y="100"/>
                  <a:pt x="659" y="100"/>
                  <a:pt x="659" y="100"/>
                </a:cubicBezTo>
                <a:cubicBezTo>
                  <a:pt x="662" y="100"/>
                  <a:pt x="665" y="102"/>
                  <a:pt x="666" y="105"/>
                </a:cubicBezTo>
                <a:cubicBezTo>
                  <a:pt x="673" y="122"/>
                  <a:pt x="676" y="141"/>
                  <a:pt x="676" y="160"/>
                </a:cubicBezTo>
                <a:cubicBezTo>
                  <a:pt x="676" y="163"/>
                  <a:pt x="676" y="166"/>
                  <a:pt x="676" y="169"/>
                </a:cubicBezTo>
                <a:cubicBezTo>
                  <a:pt x="676" y="172"/>
                  <a:pt x="674" y="174"/>
                  <a:pt x="671" y="175"/>
                </a:cubicBezTo>
                <a:cubicBezTo>
                  <a:pt x="634" y="185"/>
                  <a:pt x="634" y="185"/>
                  <a:pt x="634" y="185"/>
                </a:cubicBezTo>
                <a:cubicBezTo>
                  <a:pt x="629" y="206"/>
                  <a:pt x="619" y="225"/>
                  <a:pt x="605" y="241"/>
                </a:cubicBezTo>
                <a:cubicBezTo>
                  <a:pt x="618" y="277"/>
                  <a:pt x="618" y="277"/>
                  <a:pt x="618" y="277"/>
                </a:cubicBezTo>
                <a:cubicBezTo>
                  <a:pt x="619" y="279"/>
                  <a:pt x="618" y="283"/>
                  <a:pt x="616" y="284"/>
                </a:cubicBezTo>
                <a:cubicBezTo>
                  <a:pt x="598" y="298"/>
                  <a:pt x="579" y="308"/>
                  <a:pt x="558" y="314"/>
                </a:cubicBezTo>
                <a:cubicBezTo>
                  <a:pt x="557" y="314"/>
                  <a:pt x="557" y="314"/>
                  <a:pt x="556" y="314"/>
                </a:cubicBezTo>
                <a:close/>
                <a:moveTo>
                  <a:pt x="533" y="264"/>
                </a:moveTo>
                <a:cubicBezTo>
                  <a:pt x="535" y="264"/>
                  <a:pt x="538" y="265"/>
                  <a:pt x="539" y="267"/>
                </a:cubicBezTo>
                <a:cubicBezTo>
                  <a:pt x="559" y="299"/>
                  <a:pt x="559" y="299"/>
                  <a:pt x="559" y="299"/>
                </a:cubicBezTo>
                <a:cubicBezTo>
                  <a:pt x="575" y="294"/>
                  <a:pt x="590" y="286"/>
                  <a:pt x="603" y="277"/>
                </a:cubicBezTo>
                <a:cubicBezTo>
                  <a:pt x="590" y="242"/>
                  <a:pt x="590" y="242"/>
                  <a:pt x="590" y="242"/>
                </a:cubicBezTo>
                <a:cubicBezTo>
                  <a:pt x="589" y="239"/>
                  <a:pt x="590" y="236"/>
                  <a:pt x="592" y="234"/>
                </a:cubicBezTo>
                <a:cubicBezTo>
                  <a:pt x="607" y="219"/>
                  <a:pt x="617" y="199"/>
                  <a:pt x="621" y="178"/>
                </a:cubicBezTo>
                <a:cubicBezTo>
                  <a:pt x="621" y="175"/>
                  <a:pt x="623" y="173"/>
                  <a:pt x="626" y="172"/>
                </a:cubicBezTo>
                <a:cubicBezTo>
                  <a:pt x="662" y="163"/>
                  <a:pt x="662" y="163"/>
                  <a:pt x="662" y="163"/>
                </a:cubicBezTo>
                <a:cubicBezTo>
                  <a:pt x="662" y="162"/>
                  <a:pt x="662" y="161"/>
                  <a:pt x="662" y="160"/>
                </a:cubicBezTo>
                <a:cubicBezTo>
                  <a:pt x="662" y="144"/>
                  <a:pt x="660" y="129"/>
                  <a:pt x="655" y="114"/>
                </a:cubicBezTo>
                <a:cubicBezTo>
                  <a:pt x="618" y="116"/>
                  <a:pt x="618" y="116"/>
                  <a:pt x="618" y="116"/>
                </a:cubicBezTo>
                <a:cubicBezTo>
                  <a:pt x="615" y="116"/>
                  <a:pt x="612" y="114"/>
                  <a:pt x="611" y="112"/>
                </a:cubicBezTo>
                <a:cubicBezTo>
                  <a:pt x="601" y="92"/>
                  <a:pt x="586" y="77"/>
                  <a:pt x="566" y="67"/>
                </a:cubicBezTo>
                <a:cubicBezTo>
                  <a:pt x="564" y="65"/>
                  <a:pt x="562" y="63"/>
                  <a:pt x="563" y="60"/>
                </a:cubicBezTo>
                <a:cubicBezTo>
                  <a:pt x="565" y="23"/>
                  <a:pt x="565" y="23"/>
                  <a:pt x="565" y="23"/>
                </a:cubicBezTo>
                <a:cubicBezTo>
                  <a:pt x="549" y="17"/>
                  <a:pt x="533" y="15"/>
                  <a:pt x="517" y="15"/>
                </a:cubicBezTo>
                <a:cubicBezTo>
                  <a:pt x="517" y="15"/>
                  <a:pt x="516" y="15"/>
                  <a:pt x="516" y="15"/>
                </a:cubicBezTo>
                <a:cubicBezTo>
                  <a:pt x="506" y="51"/>
                  <a:pt x="506" y="51"/>
                  <a:pt x="506" y="51"/>
                </a:cubicBezTo>
                <a:cubicBezTo>
                  <a:pt x="505" y="53"/>
                  <a:pt x="503" y="55"/>
                  <a:pt x="500" y="56"/>
                </a:cubicBezTo>
                <a:cubicBezTo>
                  <a:pt x="479" y="59"/>
                  <a:pt x="459" y="69"/>
                  <a:pt x="443" y="84"/>
                </a:cubicBezTo>
                <a:cubicBezTo>
                  <a:pt x="442" y="86"/>
                  <a:pt x="439" y="87"/>
                  <a:pt x="436" y="86"/>
                </a:cubicBezTo>
                <a:cubicBezTo>
                  <a:pt x="401" y="73"/>
                  <a:pt x="401" y="73"/>
                  <a:pt x="401" y="73"/>
                </a:cubicBezTo>
                <a:cubicBezTo>
                  <a:pt x="391" y="86"/>
                  <a:pt x="384" y="101"/>
                  <a:pt x="379" y="116"/>
                </a:cubicBezTo>
                <a:cubicBezTo>
                  <a:pt x="410" y="137"/>
                  <a:pt x="410" y="137"/>
                  <a:pt x="410" y="137"/>
                </a:cubicBezTo>
                <a:cubicBezTo>
                  <a:pt x="412" y="138"/>
                  <a:pt x="413" y="141"/>
                  <a:pt x="413" y="144"/>
                </a:cubicBezTo>
                <a:cubicBezTo>
                  <a:pt x="412" y="149"/>
                  <a:pt x="412" y="154"/>
                  <a:pt x="412" y="160"/>
                </a:cubicBezTo>
                <a:cubicBezTo>
                  <a:pt x="412" y="176"/>
                  <a:pt x="415" y="193"/>
                  <a:pt x="423" y="207"/>
                </a:cubicBezTo>
                <a:cubicBezTo>
                  <a:pt x="424" y="210"/>
                  <a:pt x="424" y="213"/>
                  <a:pt x="422" y="215"/>
                </a:cubicBezTo>
                <a:cubicBezTo>
                  <a:pt x="399" y="244"/>
                  <a:pt x="399" y="244"/>
                  <a:pt x="399" y="244"/>
                </a:cubicBezTo>
                <a:cubicBezTo>
                  <a:pt x="409" y="258"/>
                  <a:pt x="421" y="269"/>
                  <a:pt x="434" y="279"/>
                </a:cubicBezTo>
                <a:cubicBezTo>
                  <a:pt x="463" y="255"/>
                  <a:pt x="463" y="255"/>
                  <a:pt x="463" y="255"/>
                </a:cubicBezTo>
                <a:cubicBezTo>
                  <a:pt x="465" y="254"/>
                  <a:pt x="468" y="253"/>
                  <a:pt x="471" y="254"/>
                </a:cubicBezTo>
                <a:cubicBezTo>
                  <a:pt x="485" y="262"/>
                  <a:pt x="501" y="265"/>
                  <a:pt x="517" y="265"/>
                </a:cubicBezTo>
                <a:cubicBezTo>
                  <a:pt x="522" y="265"/>
                  <a:pt x="527" y="265"/>
                  <a:pt x="532" y="264"/>
                </a:cubicBezTo>
                <a:cubicBezTo>
                  <a:pt x="532" y="264"/>
                  <a:pt x="533" y="264"/>
                  <a:pt x="533" y="264"/>
                </a:cubicBezTo>
                <a:close/>
                <a:moveTo>
                  <a:pt x="517" y="199"/>
                </a:moveTo>
                <a:cubicBezTo>
                  <a:pt x="496" y="199"/>
                  <a:pt x="478" y="181"/>
                  <a:pt x="478" y="160"/>
                </a:cubicBezTo>
                <a:cubicBezTo>
                  <a:pt x="478" y="138"/>
                  <a:pt x="496" y="121"/>
                  <a:pt x="517" y="121"/>
                </a:cubicBezTo>
                <a:cubicBezTo>
                  <a:pt x="539" y="121"/>
                  <a:pt x="556" y="138"/>
                  <a:pt x="556" y="160"/>
                </a:cubicBezTo>
                <a:cubicBezTo>
                  <a:pt x="556" y="181"/>
                  <a:pt x="539" y="199"/>
                  <a:pt x="517" y="199"/>
                </a:cubicBezTo>
                <a:close/>
                <a:moveTo>
                  <a:pt x="517" y="135"/>
                </a:moveTo>
                <a:cubicBezTo>
                  <a:pt x="503" y="135"/>
                  <a:pt x="492" y="146"/>
                  <a:pt x="492" y="160"/>
                </a:cubicBezTo>
                <a:cubicBezTo>
                  <a:pt x="492" y="174"/>
                  <a:pt x="503" y="185"/>
                  <a:pt x="517" y="185"/>
                </a:cubicBezTo>
                <a:cubicBezTo>
                  <a:pt x="531" y="185"/>
                  <a:pt x="542" y="174"/>
                  <a:pt x="542" y="160"/>
                </a:cubicBezTo>
                <a:cubicBezTo>
                  <a:pt x="542" y="146"/>
                  <a:pt x="531" y="135"/>
                  <a:pt x="517" y="135"/>
                </a:cubicBezTo>
                <a:close/>
                <a:moveTo>
                  <a:pt x="258" y="678"/>
                </a:moveTo>
                <a:cubicBezTo>
                  <a:pt x="256" y="678"/>
                  <a:pt x="256" y="678"/>
                  <a:pt x="256" y="678"/>
                </a:cubicBezTo>
                <a:cubicBezTo>
                  <a:pt x="252" y="678"/>
                  <a:pt x="250" y="676"/>
                  <a:pt x="249" y="673"/>
                </a:cubicBezTo>
                <a:cubicBezTo>
                  <a:pt x="233" y="615"/>
                  <a:pt x="233" y="615"/>
                  <a:pt x="233" y="615"/>
                </a:cubicBezTo>
                <a:cubicBezTo>
                  <a:pt x="208" y="612"/>
                  <a:pt x="184" y="604"/>
                  <a:pt x="162" y="592"/>
                </a:cubicBezTo>
                <a:cubicBezTo>
                  <a:pt x="113" y="628"/>
                  <a:pt x="113" y="628"/>
                  <a:pt x="113" y="628"/>
                </a:cubicBezTo>
                <a:cubicBezTo>
                  <a:pt x="111" y="630"/>
                  <a:pt x="108" y="630"/>
                  <a:pt x="105" y="628"/>
                </a:cubicBezTo>
                <a:cubicBezTo>
                  <a:pt x="86" y="614"/>
                  <a:pt x="69" y="598"/>
                  <a:pt x="55" y="579"/>
                </a:cubicBezTo>
                <a:cubicBezTo>
                  <a:pt x="53" y="577"/>
                  <a:pt x="53" y="574"/>
                  <a:pt x="55" y="571"/>
                </a:cubicBezTo>
                <a:cubicBezTo>
                  <a:pt x="90" y="522"/>
                  <a:pt x="90" y="522"/>
                  <a:pt x="90" y="522"/>
                </a:cubicBezTo>
                <a:cubicBezTo>
                  <a:pt x="75" y="499"/>
                  <a:pt x="66" y="474"/>
                  <a:pt x="62" y="447"/>
                </a:cubicBezTo>
                <a:cubicBezTo>
                  <a:pt x="5" y="431"/>
                  <a:pt x="5" y="431"/>
                  <a:pt x="5" y="431"/>
                </a:cubicBezTo>
                <a:cubicBezTo>
                  <a:pt x="2" y="430"/>
                  <a:pt x="0" y="427"/>
                  <a:pt x="0" y="424"/>
                </a:cubicBezTo>
                <a:cubicBezTo>
                  <a:pt x="0" y="423"/>
                  <a:pt x="0" y="421"/>
                  <a:pt x="0" y="419"/>
                </a:cubicBezTo>
                <a:cubicBezTo>
                  <a:pt x="0" y="398"/>
                  <a:pt x="2" y="376"/>
                  <a:pt x="8" y="355"/>
                </a:cubicBezTo>
                <a:cubicBezTo>
                  <a:pt x="8" y="352"/>
                  <a:pt x="11" y="350"/>
                  <a:pt x="14" y="350"/>
                </a:cubicBezTo>
                <a:cubicBezTo>
                  <a:pt x="74" y="348"/>
                  <a:pt x="74" y="348"/>
                  <a:pt x="74" y="348"/>
                </a:cubicBezTo>
                <a:cubicBezTo>
                  <a:pt x="83" y="324"/>
                  <a:pt x="97" y="302"/>
                  <a:pt x="114" y="283"/>
                </a:cubicBezTo>
                <a:cubicBezTo>
                  <a:pt x="91" y="229"/>
                  <a:pt x="91" y="229"/>
                  <a:pt x="91" y="229"/>
                </a:cubicBezTo>
                <a:cubicBezTo>
                  <a:pt x="89" y="226"/>
                  <a:pt x="90" y="223"/>
                  <a:pt x="93" y="221"/>
                </a:cubicBezTo>
                <a:cubicBezTo>
                  <a:pt x="110" y="206"/>
                  <a:pt x="130" y="193"/>
                  <a:pt x="151" y="184"/>
                </a:cubicBezTo>
                <a:cubicBezTo>
                  <a:pt x="154" y="182"/>
                  <a:pt x="157" y="183"/>
                  <a:pt x="159" y="185"/>
                </a:cubicBezTo>
                <a:cubicBezTo>
                  <a:pt x="199" y="230"/>
                  <a:pt x="199" y="230"/>
                  <a:pt x="199" y="230"/>
                </a:cubicBezTo>
                <a:cubicBezTo>
                  <a:pt x="218" y="224"/>
                  <a:pt x="238" y="221"/>
                  <a:pt x="258" y="221"/>
                </a:cubicBezTo>
                <a:cubicBezTo>
                  <a:pt x="264" y="221"/>
                  <a:pt x="270" y="222"/>
                  <a:pt x="276" y="222"/>
                </a:cubicBezTo>
                <a:cubicBezTo>
                  <a:pt x="304" y="170"/>
                  <a:pt x="304" y="170"/>
                  <a:pt x="304" y="170"/>
                </a:cubicBezTo>
                <a:cubicBezTo>
                  <a:pt x="306" y="167"/>
                  <a:pt x="309" y="165"/>
                  <a:pt x="312" y="166"/>
                </a:cubicBezTo>
                <a:cubicBezTo>
                  <a:pt x="335" y="171"/>
                  <a:pt x="357" y="179"/>
                  <a:pt x="378" y="190"/>
                </a:cubicBezTo>
                <a:cubicBezTo>
                  <a:pt x="380" y="191"/>
                  <a:pt x="382" y="194"/>
                  <a:pt x="381" y="197"/>
                </a:cubicBezTo>
                <a:cubicBezTo>
                  <a:pt x="371" y="256"/>
                  <a:pt x="371" y="256"/>
                  <a:pt x="371" y="256"/>
                </a:cubicBezTo>
                <a:cubicBezTo>
                  <a:pt x="391" y="271"/>
                  <a:pt x="410" y="289"/>
                  <a:pt x="423" y="310"/>
                </a:cubicBezTo>
                <a:cubicBezTo>
                  <a:pt x="482" y="300"/>
                  <a:pt x="482" y="300"/>
                  <a:pt x="482" y="300"/>
                </a:cubicBezTo>
                <a:cubicBezTo>
                  <a:pt x="485" y="299"/>
                  <a:pt x="489" y="301"/>
                  <a:pt x="490" y="303"/>
                </a:cubicBezTo>
                <a:cubicBezTo>
                  <a:pt x="500" y="325"/>
                  <a:pt x="508" y="347"/>
                  <a:pt x="513" y="370"/>
                </a:cubicBezTo>
                <a:cubicBezTo>
                  <a:pt x="513" y="373"/>
                  <a:pt x="512" y="376"/>
                  <a:pt x="509" y="378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6" y="410"/>
                  <a:pt x="456" y="415"/>
                  <a:pt x="456" y="419"/>
                </a:cubicBezTo>
                <a:cubicBezTo>
                  <a:pt x="456" y="439"/>
                  <a:pt x="453" y="459"/>
                  <a:pt x="447" y="479"/>
                </a:cubicBezTo>
                <a:cubicBezTo>
                  <a:pt x="492" y="519"/>
                  <a:pt x="492" y="519"/>
                  <a:pt x="492" y="519"/>
                </a:cubicBezTo>
                <a:cubicBezTo>
                  <a:pt x="494" y="521"/>
                  <a:pt x="495" y="524"/>
                  <a:pt x="494" y="527"/>
                </a:cubicBezTo>
                <a:cubicBezTo>
                  <a:pt x="484" y="548"/>
                  <a:pt x="471" y="568"/>
                  <a:pt x="456" y="586"/>
                </a:cubicBezTo>
                <a:cubicBezTo>
                  <a:pt x="454" y="589"/>
                  <a:pt x="451" y="589"/>
                  <a:pt x="448" y="588"/>
                </a:cubicBezTo>
                <a:cubicBezTo>
                  <a:pt x="393" y="564"/>
                  <a:pt x="393" y="564"/>
                  <a:pt x="393" y="564"/>
                </a:cubicBezTo>
                <a:cubicBezTo>
                  <a:pt x="375" y="581"/>
                  <a:pt x="355" y="594"/>
                  <a:pt x="333" y="603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30" y="666"/>
                  <a:pt x="328" y="669"/>
                  <a:pt x="325" y="669"/>
                </a:cubicBezTo>
                <a:cubicBezTo>
                  <a:pt x="303" y="675"/>
                  <a:pt x="281" y="678"/>
                  <a:pt x="258" y="678"/>
                </a:cubicBezTo>
                <a:close/>
                <a:moveTo>
                  <a:pt x="161" y="576"/>
                </a:moveTo>
                <a:cubicBezTo>
                  <a:pt x="162" y="576"/>
                  <a:pt x="164" y="577"/>
                  <a:pt x="165" y="577"/>
                </a:cubicBezTo>
                <a:cubicBezTo>
                  <a:pt x="188" y="591"/>
                  <a:pt x="213" y="599"/>
                  <a:pt x="239" y="602"/>
                </a:cubicBezTo>
                <a:cubicBezTo>
                  <a:pt x="242" y="602"/>
                  <a:pt x="244" y="604"/>
                  <a:pt x="245" y="607"/>
                </a:cubicBezTo>
                <a:cubicBezTo>
                  <a:pt x="261" y="664"/>
                  <a:pt x="261" y="664"/>
                  <a:pt x="261" y="664"/>
                </a:cubicBezTo>
                <a:cubicBezTo>
                  <a:pt x="280" y="664"/>
                  <a:pt x="298" y="661"/>
                  <a:pt x="316" y="657"/>
                </a:cubicBezTo>
                <a:cubicBezTo>
                  <a:pt x="319" y="598"/>
                  <a:pt x="319" y="598"/>
                  <a:pt x="319" y="598"/>
                </a:cubicBezTo>
                <a:cubicBezTo>
                  <a:pt x="319" y="595"/>
                  <a:pt x="321" y="592"/>
                  <a:pt x="323" y="591"/>
                </a:cubicBezTo>
                <a:cubicBezTo>
                  <a:pt x="347" y="582"/>
                  <a:pt x="368" y="569"/>
                  <a:pt x="387" y="551"/>
                </a:cubicBezTo>
                <a:cubicBezTo>
                  <a:pt x="389" y="549"/>
                  <a:pt x="392" y="548"/>
                  <a:pt x="394" y="549"/>
                </a:cubicBezTo>
                <a:cubicBezTo>
                  <a:pt x="449" y="573"/>
                  <a:pt x="449" y="573"/>
                  <a:pt x="449" y="573"/>
                </a:cubicBezTo>
                <a:cubicBezTo>
                  <a:pt x="461" y="558"/>
                  <a:pt x="471" y="542"/>
                  <a:pt x="479" y="526"/>
                </a:cubicBezTo>
                <a:cubicBezTo>
                  <a:pt x="434" y="486"/>
                  <a:pt x="434" y="486"/>
                  <a:pt x="434" y="486"/>
                </a:cubicBezTo>
                <a:cubicBezTo>
                  <a:pt x="432" y="484"/>
                  <a:pt x="431" y="481"/>
                  <a:pt x="432" y="479"/>
                </a:cubicBezTo>
                <a:cubicBezTo>
                  <a:pt x="439" y="459"/>
                  <a:pt x="442" y="439"/>
                  <a:pt x="442" y="419"/>
                </a:cubicBezTo>
                <a:cubicBezTo>
                  <a:pt x="442" y="414"/>
                  <a:pt x="442" y="408"/>
                  <a:pt x="441" y="402"/>
                </a:cubicBezTo>
                <a:cubicBezTo>
                  <a:pt x="441" y="400"/>
                  <a:pt x="443" y="397"/>
                  <a:pt x="445" y="396"/>
                </a:cubicBezTo>
                <a:cubicBezTo>
                  <a:pt x="498" y="368"/>
                  <a:pt x="498" y="368"/>
                  <a:pt x="498" y="368"/>
                </a:cubicBezTo>
                <a:cubicBezTo>
                  <a:pt x="494" y="349"/>
                  <a:pt x="488" y="331"/>
                  <a:pt x="480" y="314"/>
                </a:cubicBezTo>
                <a:cubicBezTo>
                  <a:pt x="421" y="325"/>
                  <a:pt x="421" y="325"/>
                  <a:pt x="421" y="325"/>
                </a:cubicBezTo>
                <a:cubicBezTo>
                  <a:pt x="419" y="325"/>
                  <a:pt x="416" y="324"/>
                  <a:pt x="414" y="322"/>
                </a:cubicBezTo>
                <a:cubicBezTo>
                  <a:pt x="400" y="299"/>
                  <a:pt x="381" y="280"/>
                  <a:pt x="359" y="265"/>
                </a:cubicBezTo>
                <a:cubicBezTo>
                  <a:pt x="357" y="264"/>
                  <a:pt x="356" y="261"/>
                  <a:pt x="356" y="258"/>
                </a:cubicBezTo>
                <a:cubicBezTo>
                  <a:pt x="367" y="200"/>
                  <a:pt x="367" y="200"/>
                  <a:pt x="367" y="200"/>
                </a:cubicBezTo>
                <a:cubicBezTo>
                  <a:pt x="350" y="191"/>
                  <a:pt x="332" y="185"/>
                  <a:pt x="314" y="181"/>
                </a:cubicBezTo>
                <a:cubicBezTo>
                  <a:pt x="286" y="233"/>
                  <a:pt x="286" y="233"/>
                  <a:pt x="286" y="233"/>
                </a:cubicBezTo>
                <a:cubicBezTo>
                  <a:pt x="285" y="235"/>
                  <a:pt x="282" y="237"/>
                  <a:pt x="279" y="237"/>
                </a:cubicBezTo>
                <a:cubicBezTo>
                  <a:pt x="272" y="236"/>
                  <a:pt x="265" y="235"/>
                  <a:pt x="258" y="235"/>
                </a:cubicBezTo>
                <a:cubicBezTo>
                  <a:pt x="238" y="235"/>
                  <a:pt x="218" y="239"/>
                  <a:pt x="199" y="245"/>
                </a:cubicBezTo>
                <a:cubicBezTo>
                  <a:pt x="197" y="246"/>
                  <a:pt x="194" y="245"/>
                  <a:pt x="192" y="243"/>
                </a:cubicBezTo>
                <a:cubicBezTo>
                  <a:pt x="152" y="198"/>
                  <a:pt x="152" y="198"/>
                  <a:pt x="152" y="198"/>
                </a:cubicBezTo>
                <a:cubicBezTo>
                  <a:pt x="136" y="207"/>
                  <a:pt x="120" y="216"/>
                  <a:pt x="106" y="228"/>
                </a:cubicBezTo>
                <a:cubicBezTo>
                  <a:pt x="129" y="282"/>
                  <a:pt x="129" y="282"/>
                  <a:pt x="129" y="282"/>
                </a:cubicBezTo>
                <a:cubicBezTo>
                  <a:pt x="130" y="285"/>
                  <a:pt x="130" y="288"/>
                  <a:pt x="128" y="290"/>
                </a:cubicBezTo>
                <a:cubicBezTo>
                  <a:pt x="109" y="309"/>
                  <a:pt x="94" y="332"/>
                  <a:pt x="85" y="357"/>
                </a:cubicBezTo>
                <a:cubicBezTo>
                  <a:pt x="84" y="360"/>
                  <a:pt x="82" y="361"/>
                  <a:pt x="79" y="362"/>
                </a:cubicBezTo>
                <a:cubicBezTo>
                  <a:pt x="20" y="364"/>
                  <a:pt x="20" y="364"/>
                  <a:pt x="20" y="364"/>
                </a:cubicBezTo>
                <a:cubicBezTo>
                  <a:pt x="16" y="382"/>
                  <a:pt x="14" y="400"/>
                  <a:pt x="14" y="419"/>
                </a:cubicBezTo>
                <a:cubicBezTo>
                  <a:pt x="71" y="435"/>
                  <a:pt x="71" y="435"/>
                  <a:pt x="71" y="435"/>
                </a:cubicBezTo>
                <a:cubicBezTo>
                  <a:pt x="73" y="435"/>
                  <a:pt x="75" y="438"/>
                  <a:pt x="76" y="441"/>
                </a:cubicBezTo>
                <a:cubicBezTo>
                  <a:pt x="79" y="468"/>
                  <a:pt x="89" y="495"/>
                  <a:pt x="104" y="519"/>
                </a:cubicBezTo>
                <a:cubicBezTo>
                  <a:pt x="105" y="521"/>
                  <a:pt x="105" y="524"/>
                  <a:pt x="104" y="527"/>
                </a:cubicBezTo>
                <a:cubicBezTo>
                  <a:pt x="69" y="575"/>
                  <a:pt x="69" y="575"/>
                  <a:pt x="69" y="575"/>
                </a:cubicBezTo>
                <a:cubicBezTo>
                  <a:pt x="81" y="589"/>
                  <a:pt x="94" y="602"/>
                  <a:pt x="109" y="613"/>
                </a:cubicBezTo>
                <a:cubicBezTo>
                  <a:pt x="157" y="578"/>
                  <a:pt x="157" y="578"/>
                  <a:pt x="157" y="578"/>
                </a:cubicBezTo>
                <a:cubicBezTo>
                  <a:pt x="158" y="577"/>
                  <a:pt x="160" y="576"/>
                  <a:pt x="161" y="576"/>
                </a:cubicBezTo>
                <a:close/>
                <a:moveTo>
                  <a:pt x="258" y="484"/>
                </a:moveTo>
                <a:cubicBezTo>
                  <a:pt x="223" y="484"/>
                  <a:pt x="193" y="455"/>
                  <a:pt x="193" y="419"/>
                </a:cubicBezTo>
                <a:cubicBezTo>
                  <a:pt x="193" y="383"/>
                  <a:pt x="223" y="354"/>
                  <a:pt x="258" y="354"/>
                </a:cubicBezTo>
                <a:cubicBezTo>
                  <a:pt x="294" y="354"/>
                  <a:pt x="323" y="383"/>
                  <a:pt x="323" y="419"/>
                </a:cubicBezTo>
                <a:cubicBezTo>
                  <a:pt x="323" y="455"/>
                  <a:pt x="294" y="484"/>
                  <a:pt x="258" y="484"/>
                </a:cubicBezTo>
                <a:close/>
                <a:moveTo>
                  <a:pt x="258" y="368"/>
                </a:moveTo>
                <a:cubicBezTo>
                  <a:pt x="230" y="368"/>
                  <a:pt x="207" y="391"/>
                  <a:pt x="207" y="419"/>
                </a:cubicBezTo>
                <a:cubicBezTo>
                  <a:pt x="207" y="447"/>
                  <a:pt x="230" y="470"/>
                  <a:pt x="258" y="470"/>
                </a:cubicBezTo>
                <a:cubicBezTo>
                  <a:pt x="286" y="470"/>
                  <a:pt x="309" y="447"/>
                  <a:pt x="309" y="419"/>
                </a:cubicBezTo>
                <a:cubicBezTo>
                  <a:pt x="309" y="391"/>
                  <a:pt x="286" y="368"/>
                  <a:pt x="258" y="36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+mn-lt"/>
            </a:endParaRPr>
          </a:p>
        </p:txBody>
      </p:sp>
      <p:sp>
        <p:nvSpPr>
          <p:cNvPr id="9" name="Freeform 123">
            <a:extLst>
              <a:ext uri="{FF2B5EF4-FFF2-40B4-BE49-F238E27FC236}">
                <a16:creationId xmlns:a16="http://schemas.microsoft.com/office/drawing/2014/main" id="{4874BCEA-6E5E-9534-B465-70A5E052937C}"/>
              </a:ext>
            </a:extLst>
          </p:cNvPr>
          <p:cNvSpPr>
            <a:spLocks noEditPoints="1"/>
          </p:cNvSpPr>
          <p:nvPr/>
        </p:nvSpPr>
        <p:spPr bwMode="auto">
          <a:xfrm>
            <a:off x="5635256" y="3982231"/>
            <a:ext cx="421980" cy="423375"/>
          </a:xfrm>
          <a:custGeom>
            <a:avLst/>
            <a:gdLst>
              <a:gd name="T0" fmla="*/ 529 w 676"/>
              <a:gd name="T1" fmla="*/ 279 h 678"/>
              <a:gd name="T2" fmla="*/ 431 w 676"/>
              <a:gd name="T3" fmla="*/ 293 h 678"/>
              <a:gd name="T4" fmla="*/ 409 w 676"/>
              <a:gd name="T5" fmla="*/ 210 h 678"/>
              <a:gd name="T6" fmla="*/ 367 w 676"/>
              <a:gd name="T7" fmla="*/ 125 h 678"/>
              <a:gd name="T8" fmla="*/ 401 w 676"/>
              <a:gd name="T9" fmla="*/ 58 h 678"/>
              <a:gd name="T10" fmla="*/ 504 w 676"/>
              <a:gd name="T11" fmla="*/ 6 h 678"/>
              <a:gd name="T12" fmla="*/ 579 w 676"/>
              <a:gd name="T13" fmla="*/ 18 h 678"/>
              <a:gd name="T14" fmla="*/ 659 w 676"/>
              <a:gd name="T15" fmla="*/ 100 h 678"/>
              <a:gd name="T16" fmla="*/ 676 w 676"/>
              <a:gd name="T17" fmla="*/ 169 h 678"/>
              <a:gd name="T18" fmla="*/ 605 w 676"/>
              <a:gd name="T19" fmla="*/ 241 h 678"/>
              <a:gd name="T20" fmla="*/ 558 w 676"/>
              <a:gd name="T21" fmla="*/ 314 h 678"/>
              <a:gd name="T22" fmla="*/ 539 w 676"/>
              <a:gd name="T23" fmla="*/ 267 h 678"/>
              <a:gd name="T24" fmla="*/ 590 w 676"/>
              <a:gd name="T25" fmla="*/ 242 h 678"/>
              <a:gd name="T26" fmla="*/ 626 w 676"/>
              <a:gd name="T27" fmla="*/ 172 h 678"/>
              <a:gd name="T28" fmla="*/ 655 w 676"/>
              <a:gd name="T29" fmla="*/ 114 h 678"/>
              <a:gd name="T30" fmla="*/ 566 w 676"/>
              <a:gd name="T31" fmla="*/ 67 h 678"/>
              <a:gd name="T32" fmla="*/ 517 w 676"/>
              <a:gd name="T33" fmla="*/ 15 h 678"/>
              <a:gd name="T34" fmla="*/ 500 w 676"/>
              <a:gd name="T35" fmla="*/ 56 h 678"/>
              <a:gd name="T36" fmla="*/ 401 w 676"/>
              <a:gd name="T37" fmla="*/ 73 h 678"/>
              <a:gd name="T38" fmla="*/ 413 w 676"/>
              <a:gd name="T39" fmla="*/ 144 h 678"/>
              <a:gd name="T40" fmla="*/ 422 w 676"/>
              <a:gd name="T41" fmla="*/ 215 h 678"/>
              <a:gd name="T42" fmla="*/ 463 w 676"/>
              <a:gd name="T43" fmla="*/ 255 h 678"/>
              <a:gd name="T44" fmla="*/ 532 w 676"/>
              <a:gd name="T45" fmla="*/ 264 h 678"/>
              <a:gd name="T46" fmla="*/ 478 w 676"/>
              <a:gd name="T47" fmla="*/ 160 h 678"/>
              <a:gd name="T48" fmla="*/ 517 w 676"/>
              <a:gd name="T49" fmla="*/ 199 h 678"/>
              <a:gd name="T50" fmla="*/ 517 w 676"/>
              <a:gd name="T51" fmla="*/ 185 h 678"/>
              <a:gd name="T52" fmla="*/ 258 w 676"/>
              <a:gd name="T53" fmla="*/ 678 h 678"/>
              <a:gd name="T54" fmla="*/ 233 w 676"/>
              <a:gd name="T55" fmla="*/ 615 h 678"/>
              <a:gd name="T56" fmla="*/ 105 w 676"/>
              <a:gd name="T57" fmla="*/ 628 h 678"/>
              <a:gd name="T58" fmla="*/ 90 w 676"/>
              <a:gd name="T59" fmla="*/ 522 h 678"/>
              <a:gd name="T60" fmla="*/ 0 w 676"/>
              <a:gd name="T61" fmla="*/ 424 h 678"/>
              <a:gd name="T62" fmla="*/ 14 w 676"/>
              <a:gd name="T63" fmla="*/ 350 h 678"/>
              <a:gd name="T64" fmla="*/ 91 w 676"/>
              <a:gd name="T65" fmla="*/ 229 h 678"/>
              <a:gd name="T66" fmla="*/ 159 w 676"/>
              <a:gd name="T67" fmla="*/ 185 h 678"/>
              <a:gd name="T68" fmla="*/ 276 w 676"/>
              <a:gd name="T69" fmla="*/ 222 h 678"/>
              <a:gd name="T70" fmla="*/ 378 w 676"/>
              <a:gd name="T71" fmla="*/ 190 h 678"/>
              <a:gd name="T72" fmla="*/ 423 w 676"/>
              <a:gd name="T73" fmla="*/ 310 h 678"/>
              <a:gd name="T74" fmla="*/ 513 w 676"/>
              <a:gd name="T75" fmla="*/ 370 h 678"/>
              <a:gd name="T76" fmla="*/ 456 w 676"/>
              <a:gd name="T77" fmla="*/ 419 h 678"/>
              <a:gd name="T78" fmla="*/ 494 w 676"/>
              <a:gd name="T79" fmla="*/ 527 h 678"/>
              <a:gd name="T80" fmla="*/ 393 w 676"/>
              <a:gd name="T81" fmla="*/ 564 h 678"/>
              <a:gd name="T82" fmla="*/ 325 w 676"/>
              <a:gd name="T83" fmla="*/ 669 h 678"/>
              <a:gd name="T84" fmla="*/ 165 w 676"/>
              <a:gd name="T85" fmla="*/ 577 h 678"/>
              <a:gd name="T86" fmla="*/ 261 w 676"/>
              <a:gd name="T87" fmla="*/ 664 h 678"/>
              <a:gd name="T88" fmla="*/ 323 w 676"/>
              <a:gd name="T89" fmla="*/ 591 h 678"/>
              <a:gd name="T90" fmla="*/ 449 w 676"/>
              <a:gd name="T91" fmla="*/ 573 h 678"/>
              <a:gd name="T92" fmla="*/ 432 w 676"/>
              <a:gd name="T93" fmla="*/ 479 h 678"/>
              <a:gd name="T94" fmla="*/ 445 w 676"/>
              <a:gd name="T95" fmla="*/ 396 h 678"/>
              <a:gd name="T96" fmla="*/ 421 w 676"/>
              <a:gd name="T97" fmla="*/ 325 h 678"/>
              <a:gd name="T98" fmla="*/ 356 w 676"/>
              <a:gd name="T99" fmla="*/ 258 h 678"/>
              <a:gd name="T100" fmla="*/ 286 w 676"/>
              <a:gd name="T101" fmla="*/ 233 h 678"/>
              <a:gd name="T102" fmla="*/ 199 w 676"/>
              <a:gd name="T103" fmla="*/ 245 h 678"/>
              <a:gd name="T104" fmla="*/ 106 w 676"/>
              <a:gd name="T105" fmla="*/ 228 h 678"/>
              <a:gd name="T106" fmla="*/ 85 w 676"/>
              <a:gd name="T107" fmla="*/ 357 h 678"/>
              <a:gd name="T108" fmla="*/ 14 w 676"/>
              <a:gd name="T109" fmla="*/ 419 h 678"/>
              <a:gd name="T110" fmla="*/ 104 w 676"/>
              <a:gd name="T111" fmla="*/ 519 h 678"/>
              <a:gd name="T112" fmla="*/ 109 w 676"/>
              <a:gd name="T113" fmla="*/ 613 h 678"/>
              <a:gd name="T114" fmla="*/ 258 w 676"/>
              <a:gd name="T115" fmla="*/ 484 h 678"/>
              <a:gd name="T116" fmla="*/ 323 w 676"/>
              <a:gd name="T117" fmla="*/ 419 h 678"/>
              <a:gd name="T118" fmla="*/ 207 w 676"/>
              <a:gd name="T119" fmla="*/ 419 h 678"/>
              <a:gd name="T120" fmla="*/ 258 w 676"/>
              <a:gd name="T121" fmla="*/ 36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76" h="678">
                <a:moveTo>
                  <a:pt x="556" y="314"/>
                </a:moveTo>
                <a:cubicBezTo>
                  <a:pt x="554" y="314"/>
                  <a:pt x="551" y="313"/>
                  <a:pt x="550" y="311"/>
                </a:cubicBezTo>
                <a:cubicBezTo>
                  <a:pt x="529" y="279"/>
                  <a:pt x="529" y="279"/>
                  <a:pt x="529" y="279"/>
                </a:cubicBezTo>
                <a:cubicBezTo>
                  <a:pt x="508" y="281"/>
                  <a:pt x="488" y="277"/>
                  <a:pt x="468" y="269"/>
                </a:cubicBezTo>
                <a:cubicBezTo>
                  <a:pt x="439" y="293"/>
                  <a:pt x="439" y="293"/>
                  <a:pt x="439" y="293"/>
                </a:cubicBezTo>
                <a:cubicBezTo>
                  <a:pt x="437" y="295"/>
                  <a:pt x="433" y="295"/>
                  <a:pt x="431" y="293"/>
                </a:cubicBezTo>
                <a:cubicBezTo>
                  <a:pt x="412" y="281"/>
                  <a:pt x="397" y="266"/>
                  <a:pt x="385" y="248"/>
                </a:cubicBezTo>
                <a:cubicBezTo>
                  <a:pt x="383" y="245"/>
                  <a:pt x="383" y="242"/>
                  <a:pt x="385" y="239"/>
                </a:cubicBezTo>
                <a:cubicBezTo>
                  <a:pt x="409" y="210"/>
                  <a:pt x="409" y="210"/>
                  <a:pt x="409" y="210"/>
                </a:cubicBezTo>
                <a:cubicBezTo>
                  <a:pt x="401" y="194"/>
                  <a:pt x="398" y="177"/>
                  <a:pt x="398" y="160"/>
                </a:cubicBezTo>
                <a:cubicBezTo>
                  <a:pt x="398" y="155"/>
                  <a:pt x="398" y="151"/>
                  <a:pt x="398" y="146"/>
                </a:cubicBezTo>
                <a:cubicBezTo>
                  <a:pt x="367" y="125"/>
                  <a:pt x="367" y="125"/>
                  <a:pt x="367" y="125"/>
                </a:cubicBezTo>
                <a:cubicBezTo>
                  <a:pt x="364" y="124"/>
                  <a:pt x="363" y="120"/>
                  <a:pt x="364" y="117"/>
                </a:cubicBezTo>
                <a:cubicBezTo>
                  <a:pt x="370" y="96"/>
                  <a:pt x="380" y="77"/>
                  <a:pt x="393" y="60"/>
                </a:cubicBezTo>
                <a:cubicBezTo>
                  <a:pt x="395" y="57"/>
                  <a:pt x="399" y="57"/>
                  <a:pt x="401" y="58"/>
                </a:cubicBezTo>
                <a:cubicBezTo>
                  <a:pt x="437" y="71"/>
                  <a:pt x="437" y="71"/>
                  <a:pt x="437" y="71"/>
                </a:cubicBezTo>
                <a:cubicBezTo>
                  <a:pt x="453" y="57"/>
                  <a:pt x="472" y="47"/>
                  <a:pt x="494" y="43"/>
                </a:cubicBezTo>
                <a:cubicBezTo>
                  <a:pt x="504" y="6"/>
                  <a:pt x="504" y="6"/>
                  <a:pt x="504" y="6"/>
                </a:cubicBezTo>
                <a:cubicBezTo>
                  <a:pt x="505" y="3"/>
                  <a:pt x="507" y="1"/>
                  <a:pt x="510" y="1"/>
                </a:cubicBezTo>
                <a:cubicBezTo>
                  <a:pt x="532" y="0"/>
                  <a:pt x="554" y="4"/>
                  <a:pt x="574" y="11"/>
                </a:cubicBezTo>
                <a:cubicBezTo>
                  <a:pt x="577" y="12"/>
                  <a:pt x="579" y="15"/>
                  <a:pt x="579" y="18"/>
                </a:cubicBezTo>
                <a:cubicBezTo>
                  <a:pt x="577" y="56"/>
                  <a:pt x="577" y="56"/>
                  <a:pt x="577" y="56"/>
                </a:cubicBezTo>
                <a:cubicBezTo>
                  <a:pt x="596" y="67"/>
                  <a:pt x="611" y="83"/>
                  <a:pt x="621" y="102"/>
                </a:cubicBezTo>
                <a:cubicBezTo>
                  <a:pt x="659" y="100"/>
                  <a:pt x="659" y="100"/>
                  <a:pt x="659" y="100"/>
                </a:cubicBezTo>
                <a:cubicBezTo>
                  <a:pt x="662" y="100"/>
                  <a:pt x="665" y="102"/>
                  <a:pt x="666" y="105"/>
                </a:cubicBezTo>
                <a:cubicBezTo>
                  <a:pt x="673" y="122"/>
                  <a:pt x="676" y="141"/>
                  <a:pt x="676" y="160"/>
                </a:cubicBezTo>
                <a:cubicBezTo>
                  <a:pt x="676" y="163"/>
                  <a:pt x="676" y="166"/>
                  <a:pt x="676" y="169"/>
                </a:cubicBezTo>
                <a:cubicBezTo>
                  <a:pt x="676" y="172"/>
                  <a:pt x="674" y="174"/>
                  <a:pt x="671" y="175"/>
                </a:cubicBezTo>
                <a:cubicBezTo>
                  <a:pt x="634" y="185"/>
                  <a:pt x="634" y="185"/>
                  <a:pt x="634" y="185"/>
                </a:cubicBezTo>
                <a:cubicBezTo>
                  <a:pt x="629" y="206"/>
                  <a:pt x="619" y="225"/>
                  <a:pt x="605" y="241"/>
                </a:cubicBezTo>
                <a:cubicBezTo>
                  <a:pt x="618" y="277"/>
                  <a:pt x="618" y="277"/>
                  <a:pt x="618" y="277"/>
                </a:cubicBezTo>
                <a:cubicBezTo>
                  <a:pt x="619" y="279"/>
                  <a:pt x="618" y="283"/>
                  <a:pt x="616" y="284"/>
                </a:cubicBezTo>
                <a:cubicBezTo>
                  <a:pt x="598" y="298"/>
                  <a:pt x="579" y="308"/>
                  <a:pt x="558" y="314"/>
                </a:cubicBezTo>
                <a:cubicBezTo>
                  <a:pt x="557" y="314"/>
                  <a:pt x="557" y="314"/>
                  <a:pt x="556" y="314"/>
                </a:cubicBezTo>
                <a:close/>
                <a:moveTo>
                  <a:pt x="533" y="264"/>
                </a:moveTo>
                <a:cubicBezTo>
                  <a:pt x="535" y="264"/>
                  <a:pt x="538" y="265"/>
                  <a:pt x="539" y="267"/>
                </a:cubicBezTo>
                <a:cubicBezTo>
                  <a:pt x="559" y="299"/>
                  <a:pt x="559" y="299"/>
                  <a:pt x="559" y="299"/>
                </a:cubicBezTo>
                <a:cubicBezTo>
                  <a:pt x="575" y="294"/>
                  <a:pt x="590" y="286"/>
                  <a:pt x="603" y="277"/>
                </a:cubicBezTo>
                <a:cubicBezTo>
                  <a:pt x="590" y="242"/>
                  <a:pt x="590" y="242"/>
                  <a:pt x="590" y="242"/>
                </a:cubicBezTo>
                <a:cubicBezTo>
                  <a:pt x="589" y="239"/>
                  <a:pt x="590" y="236"/>
                  <a:pt x="592" y="234"/>
                </a:cubicBezTo>
                <a:cubicBezTo>
                  <a:pt x="607" y="219"/>
                  <a:pt x="617" y="199"/>
                  <a:pt x="621" y="178"/>
                </a:cubicBezTo>
                <a:cubicBezTo>
                  <a:pt x="621" y="175"/>
                  <a:pt x="623" y="173"/>
                  <a:pt x="626" y="172"/>
                </a:cubicBezTo>
                <a:cubicBezTo>
                  <a:pt x="662" y="163"/>
                  <a:pt x="662" y="163"/>
                  <a:pt x="662" y="163"/>
                </a:cubicBezTo>
                <a:cubicBezTo>
                  <a:pt x="662" y="162"/>
                  <a:pt x="662" y="161"/>
                  <a:pt x="662" y="160"/>
                </a:cubicBezTo>
                <a:cubicBezTo>
                  <a:pt x="662" y="144"/>
                  <a:pt x="660" y="129"/>
                  <a:pt x="655" y="114"/>
                </a:cubicBezTo>
                <a:cubicBezTo>
                  <a:pt x="618" y="116"/>
                  <a:pt x="618" y="116"/>
                  <a:pt x="618" y="116"/>
                </a:cubicBezTo>
                <a:cubicBezTo>
                  <a:pt x="615" y="116"/>
                  <a:pt x="612" y="114"/>
                  <a:pt x="611" y="112"/>
                </a:cubicBezTo>
                <a:cubicBezTo>
                  <a:pt x="601" y="92"/>
                  <a:pt x="586" y="77"/>
                  <a:pt x="566" y="67"/>
                </a:cubicBezTo>
                <a:cubicBezTo>
                  <a:pt x="564" y="65"/>
                  <a:pt x="562" y="63"/>
                  <a:pt x="563" y="60"/>
                </a:cubicBezTo>
                <a:cubicBezTo>
                  <a:pt x="565" y="23"/>
                  <a:pt x="565" y="23"/>
                  <a:pt x="565" y="23"/>
                </a:cubicBezTo>
                <a:cubicBezTo>
                  <a:pt x="549" y="17"/>
                  <a:pt x="533" y="15"/>
                  <a:pt x="517" y="15"/>
                </a:cubicBezTo>
                <a:cubicBezTo>
                  <a:pt x="517" y="15"/>
                  <a:pt x="516" y="15"/>
                  <a:pt x="516" y="15"/>
                </a:cubicBezTo>
                <a:cubicBezTo>
                  <a:pt x="506" y="51"/>
                  <a:pt x="506" y="51"/>
                  <a:pt x="506" y="51"/>
                </a:cubicBezTo>
                <a:cubicBezTo>
                  <a:pt x="505" y="53"/>
                  <a:pt x="503" y="55"/>
                  <a:pt x="500" y="56"/>
                </a:cubicBezTo>
                <a:cubicBezTo>
                  <a:pt x="479" y="59"/>
                  <a:pt x="459" y="69"/>
                  <a:pt x="443" y="84"/>
                </a:cubicBezTo>
                <a:cubicBezTo>
                  <a:pt x="442" y="86"/>
                  <a:pt x="439" y="87"/>
                  <a:pt x="436" y="86"/>
                </a:cubicBezTo>
                <a:cubicBezTo>
                  <a:pt x="401" y="73"/>
                  <a:pt x="401" y="73"/>
                  <a:pt x="401" y="73"/>
                </a:cubicBezTo>
                <a:cubicBezTo>
                  <a:pt x="391" y="86"/>
                  <a:pt x="384" y="101"/>
                  <a:pt x="379" y="116"/>
                </a:cubicBezTo>
                <a:cubicBezTo>
                  <a:pt x="410" y="137"/>
                  <a:pt x="410" y="137"/>
                  <a:pt x="410" y="137"/>
                </a:cubicBezTo>
                <a:cubicBezTo>
                  <a:pt x="412" y="138"/>
                  <a:pt x="413" y="141"/>
                  <a:pt x="413" y="144"/>
                </a:cubicBezTo>
                <a:cubicBezTo>
                  <a:pt x="412" y="149"/>
                  <a:pt x="412" y="154"/>
                  <a:pt x="412" y="160"/>
                </a:cubicBezTo>
                <a:cubicBezTo>
                  <a:pt x="412" y="176"/>
                  <a:pt x="415" y="193"/>
                  <a:pt x="423" y="207"/>
                </a:cubicBezTo>
                <a:cubicBezTo>
                  <a:pt x="424" y="210"/>
                  <a:pt x="424" y="213"/>
                  <a:pt x="422" y="215"/>
                </a:cubicBezTo>
                <a:cubicBezTo>
                  <a:pt x="399" y="244"/>
                  <a:pt x="399" y="244"/>
                  <a:pt x="399" y="244"/>
                </a:cubicBezTo>
                <a:cubicBezTo>
                  <a:pt x="409" y="258"/>
                  <a:pt x="421" y="269"/>
                  <a:pt x="434" y="279"/>
                </a:cubicBezTo>
                <a:cubicBezTo>
                  <a:pt x="463" y="255"/>
                  <a:pt x="463" y="255"/>
                  <a:pt x="463" y="255"/>
                </a:cubicBezTo>
                <a:cubicBezTo>
                  <a:pt x="465" y="254"/>
                  <a:pt x="468" y="253"/>
                  <a:pt x="471" y="254"/>
                </a:cubicBezTo>
                <a:cubicBezTo>
                  <a:pt x="485" y="262"/>
                  <a:pt x="501" y="265"/>
                  <a:pt x="517" y="265"/>
                </a:cubicBezTo>
                <a:cubicBezTo>
                  <a:pt x="522" y="265"/>
                  <a:pt x="527" y="265"/>
                  <a:pt x="532" y="264"/>
                </a:cubicBezTo>
                <a:cubicBezTo>
                  <a:pt x="532" y="264"/>
                  <a:pt x="533" y="264"/>
                  <a:pt x="533" y="264"/>
                </a:cubicBezTo>
                <a:close/>
                <a:moveTo>
                  <a:pt x="517" y="199"/>
                </a:moveTo>
                <a:cubicBezTo>
                  <a:pt x="496" y="199"/>
                  <a:pt x="478" y="181"/>
                  <a:pt x="478" y="160"/>
                </a:cubicBezTo>
                <a:cubicBezTo>
                  <a:pt x="478" y="138"/>
                  <a:pt x="496" y="121"/>
                  <a:pt x="517" y="121"/>
                </a:cubicBezTo>
                <a:cubicBezTo>
                  <a:pt x="539" y="121"/>
                  <a:pt x="556" y="138"/>
                  <a:pt x="556" y="160"/>
                </a:cubicBezTo>
                <a:cubicBezTo>
                  <a:pt x="556" y="181"/>
                  <a:pt x="539" y="199"/>
                  <a:pt x="517" y="199"/>
                </a:cubicBezTo>
                <a:close/>
                <a:moveTo>
                  <a:pt x="517" y="135"/>
                </a:moveTo>
                <a:cubicBezTo>
                  <a:pt x="503" y="135"/>
                  <a:pt x="492" y="146"/>
                  <a:pt x="492" y="160"/>
                </a:cubicBezTo>
                <a:cubicBezTo>
                  <a:pt x="492" y="174"/>
                  <a:pt x="503" y="185"/>
                  <a:pt x="517" y="185"/>
                </a:cubicBezTo>
                <a:cubicBezTo>
                  <a:pt x="531" y="185"/>
                  <a:pt x="542" y="174"/>
                  <a:pt x="542" y="160"/>
                </a:cubicBezTo>
                <a:cubicBezTo>
                  <a:pt x="542" y="146"/>
                  <a:pt x="531" y="135"/>
                  <a:pt x="517" y="135"/>
                </a:cubicBezTo>
                <a:close/>
                <a:moveTo>
                  <a:pt x="258" y="678"/>
                </a:moveTo>
                <a:cubicBezTo>
                  <a:pt x="256" y="678"/>
                  <a:pt x="256" y="678"/>
                  <a:pt x="256" y="678"/>
                </a:cubicBezTo>
                <a:cubicBezTo>
                  <a:pt x="252" y="678"/>
                  <a:pt x="250" y="676"/>
                  <a:pt x="249" y="673"/>
                </a:cubicBezTo>
                <a:cubicBezTo>
                  <a:pt x="233" y="615"/>
                  <a:pt x="233" y="615"/>
                  <a:pt x="233" y="615"/>
                </a:cubicBezTo>
                <a:cubicBezTo>
                  <a:pt x="208" y="612"/>
                  <a:pt x="184" y="604"/>
                  <a:pt x="162" y="592"/>
                </a:cubicBezTo>
                <a:cubicBezTo>
                  <a:pt x="113" y="628"/>
                  <a:pt x="113" y="628"/>
                  <a:pt x="113" y="628"/>
                </a:cubicBezTo>
                <a:cubicBezTo>
                  <a:pt x="111" y="630"/>
                  <a:pt x="108" y="630"/>
                  <a:pt x="105" y="628"/>
                </a:cubicBezTo>
                <a:cubicBezTo>
                  <a:pt x="86" y="614"/>
                  <a:pt x="69" y="598"/>
                  <a:pt x="55" y="579"/>
                </a:cubicBezTo>
                <a:cubicBezTo>
                  <a:pt x="53" y="577"/>
                  <a:pt x="53" y="574"/>
                  <a:pt x="55" y="571"/>
                </a:cubicBezTo>
                <a:cubicBezTo>
                  <a:pt x="90" y="522"/>
                  <a:pt x="90" y="522"/>
                  <a:pt x="90" y="522"/>
                </a:cubicBezTo>
                <a:cubicBezTo>
                  <a:pt x="75" y="499"/>
                  <a:pt x="66" y="474"/>
                  <a:pt x="62" y="447"/>
                </a:cubicBezTo>
                <a:cubicBezTo>
                  <a:pt x="5" y="431"/>
                  <a:pt x="5" y="431"/>
                  <a:pt x="5" y="431"/>
                </a:cubicBezTo>
                <a:cubicBezTo>
                  <a:pt x="2" y="430"/>
                  <a:pt x="0" y="427"/>
                  <a:pt x="0" y="424"/>
                </a:cubicBezTo>
                <a:cubicBezTo>
                  <a:pt x="0" y="423"/>
                  <a:pt x="0" y="421"/>
                  <a:pt x="0" y="419"/>
                </a:cubicBezTo>
                <a:cubicBezTo>
                  <a:pt x="0" y="398"/>
                  <a:pt x="2" y="376"/>
                  <a:pt x="8" y="355"/>
                </a:cubicBezTo>
                <a:cubicBezTo>
                  <a:pt x="8" y="352"/>
                  <a:pt x="11" y="350"/>
                  <a:pt x="14" y="350"/>
                </a:cubicBezTo>
                <a:cubicBezTo>
                  <a:pt x="74" y="348"/>
                  <a:pt x="74" y="348"/>
                  <a:pt x="74" y="348"/>
                </a:cubicBezTo>
                <a:cubicBezTo>
                  <a:pt x="83" y="324"/>
                  <a:pt x="97" y="302"/>
                  <a:pt x="114" y="283"/>
                </a:cubicBezTo>
                <a:cubicBezTo>
                  <a:pt x="91" y="229"/>
                  <a:pt x="91" y="229"/>
                  <a:pt x="91" y="229"/>
                </a:cubicBezTo>
                <a:cubicBezTo>
                  <a:pt x="89" y="226"/>
                  <a:pt x="90" y="223"/>
                  <a:pt x="93" y="221"/>
                </a:cubicBezTo>
                <a:cubicBezTo>
                  <a:pt x="110" y="206"/>
                  <a:pt x="130" y="193"/>
                  <a:pt x="151" y="184"/>
                </a:cubicBezTo>
                <a:cubicBezTo>
                  <a:pt x="154" y="182"/>
                  <a:pt x="157" y="183"/>
                  <a:pt x="159" y="185"/>
                </a:cubicBezTo>
                <a:cubicBezTo>
                  <a:pt x="199" y="230"/>
                  <a:pt x="199" y="230"/>
                  <a:pt x="199" y="230"/>
                </a:cubicBezTo>
                <a:cubicBezTo>
                  <a:pt x="218" y="224"/>
                  <a:pt x="238" y="221"/>
                  <a:pt x="258" y="221"/>
                </a:cubicBezTo>
                <a:cubicBezTo>
                  <a:pt x="264" y="221"/>
                  <a:pt x="270" y="222"/>
                  <a:pt x="276" y="222"/>
                </a:cubicBezTo>
                <a:cubicBezTo>
                  <a:pt x="304" y="170"/>
                  <a:pt x="304" y="170"/>
                  <a:pt x="304" y="170"/>
                </a:cubicBezTo>
                <a:cubicBezTo>
                  <a:pt x="306" y="167"/>
                  <a:pt x="309" y="165"/>
                  <a:pt x="312" y="166"/>
                </a:cubicBezTo>
                <a:cubicBezTo>
                  <a:pt x="335" y="171"/>
                  <a:pt x="357" y="179"/>
                  <a:pt x="378" y="190"/>
                </a:cubicBezTo>
                <a:cubicBezTo>
                  <a:pt x="380" y="191"/>
                  <a:pt x="382" y="194"/>
                  <a:pt x="381" y="197"/>
                </a:cubicBezTo>
                <a:cubicBezTo>
                  <a:pt x="371" y="256"/>
                  <a:pt x="371" y="256"/>
                  <a:pt x="371" y="256"/>
                </a:cubicBezTo>
                <a:cubicBezTo>
                  <a:pt x="391" y="271"/>
                  <a:pt x="410" y="289"/>
                  <a:pt x="423" y="310"/>
                </a:cubicBezTo>
                <a:cubicBezTo>
                  <a:pt x="482" y="300"/>
                  <a:pt x="482" y="300"/>
                  <a:pt x="482" y="300"/>
                </a:cubicBezTo>
                <a:cubicBezTo>
                  <a:pt x="485" y="299"/>
                  <a:pt x="489" y="301"/>
                  <a:pt x="490" y="303"/>
                </a:cubicBezTo>
                <a:cubicBezTo>
                  <a:pt x="500" y="325"/>
                  <a:pt x="508" y="347"/>
                  <a:pt x="513" y="370"/>
                </a:cubicBezTo>
                <a:cubicBezTo>
                  <a:pt x="513" y="373"/>
                  <a:pt x="512" y="376"/>
                  <a:pt x="509" y="378"/>
                </a:cubicBezTo>
                <a:cubicBezTo>
                  <a:pt x="456" y="406"/>
                  <a:pt x="456" y="406"/>
                  <a:pt x="456" y="406"/>
                </a:cubicBezTo>
                <a:cubicBezTo>
                  <a:pt x="456" y="410"/>
                  <a:pt x="456" y="415"/>
                  <a:pt x="456" y="419"/>
                </a:cubicBezTo>
                <a:cubicBezTo>
                  <a:pt x="456" y="439"/>
                  <a:pt x="453" y="459"/>
                  <a:pt x="447" y="479"/>
                </a:cubicBezTo>
                <a:cubicBezTo>
                  <a:pt x="492" y="519"/>
                  <a:pt x="492" y="519"/>
                  <a:pt x="492" y="519"/>
                </a:cubicBezTo>
                <a:cubicBezTo>
                  <a:pt x="494" y="521"/>
                  <a:pt x="495" y="524"/>
                  <a:pt x="494" y="527"/>
                </a:cubicBezTo>
                <a:cubicBezTo>
                  <a:pt x="484" y="548"/>
                  <a:pt x="471" y="568"/>
                  <a:pt x="456" y="586"/>
                </a:cubicBezTo>
                <a:cubicBezTo>
                  <a:pt x="454" y="589"/>
                  <a:pt x="451" y="589"/>
                  <a:pt x="448" y="588"/>
                </a:cubicBezTo>
                <a:cubicBezTo>
                  <a:pt x="393" y="564"/>
                  <a:pt x="393" y="564"/>
                  <a:pt x="393" y="564"/>
                </a:cubicBezTo>
                <a:cubicBezTo>
                  <a:pt x="375" y="581"/>
                  <a:pt x="355" y="594"/>
                  <a:pt x="333" y="603"/>
                </a:cubicBezTo>
                <a:cubicBezTo>
                  <a:pt x="330" y="663"/>
                  <a:pt x="330" y="663"/>
                  <a:pt x="330" y="663"/>
                </a:cubicBezTo>
                <a:cubicBezTo>
                  <a:pt x="330" y="666"/>
                  <a:pt x="328" y="669"/>
                  <a:pt x="325" y="669"/>
                </a:cubicBezTo>
                <a:cubicBezTo>
                  <a:pt x="303" y="675"/>
                  <a:pt x="281" y="678"/>
                  <a:pt x="258" y="678"/>
                </a:cubicBezTo>
                <a:close/>
                <a:moveTo>
                  <a:pt x="161" y="576"/>
                </a:moveTo>
                <a:cubicBezTo>
                  <a:pt x="162" y="576"/>
                  <a:pt x="164" y="577"/>
                  <a:pt x="165" y="577"/>
                </a:cubicBezTo>
                <a:cubicBezTo>
                  <a:pt x="188" y="591"/>
                  <a:pt x="213" y="599"/>
                  <a:pt x="239" y="602"/>
                </a:cubicBezTo>
                <a:cubicBezTo>
                  <a:pt x="242" y="602"/>
                  <a:pt x="244" y="604"/>
                  <a:pt x="245" y="607"/>
                </a:cubicBezTo>
                <a:cubicBezTo>
                  <a:pt x="261" y="664"/>
                  <a:pt x="261" y="664"/>
                  <a:pt x="261" y="664"/>
                </a:cubicBezTo>
                <a:cubicBezTo>
                  <a:pt x="280" y="664"/>
                  <a:pt x="298" y="661"/>
                  <a:pt x="316" y="657"/>
                </a:cubicBezTo>
                <a:cubicBezTo>
                  <a:pt x="319" y="598"/>
                  <a:pt x="319" y="598"/>
                  <a:pt x="319" y="598"/>
                </a:cubicBezTo>
                <a:cubicBezTo>
                  <a:pt x="319" y="595"/>
                  <a:pt x="321" y="592"/>
                  <a:pt x="323" y="591"/>
                </a:cubicBezTo>
                <a:cubicBezTo>
                  <a:pt x="347" y="582"/>
                  <a:pt x="368" y="569"/>
                  <a:pt x="387" y="551"/>
                </a:cubicBezTo>
                <a:cubicBezTo>
                  <a:pt x="389" y="549"/>
                  <a:pt x="392" y="548"/>
                  <a:pt x="394" y="549"/>
                </a:cubicBezTo>
                <a:cubicBezTo>
                  <a:pt x="449" y="573"/>
                  <a:pt x="449" y="573"/>
                  <a:pt x="449" y="573"/>
                </a:cubicBezTo>
                <a:cubicBezTo>
                  <a:pt x="461" y="558"/>
                  <a:pt x="471" y="542"/>
                  <a:pt x="479" y="526"/>
                </a:cubicBezTo>
                <a:cubicBezTo>
                  <a:pt x="434" y="486"/>
                  <a:pt x="434" y="486"/>
                  <a:pt x="434" y="486"/>
                </a:cubicBezTo>
                <a:cubicBezTo>
                  <a:pt x="432" y="484"/>
                  <a:pt x="431" y="481"/>
                  <a:pt x="432" y="479"/>
                </a:cubicBezTo>
                <a:cubicBezTo>
                  <a:pt x="439" y="459"/>
                  <a:pt x="442" y="439"/>
                  <a:pt x="442" y="419"/>
                </a:cubicBezTo>
                <a:cubicBezTo>
                  <a:pt x="442" y="414"/>
                  <a:pt x="442" y="408"/>
                  <a:pt x="441" y="402"/>
                </a:cubicBezTo>
                <a:cubicBezTo>
                  <a:pt x="441" y="400"/>
                  <a:pt x="443" y="397"/>
                  <a:pt x="445" y="396"/>
                </a:cubicBezTo>
                <a:cubicBezTo>
                  <a:pt x="498" y="368"/>
                  <a:pt x="498" y="368"/>
                  <a:pt x="498" y="368"/>
                </a:cubicBezTo>
                <a:cubicBezTo>
                  <a:pt x="494" y="349"/>
                  <a:pt x="488" y="331"/>
                  <a:pt x="480" y="314"/>
                </a:cubicBezTo>
                <a:cubicBezTo>
                  <a:pt x="421" y="325"/>
                  <a:pt x="421" y="325"/>
                  <a:pt x="421" y="325"/>
                </a:cubicBezTo>
                <a:cubicBezTo>
                  <a:pt x="419" y="325"/>
                  <a:pt x="416" y="324"/>
                  <a:pt x="414" y="322"/>
                </a:cubicBezTo>
                <a:cubicBezTo>
                  <a:pt x="400" y="299"/>
                  <a:pt x="381" y="280"/>
                  <a:pt x="359" y="265"/>
                </a:cubicBezTo>
                <a:cubicBezTo>
                  <a:pt x="357" y="264"/>
                  <a:pt x="356" y="261"/>
                  <a:pt x="356" y="258"/>
                </a:cubicBezTo>
                <a:cubicBezTo>
                  <a:pt x="367" y="200"/>
                  <a:pt x="367" y="200"/>
                  <a:pt x="367" y="200"/>
                </a:cubicBezTo>
                <a:cubicBezTo>
                  <a:pt x="350" y="191"/>
                  <a:pt x="332" y="185"/>
                  <a:pt x="314" y="181"/>
                </a:cubicBezTo>
                <a:cubicBezTo>
                  <a:pt x="286" y="233"/>
                  <a:pt x="286" y="233"/>
                  <a:pt x="286" y="233"/>
                </a:cubicBezTo>
                <a:cubicBezTo>
                  <a:pt x="285" y="235"/>
                  <a:pt x="282" y="237"/>
                  <a:pt x="279" y="237"/>
                </a:cubicBezTo>
                <a:cubicBezTo>
                  <a:pt x="272" y="236"/>
                  <a:pt x="265" y="235"/>
                  <a:pt x="258" y="235"/>
                </a:cubicBezTo>
                <a:cubicBezTo>
                  <a:pt x="238" y="235"/>
                  <a:pt x="218" y="239"/>
                  <a:pt x="199" y="245"/>
                </a:cubicBezTo>
                <a:cubicBezTo>
                  <a:pt x="197" y="246"/>
                  <a:pt x="194" y="245"/>
                  <a:pt x="192" y="243"/>
                </a:cubicBezTo>
                <a:cubicBezTo>
                  <a:pt x="152" y="198"/>
                  <a:pt x="152" y="198"/>
                  <a:pt x="152" y="198"/>
                </a:cubicBezTo>
                <a:cubicBezTo>
                  <a:pt x="136" y="207"/>
                  <a:pt x="120" y="216"/>
                  <a:pt x="106" y="228"/>
                </a:cubicBezTo>
                <a:cubicBezTo>
                  <a:pt x="129" y="282"/>
                  <a:pt x="129" y="282"/>
                  <a:pt x="129" y="282"/>
                </a:cubicBezTo>
                <a:cubicBezTo>
                  <a:pt x="130" y="285"/>
                  <a:pt x="130" y="288"/>
                  <a:pt x="128" y="290"/>
                </a:cubicBezTo>
                <a:cubicBezTo>
                  <a:pt x="109" y="309"/>
                  <a:pt x="94" y="332"/>
                  <a:pt x="85" y="357"/>
                </a:cubicBezTo>
                <a:cubicBezTo>
                  <a:pt x="84" y="360"/>
                  <a:pt x="82" y="361"/>
                  <a:pt x="79" y="362"/>
                </a:cubicBezTo>
                <a:cubicBezTo>
                  <a:pt x="20" y="364"/>
                  <a:pt x="20" y="364"/>
                  <a:pt x="20" y="364"/>
                </a:cubicBezTo>
                <a:cubicBezTo>
                  <a:pt x="16" y="382"/>
                  <a:pt x="14" y="400"/>
                  <a:pt x="14" y="419"/>
                </a:cubicBezTo>
                <a:cubicBezTo>
                  <a:pt x="71" y="435"/>
                  <a:pt x="71" y="435"/>
                  <a:pt x="71" y="435"/>
                </a:cubicBezTo>
                <a:cubicBezTo>
                  <a:pt x="73" y="435"/>
                  <a:pt x="75" y="438"/>
                  <a:pt x="76" y="441"/>
                </a:cubicBezTo>
                <a:cubicBezTo>
                  <a:pt x="79" y="468"/>
                  <a:pt x="89" y="495"/>
                  <a:pt x="104" y="519"/>
                </a:cubicBezTo>
                <a:cubicBezTo>
                  <a:pt x="105" y="521"/>
                  <a:pt x="105" y="524"/>
                  <a:pt x="104" y="527"/>
                </a:cubicBezTo>
                <a:cubicBezTo>
                  <a:pt x="69" y="575"/>
                  <a:pt x="69" y="575"/>
                  <a:pt x="69" y="575"/>
                </a:cubicBezTo>
                <a:cubicBezTo>
                  <a:pt x="81" y="589"/>
                  <a:pt x="94" y="602"/>
                  <a:pt x="109" y="613"/>
                </a:cubicBezTo>
                <a:cubicBezTo>
                  <a:pt x="157" y="578"/>
                  <a:pt x="157" y="578"/>
                  <a:pt x="157" y="578"/>
                </a:cubicBezTo>
                <a:cubicBezTo>
                  <a:pt x="158" y="577"/>
                  <a:pt x="160" y="576"/>
                  <a:pt x="161" y="576"/>
                </a:cubicBezTo>
                <a:close/>
                <a:moveTo>
                  <a:pt x="258" y="484"/>
                </a:moveTo>
                <a:cubicBezTo>
                  <a:pt x="223" y="484"/>
                  <a:pt x="193" y="455"/>
                  <a:pt x="193" y="419"/>
                </a:cubicBezTo>
                <a:cubicBezTo>
                  <a:pt x="193" y="383"/>
                  <a:pt x="223" y="354"/>
                  <a:pt x="258" y="354"/>
                </a:cubicBezTo>
                <a:cubicBezTo>
                  <a:pt x="294" y="354"/>
                  <a:pt x="323" y="383"/>
                  <a:pt x="323" y="419"/>
                </a:cubicBezTo>
                <a:cubicBezTo>
                  <a:pt x="323" y="455"/>
                  <a:pt x="294" y="484"/>
                  <a:pt x="258" y="484"/>
                </a:cubicBezTo>
                <a:close/>
                <a:moveTo>
                  <a:pt x="258" y="368"/>
                </a:moveTo>
                <a:cubicBezTo>
                  <a:pt x="230" y="368"/>
                  <a:pt x="207" y="391"/>
                  <a:pt x="207" y="419"/>
                </a:cubicBezTo>
                <a:cubicBezTo>
                  <a:pt x="207" y="447"/>
                  <a:pt x="230" y="470"/>
                  <a:pt x="258" y="470"/>
                </a:cubicBezTo>
                <a:cubicBezTo>
                  <a:pt x="286" y="470"/>
                  <a:pt x="309" y="447"/>
                  <a:pt x="309" y="419"/>
                </a:cubicBezTo>
                <a:cubicBezTo>
                  <a:pt x="309" y="391"/>
                  <a:pt x="286" y="368"/>
                  <a:pt x="258" y="36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+mn-lt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3203C1C-68BF-39F3-E679-54E9B0FA3CEC}"/>
              </a:ext>
            </a:extLst>
          </p:cNvPr>
          <p:cNvSpPr txBox="1"/>
          <p:nvPr/>
        </p:nvSpPr>
        <p:spPr>
          <a:xfrm>
            <a:off x="7187609" y="1679944"/>
            <a:ext cx="117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>
                <a:solidFill>
                  <a:schemeClr val="accent1">
                    <a:lumMod val="75000"/>
                  </a:schemeClr>
                </a:solidFill>
                <a:latin typeface="+mn-lt"/>
              </a:rPr>
              <a:t>ROC AUC?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6366D70-A5A1-7984-B1E7-33C7E109F1CC}"/>
              </a:ext>
            </a:extLst>
          </p:cNvPr>
          <p:cNvSpPr txBox="1"/>
          <p:nvPr/>
        </p:nvSpPr>
        <p:spPr>
          <a:xfrm>
            <a:off x="7187609" y="221951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>
                <a:solidFill>
                  <a:schemeClr val="accent1">
                    <a:lumMod val="75000"/>
                  </a:schemeClr>
                </a:solidFill>
                <a:latin typeface="+mn-lt"/>
              </a:rPr>
              <a:t>Accuracy?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D96A364-8CAF-DC46-B2FB-1F7A97AF863E}"/>
              </a:ext>
            </a:extLst>
          </p:cNvPr>
          <p:cNvSpPr txBox="1"/>
          <p:nvPr/>
        </p:nvSpPr>
        <p:spPr>
          <a:xfrm>
            <a:off x="6803295" y="2812104"/>
            <a:ext cx="2197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>
                <a:solidFill>
                  <a:schemeClr val="accent1">
                    <a:lumMod val="75000"/>
                  </a:schemeClr>
                </a:solidFill>
                <a:latin typeface="+mn-lt"/>
              </a:rPr>
              <a:t>F1, precision, recall?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34F1833-F199-3ECB-8855-39BCC3D762A2}"/>
              </a:ext>
            </a:extLst>
          </p:cNvPr>
          <p:cNvSpPr txBox="1"/>
          <p:nvPr/>
        </p:nvSpPr>
        <p:spPr>
          <a:xfrm>
            <a:off x="665671" y="2326489"/>
            <a:ext cx="888385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pl-PL">
                <a:solidFill>
                  <a:schemeClr val="accent1">
                    <a:lumMod val="75000"/>
                  </a:schemeClr>
                </a:solidFill>
                <a:latin typeface="+mn-lt"/>
              </a:rPr>
              <a:t>RMSE?</a:t>
            </a:r>
          </a:p>
        </p:txBody>
      </p:sp>
    </p:spTree>
    <p:extLst>
      <p:ext uri="{BB962C8B-B14F-4D97-AF65-F5344CB8AC3E}">
        <p14:creationId xmlns:p14="http://schemas.microsoft.com/office/powerpoint/2010/main" val="263738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A0E595A5-240D-03EE-580B-03D53FC60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But model is only a part of the whole story</a:t>
            </a:r>
          </a:p>
        </p:txBody>
      </p:sp>
      <p:sp>
        <p:nvSpPr>
          <p:cNvPr id="2" name="Podtytuł 1">
            <a:extLst>
              <a:ext uri="{FF2B5EF4-FFF2-40B4-BE49-F238E27FC236}">
                <a16:creationId xmlns:a16="http://schemas.microsoft.com/office/drawing/2014/main" id="{C9E98507-92BB-4B4B-5862-73F89E96B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It needs to be implemented</a:t>
            </a:r>
          </a:p>
        </p:txBody>
      </p:sp>
    </p:spTree>
    <p:extLst>
      <p:ext uri="{BB962C8B-B14F-4D97-AF65-F5344CB8AC3E}">
        <p14:creationId xmlns:p14="http://schemas.microsoft.com/office/powerpoint/2010/main" val="1711839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The strategy generates only </a:t>
            </a:r>
            <a:br>
              <a:rPr lang="pl-PL"/>
            </a:br>
            <a:r>
              <a:rPr lang="pl-PL"/>
              <a:t>a recommendation for action....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17A84BD-CE94-0A39-36F1-F234D845D9F4}"/>
              </a:ext>
            </a:extLst>
          </p:cNvPr>
          <p:cNvSpPr txBox="1"/>
          <p:nvPr/>
        </p:nvSpPr>
        <p:spPr>
          <a:xfrm>
            <a:off x="2437579" y="2825187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i="1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E99372A-91EE-9E74-8633-49A3185CA397}"/>
              </a:ext>
            </a:extLst>
          </p:cNvPr>
          <p:cNvSpPr txBox="1"/>
          <p:nvPr/>
        </p:nvSpPr>
        <p:spPr>
          <a:xfrm>
            <a:off x="6023652" y="282518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i="1">
                <a:latin typeface="Cambria Math" panose="02040503050406030204" pitchFamily="18" charset="0"/>
                <a:ea typeface="Cambria Math" panose="02040503050406030204" pitchFamily="18" charset="0"/>
              </a:rPr>
              <a:t>S’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EEB3031-5197-4C84-423C-1A6E683F68FE}"/>
                  </a:ext>
                </a:extLst>
              </p:cNvPr>
              <p:cNvSpPr txBox="1"/>
              <p:nvPr/>
            </p:nvSpPr>
            <p:spPr>
              <a:xfrm>
                <a:off x="3659656" y="2829511"/>
                <a:ext cx="1453085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pl-PL" b="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pl-PL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baseline="-25000"/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BEEB3031-5197-4C84-423C-1A6E683F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56" y="2829511"/>
                <a:ext cx="1453085" cy="362984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35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72" y="614617"/>
            <a:ext cx="8532055" cy="857250"/>
          </a:xfrm>
        </p:spPr>
        <p:txBody>
          <a:bodyPr/>
          <a:lstStyle/>
          <a:p>
            <a:r>
              <a:rPr lang="pl-PL"/>
              <a:t>This recommendation should be implemented, and information about the implementation transferred to the system</a:t>
            </a:r>
          </a:p>
        </p:txBody>
      </p:sp>
      <p:grpSp>
        <p:nvGrpSpPr>
          <p:cNvPr id="3" name="Grupa 2">
            <a:extLst>
              <a:ext uri="{FF2B5EF4-FFF2-40B4-BE49-F238E27FC236}">
                <a16:creationId xmlns:a16="http://schemas.microsoft.com/office/drawing/2014/main" id="{13EF5495-B548-FB36-5F26-C6EAD1DC73C6}"/>
              </a:ext>
            </a:extLst>
          </p:cNvPr>
          <p:cNvGrpSpPr/>
          <p:nvPr/>
        </p:nvGrpSpPr>
        <p:grpSpPr>
          <a:xfrm>
            <a:off x="2354785" y="2571750"/>
            <a:ext cx="4218085" cy="1315327"/>
            <a:chOff x="2279629" y="1945511"/>
            <a:chExt cx="4218085" cy="1315327"/>
          </a:xfrm>
        </p:grpSpPr>
        <p:grpSp>
          <p:nvGrpSpPr>
            <p:cNvPr id="11" name="Grupa 10">
              <a:extLst>
                <a:ext uri="{FF2B5EF4-FFF2-40B4-BE49-F238E27FC236}">
                  <a16:creationId xmlns:a16="http://schemas.microsoft.com/office/drawing/2014/main" id="{821A3906-B8AB-8AD7-FA99-B0E6C9477B5E}"/>
                </a:ext>
              </a:extLst>
            </p:cNvPr>
            <p:cNvGrpSpPr/>
            <p:nvPr/>
          </p:nvGrpSpPr>
          <p:grpSpPr>
            <a:xfrm>
              <a:off x="2279629" y="2628826"/>
              <a:ext cx="4218085" cy="632012"/>
              <a:chOff x="2277413" y="1906687"/>
              <a:chExt cx="4218085" cy="632012"/>
            </a:xfrm>
          </p:grpSpPr>
          <p:pic>
            <p:nvPicPr>
              <p:cNvPr id="12" name="Grafika 11" descr="Mężczyzna kontur">
                <a:extLst>
                  <a:ext uri="{FF2B5EF4-FFF2-40B4-BE49-F238E27FC236}">
                    <a16:creationId xmlns:a16="http://schemas.microsoft.com/office/drawing/2014/main" id="{64227E83-98A3-F8D6-8039-9F7515E53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77413" y="1906687"/>
                <a:ext cx="632012" cy="632012"/>
              </a:xfrm>
              <a:prstGeom prst="rect">
                <a:avLst/>
              </a:prstGeom>
            </p:spPr>
          </p:pic>
          <p:pic>
            <p:nvPicPr>
              <p:cNvPr id="13" name="Grafika 12" descr="Mężczyzna kontur">
                <a:extLst>
                  <a:ext uri="{FF2B5EF4-FFF2-40B4-BE49-F238E27FC236}">
                    <a16:creationId xmlns:a16="http://schemas.microsoft.com/office/drawing/2014/main" id="{6CC5F754-4CF1-D994-7D29-5871F3276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63486" y="1906687"/>
                <a:ext cx="632012" cy="632012"/>
              </a:xfrm>
              <a:prstGeom prst="rect">
                <a:avLst/>
              </a:prstGeom>
            </p:spPr>
          </p:pic>
          <p:grpSp>
            <p:nvGrpSpPr>
              <p:cNvPr id="14" name="Grupa 13">
                <a:extLst>
                  <a:ext uri="{FF2B5EF4-FFF2-40B4-BE49-F238E27FC236}">
                    <a16:creationId xmlns:a16="http://schemas.microsoft.com/office/drawing/2014/main" id="{76279AEA-2BD4-107C-E8D9-11CC0C3CF24F}"/>
                  </a:ext>
                </a:extLst>
              </p:cNvPr>
              <p:cNvGrpSpPr/>
              <p:nvPr/>
            </p:nvGrpSpPr>
            <p:grpSpPr>
              <a:xfrm>
                <a:off x="4092766" y="1983806"/>
                <a:ext cx="586764" cy="483284"/>
                <a:chOff x="4114800" y="2027874"/>
                <a:chExt cx="586764" cy="48328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pole tekstowe 16">
                      <a:extLst>
                        <a:ext uri="{FF2B5EF4-FFF2-40B4-BE49-F238E27FC236}">
                          <a16:creationId xmlns:a16="http://schemas.microsoft.com/office/drawing/2014/main" id="{E190A58E-4EE8-4A8C-12D7-EB2A59A393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4800" y="2117912"/>
                      <a:ext cx="58676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l-P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pl-PL" b="0" i="1" baseline="-25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pl-PL" baseline="-25000"/>
                    </a:p>
                  </p:txBody>
                </p:sp>
              </mc:Choice>
              <mc:Fallback xmlns="">
                <p:sp>
                  <p:nvSpPr>
                    <p:cNvPr id="17" name="pole tekstowe 16">
                      <a:extLst>
                        <a:ext uri="{FF2B5EF4-FFF2-40B4-BE49-F238E27FC236}">
                          <a16:creationId xmlns:a16="http://schemas.microsoft.com/office/drawing/2014/main" id="{E190A58E-4EE8-4A8C-12D7-EB2A59A393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4800" y="2117912"/>
                      <a:ext cx="586764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l-P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Ramka 17">
                  <a:extLst>
                    <a:ext uri="{FF2B5EF4-FFF2-40B4-BE49-F238E27FC236}">
                      <a16:creationId xmlns:a16="http://schemas.microsoft.com/office/drawing/2014/main" id="{24C7AC46-AB3F-694C-EF4C-DD8E30D8375F}"/>
                    </a:ext>
                  </a:extLst>
                </p:cNvPr>
                <p:cNvSpPr/>
                <p:nvPr/>
              </p:nvSpPr>
              <p:spPr>
                <a:xfrm>
                  <a:off x="4164375" y="2027874"/>
                  <a:ext cx="483284" cy="483284"/>
                </a:xfrm>
                <a:prstGeom prst="frame">
                  <a:avLst>
                    <a:gd name="adj1" fmla="val 2041"/>
                  </a:avLst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5" name="Łącznik prosty ze strzałką 14">
                <a:extLst>
                  <a:ext uri="{FF2B5EF4-FFF2-40B4-BE49-F238E27FC236}">
                    <a16:creationId xmlns:a16="http://schemas.microsoft.com/office/drawing/2014/main" id="{2A9B13AE-0C4D-A9DF-F51C-45761488BBC3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 flipV="1">
                <a:off x="2909425" y="2205318"/>
                <a:ext cx="107868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Łącznik prosty ze strzałką 15">
                <a:extLst>
                  <a:ext uri="{FF2B5EF4-FFF2-40B4-BE49-F238E27FC236}">
                    <a16:creationId xmlns:a16="http://schemas.microsoft.com/office/drawing/2014/main" id="{AEA0AAFD-C35B-4DFE-4D78-526DD468B3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95822" y="2205318"/>
                <a:ext cx="1078681" cy="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20267973-8360-2C04-D738-7D19461663EF}"/>
                </a:ext>
              </a:extLst>
            </p:cNvPr>
            <p:cNvSpPr txBox="1"/>
            <p:nvPr/>
          </p:nvSpPr>
          <p:spPr>
            <a:xfrm>
              <a:off x="2437579" y="194551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i="1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</p:txBody>
        </p:sp>
        <p:sp>
          <p:nvSpPr>
            <p:cNvPr id="21" name="pole tekstowe 20">
              <a:extLst>
                <a:ext uri="{FF2B5EF4-FFF2-40B4-BE49-F238E27FC236}">
                  <a16:creationId xmlns:a16="http://schemas.microsoft.com/office/drawing/2014/main" id="{60278F97-062E-1184-84A0-B2F802C46F80}"/>
                </a:ext>
              </a:extLst>
            </p:cNvPr>
            <p:cNvSpPr txBox="1"/>
            <p:nvPr/>
          </p:nvSpPr>
          <p:spPr>
            <a:xfrm>
              <a:off x="6023652" y="1945511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i="1">
                  <a:latin typeface="Cambria Math" panose="02040503050406030204" pitchFamily="18" charset="0"/>
                  <a:ea typeface="Cambria Math" panose="02040503050406030204" pitchFamily="18" charset="0"/>
                </a:rPr>
                <a:t>S’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pole tekstowe 21">
                  <a:extLst>
                    <a:ext uri="{FF2B5EF4-FFF2-40B4-BE49-F238E27FC236}">
                      <a16:creationId xmlns:a16="http://schemas.microsoft.com/office/drawing/2014/main" id="{A2F0683F-2DDE-2460-562C-88EA1C7EBF44}"/>
                    </a:ext>
                  </a:extLst>
                </p:cNvPr>
                <p:cNvSpPr txBox="1"/>
                <p:nvPr/>
              </p:nvSpPr>
              <p:spPr>
                <a:xfrm>
                  <a:off x="3659656" y="1949835"/>
                  <a:ext cx="1453085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→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pl-PL" baseline="-25000"/>
                </a:p>
              </p:txBody>
            </p:sp>
          </mc:Choice>
          <mc:Fallback xmlns="">
            <p:sp>
              <p:nvSpPr>
                <p:cNvPr id="22" name="pole tekstowe 21">
                  <a:extLst>
                    <a:ext uri="{FF2B5EF4-FFF2-40B4-BE49-F238E27FC236}">
                      <a16:creationId xmlns:a16="http://schemas.microsoft.com/office/drawing/2014/main" id="{A2F0683F-2DDE-2460-562C-88EA1C7EB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9656" y="1949835"/>
                  <a:ext cx="1453085" cy="362984"/>
                </a:xfrm>
                <a:prstGeom prst="rect">
                  <a:avLst/>
                </a:prstGeom>
                <a:blipFill>
                  <a:blip r:embed="rId7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96335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CAF518-A5D2-9310-9A38-0DA5CC84FE12}"/>
              </a:ext>
            </a:extLst>
          </p:cNvPr>
          <p:cNvSpPr txBox="1">
            <a:spLocks/>
          </p:cNvSpPr>
          <p:nvPr/>
        </p:nvSpPr>
        <p:spPr>
          <a:xfrm>
            <a:off x="305972" y="177843"/>
            <a:ext cx="8532055" cy="857250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 b="1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9pPr>
          </a:lstStyle>
          <a:p>
            <a:pPr defTabSz="914400"/>
            <a:r>
              <a:rPr lang="pl-PL"/>
              <a:t>This requires the right architecture</a:t>
            </a:r>
          </a:p>
        </p:txBody>
      </p:sp>
      <p:pic>
        <p:nvPicPr>
          <p:cNvPr id="4" name="Grafika 3" descr="Baza danych kontur">
            <a:extLst>
              <a:ext uri="{FF2B5EF4-FFF2-40B4-BE49-F238E27FC236}">
                <a16:creationId xmlns:a16="http://schemas.microsoft.com/office/drawing/2014/main" id="{57C88D7F-9918-3ACF-C00C-E9451B3E9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3177" y="2067657"/>
            <a:ext cx="914400" cy="914400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87CD9449-B50D-7EFE-E446-A1CD003E8E0A}"/>
              </a:ext>
            </a:extLst>
          </p:cNvPr>
          <p:cNvSpPr txBox="1"/>
          <p:nvPr/>
        </p:nvSpPr>
        <p:spPr>
          <a:xfrm>
            <a:off x="1710618" y="3070191"/>
            <a:ext cx="1279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200">
                <a:latin typeface="+mn-lt"/>
              </a:rPr>
              <a:t>Transactions</a:t>
            </a:r>
          </a:p>
          <a:p>
            <a:pPr algn="ctr"/>
            <a:r>
              <a:rPr lang="pl-PL" sz="1200">
                <a:latin typeface="+mn-lt"/>
              </a:rPr>
              <a:t>Communications</a:t>
            </a:r>
            <a:br>
              <a:rPr lang="pl-PL" sz="1200">
                <a:latin typeface="+mn-lt"/>
              </a:rPr>
            </a:br>
            <a:r>
              <a:rPr lang="pl-PL" sz="1200">
                <a:latin typeface="+mn-lt"/>
              </a:rPr>
              <a:t>External data…</a:t>
            </a: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7C71756A-82CA-B8DB-6254-FCEF2F094C70}"/>
              </a:ext>
            </a:extLst>
          </p:cNvPr>
          <p:cNvGrpSpPr/>
          <p:nvPr/>
        </p:nvGrpSpPr>
        <p:grpSpPr>
          <a:xfrm>
            <a:off x="3014577" y="2283215"/>
            <a:ext cx="2965078" cy="483284"/>
            <a:chOff x="2909425" y="1983806"/>
            <a:chExt cx="2965078" cy="483284"/>
          </a:xfrm>
        </p:grpSpPr>
        <p:grpSp>
          <p:nvGrpSpPr>
            <p:cNvPr id="10" name="Grupa 9">
              <a:extLst>
                <a:ext uri="{FF2B5EF4-FFF2-40B4-BE49-F238E27FC236}">
                  <a16:creationId xmlns:a16="http://schemas.microsoft.com/office/drawing/2014/main" id="{413520F8-5A2B-661C-81E7-BAD8DC98AEE0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pole tekstowe 13">
                    <a:extLst>
                      <a:ext uri="{FF2B5EF4-FFF2-40B4-BE49-F238E27FC236}">
                        <a16:creationId xmlns:a16="http://schemas.microsoft.com/office/drawing/2014/main" id="{F5937F6E-22B8-0C31-9633-FDCB174DC61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14" name="pole tekstowe 13">
                    <a:extLst>
                      <a:ext uri="{FF2B5EF4-FFF2-40B4-BE49-F238E27FC236}">
                        <a16:creationId xmlns:a16="http://schemas.microsoft.com/office/drawing/2014/main" id="{F5937F6E-22B8-0C31-9633-FDCB174DC6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043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Ramka 15">
                <a:extLst>
                  <a:ext uri="{FF2B5EF4-FFF2-40B4-BE49-F238E27FC236}">
                    <a16:creationId xmlns:a16="http://schemas.microsoft.com/office/drawing/2014/main" id="{53290BD4-735A-9009-2A5E-1F705AB5EBFD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Łącznik prosty ze strzałką 11">
              <a:extLst>
                <a:ext uri="{FF2B5EF4-FFF2-40B4-BE49-F238E27FC236}">
                  <a16:creationId xmlns:a16="http://schemas.microsoft.com/office/drawing/2014/main" id="{C94B30C8-F347-2433-6C84-5FB6B55AC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ze strzałką 12">
              <a:extLst>
                <a:ext uri="{FF2B5EF4-FFF2-40B4-BE49-F238E27FC236}">
                  <a16:creationId xmlns:a16="http://schemas.microsoft.com/office/drawing/2014/main" id="{763ECD74-5707-24AF-6D9B-10BA06E1D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Grafika 18" descr="Telefon kontur">
            <a:extLst>
              <a:ext uri="{FF2B5EF4-FFF2-40B4-BE49-F238E27FC236}">
                <a16:creationId xmlns:a16="http://schemas.microsoft.com/office/drawing/2014/main" id="{7EBB99B7-3B2A-6B6C-E06A-2DFB3CFE94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1199" y="2047527"/>
            <a:ext cx="914400" cy="914400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457467C0-3A1C-81DB-6FFF-A16EE5E2F3C3}"/>
              </a:ext>
            </a:extLst>
          </p:cNvPr>
          <p:cNvSpPr txBox="1"/>
          <p:nvPr/>
        </p:nvSpPr>
        <p:spPr>
          <a:xfrm>
            <a:off x="6003780" y="3162523"/>
            <a:ext cx="1209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200">
                <a:latin typeface="+mn-lt"/>
              </a:rPr>
              <a:t>Implementation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DE81B8D-48C2-2AE0-E277-46D86AF1594B}"/>
              </a:ext>
            </a:extLst>
          </p:cNvPr>
          <p:cNvSpPr txBox="1"/>
          <p:nvPr/>
        </p:nvSpPr>
        <p:spPr>
          <a:xfrm>
            <a:off x="3583792" y="3039133"/>
            <a:ext cx="1810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200">
                <a:latin typeface="+mn-lt"/>
              </a:rPr>
              <a:t>Recommendation engine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EF243F17-F0C8-554E-4848-5ADC7F0D56A0}"/>
              </a:ext>
            </a:extLst>
          </p:cNvPr>
          <p:cNvSpPr txBox="1"/>
          <p:nvPr/>
        </p:nvSpPr>
        <p:spPr>
          <a:xfrm>
            <a:off x="3273882" y="2234753"/>
            <a:ext cx="528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200">
                <a:latin typeface="+mn-lt"/>
              </a:rPr>
              <a:t>State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FC28344C-378D-E855-B703-B8F8A941252E}"/>
              </a:ext>
            </a:extLst>
          </p:cNvPr>
          <p:cNvSpPr txBox="1"/>
          <p:nvPr/>
        </p:nvSpPr>
        <p:spPr>
          <a:xfrm>
            <a:off x="5148217" y="2195120"/>
            <a:ext cx="584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200">
                <a:latin typeface="+mn-lt"/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101476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A0E595A5-240D-03EE-580B-03D53FC60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OK. But how to check if it really works?</a:t>
            </a:r>
          </a:p>
        </p:txBody>
      </p:sp>
      <p:sp>
        <p:nvSpPr>
          <p:cNvPr id="2" name="Podtytuł 1">
            <a:extLst>
              <a:ext uri="{FF2B5EF4-FFF2-40B4-BE49-F238E27FC236}">
                <a16:creationId xmlns:a16="http://schemas.microsoft.com/office/drawing/2014/main" id="{C9E98507-92BB-4B4B-5862-73F89E96B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We need experiments</a:t>
            </a:r>
          </a:p>
        </p:txBody>
      </p:sp>
    </p:spTree>
    <p:extLst>
      <p:ext uri="{BB962C8B-B14F-4D97-AF65-F5344CB8AC3E}">
        <p14:creationId xmlns:p14="http://schemas.microsoft.com/office/powerpoint/2010/main" val="1744221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A0E595A5-240D-03EE-580B-03D53FC6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962"/>
            <a:ext cx="8229600" cy="857250"/>
          </a:xfrm>
        </p:spPr>
        <p:txBody>
          <a:bodyPr/>
          <a:lstStyle/>
          <a:p>
            <a:r>
              <a:rPr lang="pl-PL"/>
              <a:t>How to check if the </a:t>
            </a:r>
            <a:r>
              <a:rPr lang="pl-PL" i="1"/>
              <a:t>change is </a:t>
            </a:r>
            <a:r>
              <a:rPr lang="pl-PL"/>
              <a:t>REALLY </a:t>
            </a:r>
            <a:r>
              <a:rPr lang="pl-PL" i="1"/>
              <a:t>for good</a:t>
            </a:r>
            <a:r>
              <a:rPr lang="pl-PL"/>
              <a:t>?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15995497-18D3-6BB1-A130-C562DA59A3E0}"/>
              </a:ext>
            </a:extLst>
          </p:cNvPr>
          <p:cNvSpPr txBox="1"/>
          <p:nvPr/>
        </p:nvSpPr>
        <p:spPr>
          <a:xfrm>
            <a:off x="5897295" y="2058454"/>
            <a:ext cx="2366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>
                <a:solidFill>
                  <a:srgbClr val="0070C0"/>
                </a:solidFill>
                <a:latin typeface="+mn-lt"/>
              </a:rPr>
              <a:t>The ”old way” of doing things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AB23C6D2-B923-DA6F-6CE2-9A4BB9FF5631}"/>
              </a:ext>
            </a:extLst>
          </p:cNvPr>
          <p:cNvSpPr txBox="1"/>
          <p:nvPr/>
        </p:nvSpPr>
        <p:spPr>
          <a:xfrm>
            <a:off x="5842294" y="3600808"/>
            <a:ext cx="2442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>
                <a:solidFill>
                  <a:srgbClr val="C00000"/>
                </a:solidFill>
                <a:latin typeface="+mn-lt"/>
              </a:rPr>
              <a:t>The ”new way” of doing things</a:t>
            </a:r>
          </a:p>
        </p:txBody>
      </p:sp>
      <p:pic>
        <p:nvPicPr>
          <p:cNvPr id="48" name="Obraz 47">
            <a:extLst>
              <a:ext uri="{FF2B5EF4-FFF2-40B4-BE49-F238E27FC236}">
                <a16:creationId xmlns:a16="http://schemas.microsoft.com/office/drawing/2014/main" id="{119B1191-2A67-9559-64A8-BF704F0B5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99" y="1840825"/>
            <a:ext cx="3226182" cy="1038265"/>
          </a:xfrm>
          <a:prstGeom prst="rect">
            <a:avLst/>
          </a:prstGeom>
        </p:spPr>
      </p:pic>
      <p:pic>
        <p:nvPicPr>
          <p:cNvPr id="50" name="Obraz 49">
            <a:extLst>
              <a:ext uri="{FF2B5EF4-FFF2-40B4-BE49-F238E27FC236}">
                <a16:creationId xmlns:a16="http://schemas.microsoft.com/office/drawing/2014/main" id="{A4803D93-B965-0F1E-00B5-990CD6A74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812" y="3488513"/>
            <a:ext cx="3086169" cy="92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5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60325"/>
            <a:ext cx="8229600" cy="857250"/>
          </a:xfrm>
        </p:spPr>
        <p:txBody>
          <a:bodyPr/>
          <a:lstStyle/>
          <a:p>
            <a:r>
              <a:rPr lang="pl-PL"/>
              <a:t>First, we need to define </a:t>
            </a:r>
            <a:r>
              <a:rPr lang="pl-PL" i="1"/>
              <a:t>the success…</a:t>
            </a:r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18278DC-8EB1-3A0D-1E6F-D5039CABE4A5}"/>
              </a:ext>
            </a:extLst>
          </p:cNvPr>
          <p:cNvSpPr txBox="1"/>
          <p:nvPr/>
        </p:nvSpPr>
        <p:spPr>
          <a:xfrm>
            <a:off x="3261671" y="2243330"/>
            <a:ext cx="37810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>
                <a:latin typeface="Franklin Gothic Book" panose="020B0503020102020204" pitchFamily="34" charset="0"/>
              </a:rPr>
              <a:t>Average CTR (Click-Through Ratio)?</a:t>
            </a:r>
          </a:p>
          <a:p>
            <a:r>
              <a:rPr lang="pl-PL" sz="1600">
                <a:latin typeface="Franklin Gothic Book" panose="020B0503020102020204" pitchFamily="34" charset="0"/>
              </a:rPr>
              <a:t>Average CR (Convertion Rate)?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600">
                <a:latin typeface="Franklin Gothic Book" panose="020B0503020102020204" pitchFamily="34" charset="0"/>
              </a:rPr>
              <a:t>Average profit per customer?</a:t>
            </a:r>
          </a:p>
          <a:p>
            <a:r>
              <a:rPr lang="pl-PL" sz="1600">
                <a:latin typeface="Franklin Gothic Book" panose="020B0503020102020204" pitchFamily="34" charset="0"/>
              </a:rPr>
              <a:t>Average revenue per customer?</a:t>
            </a:r>
          </a:p>
          <a:p>
            <a:endParaRPr lang="pl-PL" sz="1600">
              <a:latin typeface="Franklin Gothic Book" panose="020B0503020102020204" pitchFamily="34" charset="0"/>
            </a:endParaRPr>
          </a:p>
          <a:p>
            <a:r>
              <a:rPr lang="pl-PL" sz="1600">
                <a:latin typeface="Franklin Gothic Book" panose="020B05030201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52129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E0A54D-D63B-9A79-0F58-8F76FBE4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Next, design, run, and evaluate the experiment</a:t>
            </a:r>
          </a:p>
        </p:txBody>
      </p:sp>
      <p:pic>
        <p:nvPicPr>
          <p:cNvPr id="3" name="Grafika 2" descr="Mężczyzna kontur">
            <a:extLst>
              <a:ext uri="{FF2B5EF4-FFF2-40B4-BE49-F238E27FC236}">
                <a16:creationId xmlns:a16="http://schemas.microsoft.com/office/drawing/2014/main" id="{4035946B-DF94-4B9F-2C54-BE8E92112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4779" y="2239620"/>
            <a:ext cx="135617" cy="135617"/>
          </a:xfrm>
          <a:prstGeom prst="rect">
            <a:avLst/>
          </a:prstGeom>
        </p:spPr>
      </p:pic>
      <p:pic>
        <p:nvPicPr>
          <p:cNvPr id="4" name="Grafika 3" descr="Mężczyzna kontur">
            <a:extLst>
              <a:ext uri="{FF2B5EF4-FFF2-40B4-BE49-F238E27FC236}">
                <a16:creationId xmlns:a16="http://schemas.microsoft.com/office/drawing/2014/main" id="{DCEDF4D7-B15C-1FF0-572B-07CBFAD71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1139" y="2171811"/>
            <a:ext cx="135617" cy="135617"/>
          </a:xfrm>
          <a:prstGeom prst="rect">
            <a:avLst/>
          </a:prstGeom>
        </p:spPr>
      </p:pic>
      <p:pic>
        <p:nvPicPr>
          <p:cNvPr id="5" name="Grafika 4" descr="Mężczyzna kontur">
            <a:extLst>
              <a:ext uri="{FF2B5EF4-FFF2-40B4-BE49-F238E27FC236}">
                <a16:creationId xmlns:a16="http://schemas.microsoft.com/office/drawing/2014/main" id="{5E9020A0-DEAD-BABA-04DF-2BA43D42B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312" y="2375237"/>
            <a:ext cx="135617" cy="135617"/>
          </a:xfrm>
          <a:prstGeom prst="rect">
            <a:avLst/>
          </a:prstGeom>
        </p:spPr>
      </p:pic>
      <p:pic>
        <p:nvPicPr>
          <p:cNvPr id="6" name="Grafika 5" descr="Mężczyzna kontur">
            <a:extLst>
              <a:ext uri="{FF2B5EF4-FFF2-40B4-BE49-F238E27FC236}">
                <a16:creationId xmlns:a16="http://schemas.microsoft.com/office/drawing/2014/main" id="{1280EDE3-38D3-EB1F-1540-93C634531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333" y="2425260"/>
            <a:ext cx="135617" cy="135617"/>
          </a:xfrm>
          <a:prstGeom prst="rect">
            <a:avLst/>
          </a:prstGeom>
        </p:spPr>
      </p:pic>
      <p:pic>
        <p:nvPicPr>
          <p:cNvPr id="8" name="Grafika 7" descr="Mężczyzna kontur">
            <a:extLst>
              <a:ext uri="{FF2B5EF4-FFF2-40B4-BE49-F238E27FC236}">
                <a16:creationId xmlns:a16="http://schemas.microsoft.com/office/drawing/2014/main" id="{BE99058B-D9C3-83B4-345B-7CACA9E94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2722" y="2391356"/>
            <a:ext cx="135617" cy="135617"/>
          </a:xfrm>
          <a:prstGeom prst="rect">
            <a:avLst/>
          </a:prstGeom>
        </p:spPr>
      </p:pic>
      <p:pic>
        <p:nvPicPr>
          <p:cNvPr id="9" name="Grafika 8" descr="Mężczyzna kontur">
            <a:extLst>
              <a:ext uri="{FF2B5EF4-FFF2-40B4-BE49-F238E27FC236}">
                <a16:creationId xmlns:a16="http://schemas.microsoft.com/office/drawing/2014/main" id="{EC0571F8-F6DC-6434-3579-E1A5DC980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0723" y="2585404"/>
            <a:ext cx="135617" cy="135617"/>
          </a:xfrm>
          <a:prstGeom prst="rect">
            <a:avLst/>
          </a:prstGeom>
        </p:spPr>
      </p:pic>
      <p:pic>
        <p:nvPicPr>
          <p:cNvPr id="10" name="Grafika 9" descr="Mężczyzna kontur">
            <a:extLst>
              <a:ext uri="{FF2B5EF4-FFF2-40B4-BE49-F238E27FC236}">
                <a16:creationId xmlns:a16="http://schemas.microsoft.com/office/drawing/2014/main" id="{8969F4A6-9C26-F71A-79DB-644A06D86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8195" y="2034715"/>
            <a:ext cx="135617" cy="135617"/>
          </a:xfrm>
          <a:prstGeom prst="rect">
            <a:avLst/>
          </a:prstGeom>
        </p:spPr>
      </p:pic>
      <p:pic>
        <p:nvPicPr>
          <p:cNvPr id="11" name="Grafika 10" descr="Mężczyzna kontur">
            <a:extLst>
              <a:ext uri="{FF2B5EF4-FFF2-40B4-BE49-F238E27FC236}">
                <a16:creationId xmlns:a16="http://schemas.microsoft.com/office/drawing/2014/main" id="{A79BA21F-80BA-9501-1C30-91E625AA4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4880" y="1891038"/>
            <a:ext cx="135617" cy="135617"/>
          </a:xfrm>
          <a:prstGeom prst="rect">
            <a:avLst/>
          </a:prstGeom>
        </p:spPr>
      </p:pic>
      <p:pic>
        <p:nvPicPr>
          <p:cNvPr id="14" name="Grafika 13" descr="Mężczyzna kontur">
            <a:extLst>
              <a:ext uri="{FF2B5EF4-FFF2-40B4-BE49-F238E27FC236}">
                <a16:creationId xmlns:a16="http://schemas.microsoft.com/office/drawing/2014/main" id="{A2CFB77A-1149-273B-ADDE-1D30AF615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8739" y="2062039"/>
            <a:ext cx="135617" cy="135617"/>
          </a:xfrm>
          <a:prstGeom prst="rect">
            <a:avLst/>
          </a:prstGeom>
        </p:spPr>
      </p:pic>
      <p:pic>
        <p:nvPicPr>
          <p:cNvPr id="15" name="Grafika 14" descr="Mężczyzna kontur">
            <a:extLst>
              <a:ext uri="{FF2B5EF4-FFF2-40B4-BE49-F238E27FC236}">
                <a16:creationId xmlns:a16="http://schemas.microsoft.com/office/drawing/2014/main" id="{2D25F512-5A42-D877-3A7D-4EAABEBCF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4900" y="1899098"/>
            <a:ext cx="135617" cy="135617"/>
          </a:xfrm>
          <a:prstGeom prst="rect">
            <a:avLst/>
          </a:prstGeom>
        </p:spPr>
      </p:pic>
      <p:pic>
        <p:nvPicPr>
          <p:cNvPr id="16" name="Grafika 15" descr="Mężczyzna kontur">
            <a:extLst>
              <a:ext uri="{FF2B5EF4-FFF2-40B4-BE49-F238E27FC236}">
                <a16:creationId xmlns:a16="http://schemas.microsoft.com/office/drawing/2014/main" id="{06690DFB-2897-5146-3237-CE5AF18B8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3070" y="2094464"/>
            <a:ext cx="135617" cy="135617"/>
          </a:xfrm>
          <a:prstGeom prst="rect">
            <a:avLst/>
          </a:prstGeom>
        </p:spPr>
      </p:pic>
      <p:pic>
        <p:nvPicPr>
          <p:cNvPr id="17" name="Grafika 16" descr="Mężczyzna kontur">
            <a:extLst>
              <a:ext uri="{FF2B5EF4-FFF2-40B4-BE49-F238E27FC236}">
                <a16:creationId xmlns:a16="http://schemas.microsoft.com/office/drawing/2014/main" id="{02712B63-E89F-9F17-1C34-1696BB256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8739" y="2600177"/>
            <a:ext cx="135617" cy="135617"/>
          </a:xfrm>
          <a:prstGeom prst="rect">
            <a:avLst/>
          </a:prstGeom>
        </p:spPr>
      </p:pic>
      <p:pic>
        <p:nvPicPr>
          <p:cNvPr id="18" name="Grafika 17" descr="Mężczyzna kontur">
            <a:extLst>
              <a:ext uri="{FF2B5EF4-FFF2-40B4-BE49-F238E27FC236}">
                <a16:creationId xmlns:a16="http://schemas.microsoft.com/office/drawing/2014/main" id="{81787CE5-A14E-E9F2-0834-2016FD1F3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141" y="2620439"/>
            <a:ext cx="135617" cy="135617"/>
          </a:xfrm>
          <a:prstGeom prst="rect">
            <a:avLst/>
          </a:prstGeom>
        </p:spPr>
      </p:pic>
      <p:pic>
        <p:nvPicPr>
          <p:cNvPr id="19" name="Grafika 18" descr="Mężczyzna kontur">
            <a:extLst>
              <a:ext uri="{FF2B5EF4-FFF2-40B4-BE49-F238E27FC236}">
                <a16:creationId xmlns:a16="http://schemas.microsoft.com/office/drawing/2014/main" id="{5AF885A0-2B6E-0721-2D6D-360279D6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3828" y="3127800"/>
            <a:ext cx="135617" cy="135617"/>
          </a:xfrm>
          <a:prstGeom prst="rect">
            <a:avLst/>
          </a:prstGeom>
        </p:spPr>
      </p:pic>
      <p:pic>
        <p:nvPicPr>
          <p:cNvPr id="20" name="Grafika 19" descr="Mężczyzna kontur">
            <a:extLst>
              <a:ext uri="{FF2B5EF4-FFF2-40B4-BE49-F238E27FC236}">
                <a16:creationId xmlns:a16="http://schemas.microsoft.com/office/drawing/2014/main" id="{191DD9EB-0043-2645-94EE-24E567F89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0188" y="3059991"/>
            <a:ext cx="135617" cy="135617"/>
          </a:xfrm>
          <a:prstGeom prst="rect">
            <a:avLst/>
          </a:prstGeom>
        </p:spPr>
      </p:pic>
      <p:pic>
        <p:nvPicPr>
          <p:cNvPr id="21" name="Grafika 20" descr="Mężczyzna kontur">
            <a:extLst>
              <a:ext uri="{FF2B5EF4-FFF2-40B4-BE49-F238E27FC236}">
                <a16:creationId xmlns:a16="http://schemas.microsoft.com/office/drawing/2014/main" id="{378A63DF-3A3F-1779-253F-59E5E1889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7361" y="3263417"/>
            <a:ext cx="135617" cy="135617"/>
          </a:xfrm>
          <a:prstGeom prst="rect">
            <a:avLst/>
          </a:prstGeom>
        </p:spPr>
      </p:pic>
      <p:pic>
        <p:nvPicPr>
          <p:cNvPr id="22" name="Grafika 21" descr="Mężczyzna kontur">
            <a:extLst>
              <a:ext uri="{FF2B5EF4-FFF2-40B4-BE49-F238E27FC236}">
                <a16:creationId xmlns:a16="http://schemas.microsoft.com/office/drawing/2014/main" id="{C3CE58E7-C130-70F5-FD05-DE20E2899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0382" y="3313440"/>
            <a:ext cx="135617" cy="135617"/>
          </a:xfrm>
          <a:prstGeom prst="rect">
            <a:avLst/>
          </a:prstGeom>
        </p:spPr>
      </p:pic>
      <p:pic>
        <p:nvPicPr>
          <p:cNvPr id="23" name="Grafika 22" descr="Mężczyzna kontur">
            <a:extLst>
              <a:ext uri="{FF2B5EF4-FFF2-40B4-BE49-F238E27FC236}">
                <a16:creationId xmlns:a16="http://schemas.microsoft.com/office/drawing/2014/main" id="{160798F7-665A-3D13-3312-E99C0DC0E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1771" y="3279536"/>
            <a:ext cx="135617" cy="135617"/>
          </a:xfrm>
          <a:prstGeom prst="rect">
            <a:avLst/>
          </a:prstGeom>
        </p:spPr>
      </p:pic>
      <p:pic>
        <p:nvPicPr>
          <p:cNvPr id="24" name="Grafika 23" descr="Mężczyzna kontur">
            <a:extLst>
              <a:ext uri="{FF2B5EF4-FFF2-40B4-BE49-F238E27FC236}">
                <a16:creationId xmlns:a16="http://schemas.microsoft.com/office/drawing/2014/main" id="{77B2C076-F53C-A3EF-B17A-FFD879685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9772" y="3473584"/>
            <a:ext cx="135617" cy="135617"/>
          </a:xfrm>
          <a:prstGeom prst="rect">
            <a:avLst/>
          </a:prstGeom>
        </p:spPr>
      </p:pic>
      <p:pic>
        <p:nvPicPr>
          <p:cNvPr id="25" name="Grafika 24" descr="Mężczyzna kontur">
            <a:extLst>
              <a:ext uri="{FF2B5EF4-FFF2-40B4-BE49-F238E27FC236}">
                <a16:creationId xmlns:a16="http://schemas.microsoft.com/office/drawing/2014/main" id="{1A466A57-8702-D0BA-91B8-9F3484B78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7244" y="2922895"/>
            <a:ext cx="135617" cy="135617"/>
          </a:xfrm>
          <a:prstGeom prst="rect">
            <a:avLst/>
          </a:prstGeom>
        </p:spPr>
      </p:pic>
      <p:pic>
        <p:nvPicPr>
          <p:cNvPr id="26" name="Grafika 25" descr="Mężczyzna kontur">
            <a:extLst>
              <a:ext uri="{FF2B5EF4-FFF2-40B4-BE49-F238E27FC236}">
                <a16:creationId xmlns:a16="http://schemas.microsoft.com/office/drawing/2014/main" id="{11F1D79E-0E6D-6B40-4337-F542CF765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3929" y="2779218"/>
            <a:ext cx="135617" cy="135617"/>
          </a:xfrm>
          <a:prstGeom prst="rect">
            <a:avLst/>
          </a:prstGeom>
        </p:spPr>
      </p:pic>
      <p:pic>
        <p:nvPicPr>
          <p:cNvPr id="27" name="Grafika 26" descr="Mężczyzna kontur">
            <a:extLst>
              <a:ext uri="{FF2B5EF4-FFF2-40B4-BE49-F238E27FC236}">
                <a16:creationId xmlns:a16="http://schemas.microsoft.com/office/drawing/2014/main" id="{F8ED078B-01BC-DA1D-4A59-C46095B9C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788" y="2950219"/>
            <a:ext cx="135617" cy="135617"/>
          </a:xfrm>
          <a:prstGeom prst="rect">
            <a:avLst/>
          </a:prstGeom>
        </p:spPr>
      </p:pic>
      <p:pic>
        <p:nvPicPr>
          <p:cNvPr id="28" name="Grafika 27" descr="Mężczyzna kontur">
            <a:extLst>
              <a:ext uri="{FF2B5EF4-FFF2-40B4-BE49-F238E27FC236}">
                <a16:creationId xmlns:a16="http://schemas.microsoft.com/office/drawing/2014/main" id="{6E8F29C7-2F0A-B7E3-98C0-969148E6E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949" y="2787278"/>
            <a:ext cx="135617" cy="135617"/>
          </a:xfrm>
          <a:prstGeom prst="rect">
            <a:avLst/>
          </a:prstGeom>
        </p:spPr>
      </p:pic>
      <p:pic>
        <p:nvPicPr>
          <p:cNvPr id="29" name="Grafika 28" descr="Mężczyzna kontur">
            <a:extLst>
              <a:ext uri="{FF2B5EF4-FFF2-40B4-BE49-F238E27FC236}">
                <a16:creationId xmlns:a16="http://schemas.microsoft.com/office/drawing/2014/main" id="{0EBBCAB2-D240-4666-985B-926CEED29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2119" y="2982644"/>
            <a:ext cx="135617" cy="135617"/>
          </a:xfrm>
          <a:prstGeom prst="rect">
            <a:avLst/>
          </a:prstGeom>
        </p:spPr>
      </p:pic>
      <p:pic>
        <p:nvPicPr>
          <p:cNvPr id="30" name="Grafika 29" descr="Mężczyzna kontur">
            <a:extLst>
              <a:ext uri="{FF2B5EF4-FFF2-40B4-BE49-F238E27FC236}">
                <a16:creationId xmlns:a16="http://schemas.microsoft.com/office/drawing/2014/main" id="{532E65E9-B6BD-E724-36A5-DBF5B6413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788" y="3488357"/>
            <a:ext cx="135617" cy="135617"/>
          </a:xfrm>
          <a:prstGeom prst="rect">
            <a:avLst/>
          </a:prstGeom>
        </p:spPr>
      </p:pic>
      <p:pic>
        <p:nvPicPr>
          <p:cNvPr id="31" name="Grafika 30" descr="Mężczyzna kontur">
            <a:extLst>
              <a:ext uri="{FF2B5EF4-FFF2-40B4-BE49-F238E27FC236}">
                <a16:creationId xmlns:a16="http://schemas.microsoft.com/office/drawing/2014/main" id="{E299CAC9-1474-A95F-6AD1-AAAE19A74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7190" y="3508619"/>
            <a:ext cx="135617" cy="135617"/>
          </a:xfrm>
          <a:prstGeom prst="rect">
            <a:avLst/>
          </a:prstGeom>
        </p:spPr>
      </p:pic>
      <p:pic>
        <p:nvPicPr>
          <p:cNvPr id="32" name="Grafika 31" descr="Mężczyzna kontur">
            <a:extLst>
              <a:ext uri="{FF2B5EF4-FFF2-40B4-BE49-F238E27FC236}">
                <a16:creationId xmlns:a16="http://schemas.microsoft.com/office/drawing/2014/main" id="{49724CF4-7804-0E09-1BA9-218A9AB2F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8040" y="4005590"/>
            <a:ext cx="135617" cy="135617"/>
          </a:xfrm>
          <a:prstGeom prst="rect">
            <a:avLst/>
          </a:prstGeom>
        </p:spPr>
      </p:pic>
      <p:pic>
        <p:nvPicPr>
          <p:cNvPr id="33" name="Grafika 32" descr="Mężczyzna kontur">
            <a:extLst>
              <a:ext uri="{FF2B5EF4-FFF2-40B4-BE49-F238E27FC236}">
                <a16:creationId xmlns:a16="http://schemas.microsoft.com/office/drawing/2014/main" id="{D7B4B68A-4EFA-C598-1022-63BF9F9F3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4400" y="3937781"/>
            <a:ext cx="135617" cy="135617"/>
          </a:xfrm>
          <a:prstGeom prst="rect">
            <a:avLst/>
          </a:prstGeom>
        </p:spPr>
      </p:pic>
      <p:pic>
        <p:nvPicPr>
          <p:cNvPr id="34" name="Grafika 33" descr="Mężczyzna kontur">
            <a:extLst>
              <a:ext uri="{FF2B5EF4-FFF2-40B4-BE49-F238E27FC236}">
                <a16:creationId xmlns:a16="http://schemas.microsoft.com/office/drawing/2014/main" id="{4CE64E03-68AB-3810-023A-A2C01F610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573" y="4141207"/>
            <a:ext cx="135617" cy="135617"/>
          </a:xfrm>
          <a:prstGeom prst="rect">
            <a:avLst/>
          </a:prstGeom>
        </p:spPr>
      </p:pic>
      <p:pic>
        <p:nvPicPr>
          <p:cNvPr id="35" name="Grafika 34" descr="Mężczyzna kontur">
            <a:extLst>
              <a:ext uri="{FF2B5EF4-FFF2-40B4-BE49-F238E27FC236}">
                <a16:creationId xmlns:a16="http://schemas.microsoft.com/office/drawing/2014/main" id="{D6E2B880-228A-5B0B-2310-FC26F2AC3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4594" y="4191230"/>
            <a:ext cx="135617" cy="135617"/>
          </a:xfrm>
          <a:prstGeom prst="rect">
            <a:avLst/>
          </a:prstGeom>
        </p:spPr>
      </p:pic>
      <p:pic>
        <p:nvPicPr>
          <p:cNvPr id="36" name="Grafika 35" descr="Mężczyzna kontur">
            <a:extLst>
              <a:ext uri="{FF2B5EF4-FFF2-40B4-BE49-F238E27FC236}">
                <a16:creationId xmlns:a16="http://schemas.microsoft.com/office/drawing/2014/main" id="{2C8289F8-777F-ACE4-7C97-A8F7F45BB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5983" y="4157326"/>
            <a:ext cx="135617" cy="135617"/>
          </a:xfrm>
          <a:prstGeom prst="rect">
            <a:avLst/>
          </a:prstGeom>
        </p:spPr>
      </p:pic>
      <p:pic>
        <p:nvPicPr>
          <p:cNvPr id="37" name="Grafika 36" descr="Mężczyzna kontur">
            <a:extLst>
              <a:ext uri="{FF2B5EF4-FFF2-40B4-BE49-F238E27FC236}">
                <a16:creationId xmlns:a16="http://schemas.microsoft.com/office/drawing/2014/main" id="{7F8D906D-7942-F123-FF7C-3C2F14C35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3984" y="4351374"/>
            <a:ext cx="135617" cy="135617"/>
          </a:xfrm>
          <a:prstGeom prst="rect">
            <a:avLst/>
          </a:prstGeom>
        </p:spPr>
      </p:pic>
      <p:pic>
        <p:nvPicPr>
          <p:cNvPr id="38" name="Grafika 37" descr="Mężczyzna kontur">
            <a:extLst>
              <a:ext uri="{FF2B5EF4-FFF2-40B4-BE49-F238E27FC236}">
                <a16:creationId xmlns:a16="http://schemas.microsoft.com/office/drawing/2014/main" id="{64FCEA94-3CAB-878F-E997-2579A5BF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456" y="3800685"/>
            <a:ext cx="135617" cy="135617"/>
          </a:xfrm>
          <a:prstGeom prst="rect">
            <a:avLst/>
          </a:prstGeom>
        </p:spPr>
      </p:pic>
      <p:pic>
        <p:nvPicPr>
          <p:cNvPr id="39" name="Grafika 38" descr="Mężczyzna kontur">
            <a:extLst>
              <a:ext uri="{FF2B5EF4-FFF2-40B4-BE49-F238E27FC236}">
                <a16:creationId xmlns:a16="http://schemas.microsoft.com/office/drawing/2014/main" id="{BC46E04B-CFD8-50ED-1498-00AC5D81B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8141" y="3657008"/>
            <a:ext cx="135617" cy="135617"/>
          </a:xfrm>
          <a:prstGeom prst="rect">
            <a:avLst/>
          </a:prstGeom>
        </p:spPr>
      </p:pic>
      <p:pic>
        <p:nvPicPr>
          <p:cNvPr id="40" name="Grafika 39" descr="Mężczyzna kontur">
            <a:extLst>
              <a:ext uri="{FF2B5EF4-FFF2-40B4-BE49-F238E27FC236}">
                <a16:creationId xmlns:a16="http://schemas.microsoft.com/office/drawing/2014/main" id="{18D23BD0-1C4A-36C8-3B9F-DE854C553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2000" y="3828009"/>
            <a:ext cx="135617" cy="135617"/>
          </a:xfrm>
          <a:prstGeom prst="rect">
            <a:avLst/>
          </a:prstGeom>
        </p:spPr>
      </p:pic>
      <p:pic>
        <p:nvPicPr>
          <p:cNvPr id="41" name="Grafika 40" descr="Mężczyzna kontur">
            <a:extLst>
              <a:ext uri="{FF2B5EF4-FFF2-40B4-BE49-F238E27FC236}">
                <a16:creationId xmlns:a16="http://schemas.microsoft.com/office/drawing/2014/main" id="{FAC000F1-20D2-9CFF-2DBE-ABACCED2A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8161" y="3665068"/>
            <a:ext cx="135617" cy="135617"/>
          </a:xfrm>
          <a:prstGeom prst="rect">
            <a:avLst/>
          </a:prstGeom>
        </p:spPr>
      </p:pic>
      <p:pic>
        <p:nvPicPr>
          <p:cNvPr id="42" name="Grafika 41" descr="Mężczyzna kontur">
            <a:extLst>
              <a:ext uri="{FF2B5EF4-FFF2-40B4-BE49-F238E27FC236}">
                <a16:creationId xmlns:a16="http://schemas.microsoft.com/office/drawing/2014/main" id="{C616DE0C-C4DE-1DBC-4413-B986C3C89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6331" y="3860434"/>
            <a:ext cx="135617" cy="135617"/>
          </a:xfrm>
          <a:prstGeom prst="rect">
            <a:avLst/>
          </a:prstGeom>
        </p:spPr>
      </p:pic>
      <p:pic>
        <p:nvPicPr>
          <p:cNvPr id="43" name="Grafika 42" descr="Mężczyzna kontur">
            <a:extLst>
              <a:ext uri="{FF2B5EF4-FFF2-40B4-BE49-F238E27FC236}">
                <a16:creationId xmlns:a16="http://schemas.microsoft.com/office/drawing/2014/main" id="{6F7D583B-3B30-662D-745C-57D19B0C6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02000" y="4366147"/>
            <a:ext cx="135617" cy="135617"/>
          </a:xfrm>
          <a:prstGeom prst="rect">
            <a:avLst/>
          </a:prstGeom>
        </p:spPr>
      </p:pic>
      <p:pic>
        <p:nvPicPr>
          <p:cNvPr id="44" name="Grafika 43" descr="Mężczyzna kontur">
            <a:extLst>
              <a:ext uri="{FF2B5EF4-FFF2-40B4-BE49-F238E27FC236}">
                <a16:creationId xmlns:a16="http://schemas.microsoft.com/office/drawing/2014/main" id="{33843DA9-BE7D-3857-10A5-FE8C0DD13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1402" y="4386409"/>
            <a:ext cx="135617" cy="135617"/>
          </a:xfrm>
          <a:prstGeom prst="rect">
            <a:avLst/>
          </a:prstGeom>
        </p:spPr>
      </p:pic>
      <p:pic>
        <p:nvPicPr>
          <p:cNvPr id="45" name="Grafika 44" descr="Mężczyzna kontur">
            <a:extLst>
              <a:ext uri="{FF2B5EF4-FFF2-40B4-BE49-F238E27FC236}">
                <a16:creationId xmlns:a16="http://schemas.microsoft.com/office/drawing/2014/main" id="{79223186-0792-BA7B-F8CA-6D4975840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7597" y="2417334"/>
            <a:ext cx="135617" cy="135617"/>
          </a:xfrm>
          <a:prstGeom prst="rect">
            <a:avLst/>
          </a:prstGeom>
        </p:spPr>
      </p:pic>
      <p:pic>
        <p:nvPicPr>
          <p:cNvPr id="46" name="Grafika 45" descr="Mężczyzna kontur">
            <a:extLst>
              <a:ext uri="{FF2B5EF4-FFF2-40B4-BE49-F238E27FC236}">
                <a16:creationId xmlns:a16="http://schemas.microsoft.com/office/drawing/2014/main" id="{CBF98034-093E-1BDB-AC53-B6C8D3E5E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0404" y="2199135"/>
            <a:ext cx="135617" cy="135617"/>
          </a:xfrm>
          <a:prstGeom prst="rect">
            <a:avLst/>
          </a:prstGeom>
        </p:spPr>
      </p:pic>
      <p:pic>
        <p:nvPicPr>
          <p:cNvPr id="47" name="Grafika 46" descr="Mężczyzna kontur">
            <a:extLst>
              <a:ext uri="{FF2B5EF4-FFF2-40B4-BE49-F238E27FC236}">
                <a16:creationId xmlns:a16="http://schemas.microsoft.com/office/drawing/2014/main" id="{B54C0370-F161-DB83-93A5-4B3598FA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7577" y="2402561"/>
            <a:ext cx="135617" cy="135617"/>
          </a:xfrm>
          <a:prstGeom prst="rect">
            <a:avLst/>
          </a:prstGeom>
        </p:spPr>
      </p:pic>
      <p:pic>
        <p:nvPicPr>
          <p:cNvPr id="49" name="Grafika 48" descr="Mężczyzna kontur">
            <a:extLst>
              <a:ext uri="{FF2B5EF4-FFF2-40B4-BE49-F238E27FC236}">
                <a16:creationId xmlns:a16="http://schemas.microsoft.com/office/drawing/2014/main" id="{96109A3A-9458-56D8-159C-8CB806419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1987" y="2418680"/>
            <a:ext cx="135617" cy="135617"/>
          </a:xfrm>
          <a:prstGeom prst="rect">
            <a:avLst/>
          </a:prstGeom>
        </p:spPr>
      </p:pic>
      <p:pic>
        <p:nvPicPr>
          <p:cNvPr id="50" name="Grafika 49" descr="Mężczyzna kontur">
            <a:extLst>
              <a:ext uri="{FF2B5EF4-FFF2-40B4-BE49-F238E27FC236}">
                <a16:creationId xmlns:a16="http://schemas.microsoft.com/office/drawing/2014/main" id="{DD43E42E-265D-004A-EE85-0FFA56CBF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6543" y="2612728"/>
            <a:ext cx="135617" cy="135617"/>
          </a:xfrm>
          <a:prstGeom prst="rect">
            <a:avLst/>
          </a:prstGeom>
        </p:spPr>
      </p:pic>
      <p:pic>
        <p:nvPicPr>
          <p:cNvPr id="51" name="Grafika 50" descr="Mężczyzna kontur">
            <a:extLst>
              <a:ext uri="{FF2B5EF4-FFF2-40B4-BE49-F238E27FC236}">
                <a16:creationId xmlns:a16="http://schemas.microsoft.com/office/drawing/2014/main" id="{D4E3AE17-1185-5119-5638-8A046D26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7460" y="2062039"/>
            <a:ext cx="135617" cy="135617"/>
          </a:xfrm>
          <a:prstGeom prst="rect">
            <a:avLst/>
          </a:prstGeom>
        </p:spPr>
      </p:pic>
      <p:pic>
        <p:nvPicPr>
          <p:cNvPr id="52" name="Grafika 51" descr="Mężczyzna kontur">
            <a:extLst>
              <a:ext uri="{FF2B5EF4-FFF2-40B4-BE49-F238E27FC236}">
                <a16:creationId xmlns:a16="http://schemas.microsoft.com/office/drawing/2014/main" id="{F5B10EAA-1D83-CD21-9F31-CEB308F74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4145" y="1918362"/>
            <a:ext cx="135617" cy="135617"/>
          </a:xfrm>
          <a:prstGeom prst="rect">
            <a:avLst/>
          </a:prstGeom>
        </p:spPr>
      </p:pic>
      <p:pic>
        <p:nvPicPr>
          <p:cNvPr id="53" name="Grafika 52" descr="Mężczyzna kontur">
            <a:extLst>
              <a:ext uri="{FF2B5EF4-FFF2-40B4-BE49-F238E27FC236}">
                <a16:creationId xmlns:a16="http://schemas.microsoft.com/office/drawing/2014/main" id="{87C9A47C-6457-5558-2770-B67C46190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004" y="2089363"/>
            <a:ext cx="135617" cy="135617"/>
          </a:xfrm>
          <a:prstGeom prst="rect">
            <a:avLst/>
          </a:prstGeom>
        </p:spPr>
      </p:pic>
      <p:pic>
        <p:nvPicPr>
          <p:cNvPr id="54" name="Grafika 53" descr="Mężczyzna kontur">
            <a:extLst>
              <a:ext uri="{FF2B5EF4-FFF2-40B4-BE49-F238E27FC236}">
                <a16:creationId xmlns:a16="http://schemas.microsoft.com/office/drawing/2014/main" id="{807C86DD-9BFC-315D-F226-D7390F7D0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4165" y="1907666"/>
            <a:ext cx="135617" cy="135617"/>
          </a:xfrm>
          <a:prstGeom prst="rect">
            <a:avLst/>
          </a:prstGeom>
        </p:spPr>
      </p:pic>
      <p:pic>
        <p:nvPicPr>
          <p:cNvPr id="55" name="Grafika 54" descr="Mężczyzna kontur">
            <a:extLst>
              <a:ext uri="{FF2B5EF4-FFF2-40B4-BE49-F238E27FC236}">
                <a16:creationId xmlns:a16="http://schemas.microsoft.com/office/drawing/2014/main" id="{E89D5975-6893-CFDC-3DF0-23CE7A190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2335" y="2121788"/>
            <a:ext cx="135617" cy="135617"/>
          </a:xfrm>
          <a:prstGeom prst="rect">
            <a:avLst/>
          </a:prstGeom>
        </p:spPr>
      </p:pic>
      <p:pic>
        <p:nvPicPr>
          <p:cNvPr id="57" name="Grafika 56" descr="Mężczyzna kontur">
            <a:extLst>
              <a:ext uri="{FF2B5EF4-FFF2-40B4-BE49-F238E27FC236}">
                <a16:creationId xmlns:a16="http://schemas.microsoft.com/office/drawing/2014/main" id="{60DEA7AD-332B-AE99-F3F9-B1A9A5417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406" y="2647763"/>
            <a:ext cx="135617" cy="135617"/>
          </a:xfrm>
          <a:prstGeom prst="rect">
            <a:avLst/>
          </a:prstGeom>
        </p:spPr>
      </p:pic>
      <p:pic>
        <p:nvPicPr>
          <p:cNvPr id="58" name="Grafika 57" descr="Mężczyzna kontur">
            <a:extLst>
              <a:ext uri="{FF2B5EF4-FFF2-40B4-BE49-F238E27FC236}">
                <a16:creationId xmlns:a16="http://schemas.microsoft.com/office/drawing/2014/main" id="{AF8F545F-DFA8-33C4-3571-724C732B9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0270" y="3155124"/>
            <a:ext cx="135617" cy="135617"/>
          </a:xfrm>
          <a:prstGeom prst="rect">
            <a:avLst/>
          </a:prstGeom>
        </p:spPr>
      </p:pic>
      <p:pic>
        <p:nvPicPr>
          <p:cNvPr id="59" name="Grafika 58" descr="Mężczyzna kontur">
            <a:extLst>
              <a:ext uri="{FF2B5EF4-FFF2-40B4-BE49-F238E27FC236}">
                <a16:creationId xmlns:a16="http://schemas.microsoft.com/office/drawing/2014/main" id="{CD1AD815-3835-0AB5-938E-F851D38BD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9453" y="3087315"/>
            <a:ext cx="135617" cy="135617"/>
          </a:xfrm>
          <a:prstGeom prst="rect">
            <a:avLst/>
          </a:prstGeom>
        </p:spPr>
      </p:pic>
      <p:pic>
        <p:nvPicPr>
          <p:cNvPr id="60" name="Grafika 59" descr="Mężczyzna kontur">
            <a:extLst>
              <a:ext uri="{FF2B5EF4-FFF2-40B4-BE49-F238E27FC236}">
                <a16:creationId xmlns:a16="http://schemas.microsoft.com/office/drawing/2014/main" id="{9CF781CE-7A3B-9388-81EF-C66282E8C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6626" y="3290741"/>
            <a:ext cx="135617" cy="135617"/>
          </a:xfrm>
          <a:prstGeom prst="rect">
            <a:avLst/>
          </a:prstGeom>
        </p:spPr>
      </p:pic>
      <p:pic>
        <p:nvPicPr>
          <p:cNvPr id="61" name="Grafika 60" descr="Mężczyzna kontur">
            <a:extLst>
              <a:ext uri="{FF2B5EF4-FFF2-40B4-BE49-F238E27FC236}">
                <a16:creationId xmlns:a16="http://schemas.microsoft.com/office/drawing/2014/main" id="{B497729D-65D1-D883-B288-8CD5B298E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9647" y="3340764"/>
            <a:ext cx="135617" cy="135617"/>
          </a:xfrm>
          <a:prstGeom prst="rect">
            <a:avLst/>
          </a:prstGeom>
        </p:spPr>
      </p:pic>
      <p:pic>
        <p:nvPicPr>
          <p:cNvPr id="62" name="Grafika 61" descr="Mężczyzna kontur">
            <a:extLst>
              <a:ext uri="{FF2B5EF4-FFF2-40B4-BE49-F238E27FC236}">
                <a16:creationId xmlns:a16="http://schemas.microsoft.com/office/drawing/2014/main" id="{F8A07B89-7027-4B7A-227C-8C78E630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1036" y="3306860"/>
            <a:ext cx="135617" cy="135617"/>
          </a:xfrm>
          <a:prstGeom prst="rect">
            <a:avLst/>
          </a:prstGeom>
        </p:spPr>
      </p:pic>
      <p:pic>
        <p:nvPicPr>
          <p:cNvPr id="63" name="Grafika 62" descr="Mężczyzna kontur">
            <a:extLst>
              <a:ext uri="{FF2B5EF4-FFF2-40B4-BE49-F238E27FC236}">
                <a16:creationId xmlns:a16="http://schemas.microsoft.com/office/drawing/2014/main" id="{572C346E-CA5C-C1A9-2B7F-BB73AF7AF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9037" y="3500908"/>
            <a:ext cx="135617" cy="135617"/>
          </a:xfrm>
          <a:prstGeom prst="rect">
            <a:avLst/>
          </a:prstGeom>
        </p:spPr>
      </p:pic>
      <p:pic>
        <p:nvPicPr>
          <p:cNvPr id="64" name="Grafika 63" descr="Mężczyzna kontur">
            <a:extLst>
              <a:ext uri="{FF2B5EF4-FFF2-40B4-BE49-F238E27FC236}">
                <a16:creationId xmlns:a16="http://schemas.microsoft.com/office/drawing/2014/main" id="{75A17813-60D3-7A1F-777E-59D7ED981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6509" y="2950219"/>
            <a:ext cx="135617" cy="135617"/>
          </a:xfrm>
          <a:prstGeom prst="rect">
            <a:avLst/>
          </a:prstGeom>
        </p:spPr>
      </p:pic>
      <p:pic>
        <p:nvPicPr>
          <p:cNvPr id="65" name="Grafika 64" descr="Mężczyzna kontur">
            <a:extLst>
              <a:ext uri="{FF2B5EF4-FFF2-40B4-BE49-F238E27FC236}">
                <a16:creationId xmlns:a16="http://schemas.microsoft.com/office/drawing/2014/main" id="{6D90E329-45BC-39DA-07C0-B6E85BAED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3194" y="2806542"/>
            <a:ext cx="135617" cy="135617"/>
          </a:xfrm>
          <a:prstGeom prst="rect">
            <a:avLst/>
          </a:prstGeom>
        </p:spPr>
      </p:pic>
      <p:pic>
        <p:nvPicPr>
          <p:cNvPr id="66" name="Grafika 65" descr="Mężczyzna kontur">
            <a:extLst>
              <a:ext uri="{FF2B5EF4-FFF2-40B4-BE49-F238E27FC236}">
                <a16:creationId xmlns:a16="http://schemas.microsoft.com/office/drawing/2014/main" id="{0B125245-2F04-00FA-A11A-A645D43F7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053" y="2977543"/>
            <a:ext cx="135617" cy="135617"/>
          </a:xfrm>
          <a:prstGeom prst="rect">
            <a:avLst/>
          </a:prstGeom>
        </p:spPr>
      </p:pic>
      <p:pic>
        <p:nvPicPr>
          <p:cNvPr id="67" name="Grafika 66" descr="Mężczyzna kontur">
            <a:extLst>
              <a:ext uri="{FF2B5EF4-FFF2-40B4-BE49-F238E27FC236}">
                <a16:creationId xmlns:a16="http://schemas.microsoft.com/office/drawing/2014/main" id="{4C92D7C7-CD52-B481-B078-467A99B98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3214" y="2814602"/>
            <a:ext cx="135617" cy="135617"/>
          </a:xfrm>
          <a:prstGeom prst="rect">
            <a:avLst/>
          </a:prstGeom>
        </p:spPr>
      </p:pic>
      <p:pic>
        <p:nvPicPr>
          <p:cNvPr id="68" name="Grafika 67" descr="Mężczyzna kontur">
            <a:extLst>
              <a:ext uri="{FF2B5EF4-FFF2-40B4-BE49-F238E27FC236}">
                <a16:creationId xmlns:a16="http://schemas.microsoft.com/office/drawing/2014/main" id="{EA2692BF-BD9D-AD36-3DB6-BB5C20B18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1384" y="3009968"/>
            <a:ext cx="135617" cy="135617"/>
          </a:xfrm>
          <a:prstGeom prst="rect">
            <a:avLst/>
          </a:prstGeom>
        </p:spPr>
      </p:pic>
      <p:pic>
        <p:nvPicPr>
          <p:cNvPr id="69" name="Grafika 68" descr="Mężczyzna kontur">
            <a:extLst>
              <a:ext uri="{FF2B5EF4-FFF2-40B4-BE49-F238E27FC236}">
                <a16:creationId xmlns:a16="http://schemas.microsoft.com/office/drawing/2014/main" id="{388134DC-D518-B197-E81F-50DD36EEC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053" y="3515681"/>
            <a:ext cx="135617" cy="135617"/>
          </a:xfrm>
          <a:prstGeom prst="rect">
            <a:avLst/>
          </a:prstGeom>
        </p:spPr>
      </p:pic>
      <p:pic>
        <p:nvPicPr>
          <p:cNvPr id="70" name="Grafika 69" descr="Mężczyzna kontur">
            <a:extLst>
              <a:ext uri="{FF2B5EF4-FFF2-40B4-BE49-F238E27FC236}">
                <a16:creationId xmlns:a16="http://schemas.microsoft.com/office/drawing/2014/main" id="{BDE4D830-3E1D-67AB-0A9C-6F1FD172E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6455" y="3535943"/>
            <a:ext cx="135617" cy="135617"/>
          </a:xfrm>
          <a:prstGeom prst="rect">
            <a:avLst/>
          </a:prstGeom>
        </p:spPr>
      </p:pic>
      <p:pic>
        <p:nvPicPr>
          <p:cNvPr id="71" name="Grafika 70" descr="Mężczyzna kontur">
            <a:extLst>
              <a:ext uri="{FF2B5EF4-FFF2-40B4-BE49-F238E27FC236}">
                <a16:creationId xmlns:a16="http://schemas.microsoft.com/office/drawing/2014/main" id="{D73807B2-CEB3-D1CD-DB82-9D7DE85BE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7305" y="4032914"/>
            <a:ext cx="135617" cy="135617"/>
          </a:xfrm>
          <a:prstGeom prst="rect">
            <a:avLst/>
          </a:prstGeom>
        </p:spPr>
      </p:pic>
      <p:pic>
        <p:nvPicPr>
          <p:cNvPr id="72" name="Grafika 71" descr="Mężczyzna kontur">
            <a:extLst>
              <a:ext uri="{FF2B5EF4-FFF2-40B4-BE49-F238E27FC236}">
                <a16:creationId xmlns:a16="http://schemas.microsoft.com/office/drawing/2014/main" id="{A4F4962F-A8D2-0EC7-BE74-5D4B00810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3665" y="3965105"/>
            <a:ext cx="135617" cy="135617"/>
          </a:xfrm>
          <a:prstGeom prst="rect">
            <a:avLst/>
          </a:prstGeom>
        </p:spPr>
      </p:pic>
      <p:pic>
        <p:nvPicPr>
          <p:cNvPr id="73" name="Grafika 72" descr="Mężczyzna kontur">
            <a:extLst>
              <a:ext uri="{FF2B5EF4-FFF2-40B4-BE49-F238E27FC236}">
                <a16:creationId xmlns:a16="http://schemas.microsoft.com/office/drawing/2014/main" id="{3BCCB63B-3C42-8BC2-853A-276878E79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0838" y="4168531"/>
            <a:ext cx="135617" cy="135617"/>
          </a:xfrm>
          <a:prstGeom prst="rect">
            <a:avLst/>
          </a:prstGeom>
        </p:spPr>
      </p:pic>
      <p:pic>
        <p:nvPicPr>
          <p:cNvPr id="75" name="Grafika 74" descr="Mężczyzna kontur">
            <a:extLst>
              <a:ext uri="{FF2B5EF4-FFF2-40B4-BE49-F238E27FC236}">
                <a16:creationId xmlns:a16="http://schemas.microsoft.com/office/drawing/2014/main" id="{742ABE09-3D5E-EED5-0F64-6EB458989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5248" y="4184650"/>
            <a:ext cx="135617" cy="135617"/>
          </a:xfrm>
          <a:prstGeom prst="rect">
            <a:avLst/>
          </a:prstGeom>
        </p:spPr>
      </p:pic>
      <p:pic>
        <p:nvPicPr>
          <p:cNvPr id="76" name="Grafika 75" descr="Mężczyzna kontur">
            <a:extLst>
              <a:ext uri="{FF2B5EF4-FFF2-40B4-BE49-F238E27FC236}">
                <a16:creationId xmlns:a16="http://schemas.microsoft.com/office/drawing/2014/main" id="{1805FA57-5F92-B350-BFF2-90C0C1796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3249" y="4378698"/>
            <a:ext cx="135617" cy="135617"/>
          </a:xfrm>
          <a:prstGeom prst="rect">
            <a:avLst/>
          </a:prstGeom>
        </p:spPr>
      </p:pic>
      <p:pic>
        <p:nvPicPr>
          <p:cNvPr id="77" name="Grafika 76" descr="Mężczyzna kontur">
            <a:extLst>
              <a:ext uri="{FF2B5EF4-FFF2-40B4-BE49-F238E27FC236}">
                <a16:creationId xmlns:a16="http://schemas.microsoft.com/office/drawing/2014/main" id="{4738B21C-D7D1-3D54-A527-255AD3F79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721" y="3828009"/>
            <a:ext cx="135617" cy="135617"/>
          </a:xfrm>
          <a:prstGeom prst="rect">
            <a:avLst/>
          </a:prstGeom>
        </p:spPr>
      </p:pic>
      <p:pic>
        <p:nvPicPr>
          <p:cNvPr id="78" name="Grafika 77" descr="Mężczyzna kontur">
            <a:extLst>
              <a:ext uri="{FF2B5EF4-FFF2-40B4-BE49-F238E27FC236}">
                <a16:creationId xmlns:a16="http://schemas.microsoft.com/office/drawing/2014/main" id="{62131B09-1B97-D17E-819E-F7A26676D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7406" y="3684332"/>
            <a:ext cx="135617" cy="135617"/>
          </a:xfrm>
          <a:prstGeom prst="rect">
            <a:avLst/>
          </a:prstGeom>
        </p:spPr>
      </p:pic>
      <p:pic>
        <p:nvPicPr>
          <p:cNvPr id="79" name="Grafika 78" descr="Mężczyzna kontur">
            <a:extLst>
              <a:ext uri="{FF2B5EF4-FFF2-40B4-BE49-F238E27FC236}">
                <a16:creationId xmlns:a16="http://schemas.microsoft.com/office/drawing/2014/main" id="{77096590-732F-F39A-AFF1-A510377DD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1265" y="3855333"/>
            <a:ext cx="135617" cy="135617"/>
          </a:xfrm>
          <a:prstGeom prst="rect">
            <a:avLst/>
          </a:prstGeom>
        </p:spPr>
      </p:pic>
      <p:pic>
        <p:nvPicPr>
          <p:cNvPr id="80" name="Grafika 79" descr="Mężczyzna kontur">
            <a:extLst>
              <a:ext uri="{FF2B5EF4-FFF2-40B4-BE49-F238E27FC236}">
                <a16:creationId xmlns:a16="http://schemas.microsoft.com/office/drawing/2014/main" id="{1C15EFF2-FE02-252C-2F5C-E4A10F839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26" y="3692392"/>
            <a:ext cx="135617" cy="135617"/>
          </a:xfrm>
          <a:prstGeom prst="rect">
            <a:avLst/>
          </a:prstGeom>
        </p:spPr>
      </p:pic>
      <p:pic>
        <p:nvPicPr>
          <p:cNvPr id="81" name="Grafika 80" descr="Mężczyzna kontur">
            <a:extLst>
              <a:ext uri="{FF2B5EF4-FFF2-40B4-BE49-F238E27FC236}">
                <a16:creationId xmlns:a16="http://schemas.microsoft.com/office/drawing/2014/main" id="{528458DE-7FD8-8F21-73D0-565023751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96" y="3887758"/>
            <a:ext cx="135617" cy="135617"/>
          </a:xfrm>
          <a:prstGeom prst="rect">
            <a:avLst/>
          </a:prstGeom>
        </p:spPr>
      </p:pic>
      <p:pic>
        <p:nvPicPr>
          <p:cNvPr id="83" name="Grafika 82" descr="Mężczyzna kontur">
            <a:extLst>
              <a:ext uri="{FF2B5EF4-FFF2-40B4-BE49-F238E27FC236}">
                <a16:creationId xmlns:a16="http://schemas.microsoft.com/office/drawing/2014/main" id="{089BDC58-DB3A-3821-807D-BA7CE67CB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0667" y="4413733"/>
            <a:ext cx="135617" cy="135617"/>
          </a:xfrm>
          <a:prstGeom prst="rect">
            <a:avLst/>
          </a:prstGeom>
        </p:spPr>
      </p:pic>
      <p:pic>
        <p:nvPicPr>
          <p:cNvPr id="84" name="Grafika 83" descr="Mężczyzna kontur">
            <a:extLst>
              <a:ext uri="{FF2B5EF4-FFF2-40B4-BE49-F238E27FC236}">
                <a16:creationId xmlns:a16="http://schemas.microsoft.com/office/drawing/2014/main" id="{FD58316A-6C3B-FEAF-FECA-09A830624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6426" y="1551953"/>
            <a:ext cx="135617" cy="135617"/>
          </a:xfrm>
          <a:prstGeom prst="rect">
            <a:avLst/>
          </a:prstGeom>
        </p:spPr>
      </p:pic>
      <p:pic>
        <p:nvPicPr>
          <p:cNvPr id="85" name="Grafika 84" descr="Mężczyzna kontur">
            <a:extLst>
              <a:ext uri="{FF2B5EF4-FFF2-40B4-BE49-F238E27FC236}">
                <a16:creationId xmlns:a16="http://schemas.microsoft.com/office/drawing/2014/main" id="{14B428A7-C5E7-6711-5B82-DCD7FD670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2786" y="1484144"/>
            <a:ext cx="135617" cy="135617"/>
          </a:xfrm>
          <a:prstGeom prst="rect">
            <a:avLst/>
          </a:prstGeom>
        </p:spPr>
      </p:pic>
      <p:pic>
        <p:nvPicPr>
          <p:cNvPr id="86" name="Grafika 85" descr="Mężczyzna kontur">
            <a:extLst>
              <a:ext uri="{FF2B5EF4-FFF2-40B4-BE49-F238E27FC236}">
                <a16:creationId xmlns:a16="http://schemas.microsoft.com/office/drawing/2014/main" id="{5D906612-A7B1-3FEC-D19A-8BE1EF939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9959" y="1687570"/>
            <a:ext cx="135617" cy="135617"/>
          </a:xfrm>
          <a:prstGeom prst="rect">
            <a:avLst/>
          </a:prstGeom>
        </p:spPr>
      </p:pic>
      <p:pic>
        <p:nvPicPr>
          <p:cNvPr id="87" name="Grafika 86" descr="Mężczyzna kontur">
            <a:extLst>
              <a:ext uri="{FF2B5EF4-FFF2-40B4-BE49-F238E27FC236}">
                <a16:creationId xmlns:a16="http://schemas.microsoft.com/office/drawing/2014/main" id="{14D5C6FD-7FE1-100E-4117-57E454BB6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2980" y="1737593"/>
            <a:ext cx="135617" cy="135617"/>
          </a:xfrm>
          <a:prstGeom prst="rect">
            <a:avLst/>
          </a:prstGeom>
        </p:spPr>
      </p:pic>
      <p:pic>
        <p:nvPicPr>
          <p:cNvPr id="88" name="Grafika 87" descr="Mężczyzna kontur">
            <a:extLst>
              <a:ext uri="{FF2B5EF4-FFF2-40B4-BE49-F238E27FC236}">
                <a16:creationId xmlns:a16="http://schemas.microsoft.com/office/drawing/2014/main" id="{6FB15207-8137-54E0-CCC4-55165F987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4369" y="1703689"/>
            <a:ext cx="135617" cy="135617"/>
          </a:xfrm>
          <a:prstGeom prst="rect">
            <a:avLst/>
          </a:prstGeom>
        </p:spPr>
      </p:pic>
      <p:pic>
        <p:nvPicPr>
          <p:cNvPr id="89" name="Grafika 88" descr="Mężczyzna kontur">
            <a:extLst>
              <a:ext uri="{FF2B5EF4-FFF2-40B4-BE49-F238E27FC236}">
                <a16:creationId xmlns:a16="http://schemas.microsoft.com/office/drawing/2014/main" id="{BBEF65C3-539E-310A-A1AD-A8274B2D4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9842" y="1347048"/>
            <a:ext cx="135617" cy="135617"/>
          </a:xfrm>
          <a:prstGeom prst="rect">
            <a:avLst/>
          </a:prstGeom>
        </p:spPr>
      </p:pic>
      <p:pic>
        <p:nvPicPr>
          <p:cNvPr id="90" name="Grafika 89" descr="Mężczyzna kontur">
            <a:extLst>
              <a:ext uri="{FF2B5EF4-FFF2-40B4-BE49-F238E27FC236}">
                <a16:creationId xmlns:a16="http://schemas.microsoft.com/office/drawing/2014/main" id="{CA713771-1174-1CF7-D349-3DE07170C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6527" y="1203371"/>
            <a:ext cx="135617" cy="135617"/>
          </a:xfrm>
          <a:prstGeom prst="rect">
            <a:avLst/>
          </a:prstGeom>
        </p:spPr>
      </p:pic>
      <p:pic>
        <p:nvPicPr>
          <p:cNvPr id="91" name="Grafika 90" descr="Mężczyzna kontur">
            <a:extLst>
              <a:ext uri="{FF2B5EF4-FFF2-40B4-BE49-F238E27FC236}">
                <a16:creationId xmlns:a16="http://schemas.microsoft.com/office/drawing/2014/main" id="{C67FA31B-45D1-3F4B-581C-DA91653DB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0386" y="1374372"/>
            <a:ext cx="135617" cy="135617"/>
          </a:xfrm>
          <a:prstGeom prst="rect">
            <a:avLst/>
          </a:prstGeom>
        </p:spPr>
      </p:pic>
      <p:pic>
        <p:nvPicPr>
          <p:cNvPr id="92" name="Grafika 91" descr="Mężczyzna kontur">
            <a:extLst>
              <a:ext uri="{FF2B5EF4-FFF2-40B4-BE49-F238E27FC236}">
                <a16:creationId xmlns:a16="http://schemas.microsoft.com/office/drawing/2014/main" id="{5960ECC5-E4CB-F41A-C3EE-CB6CE89F5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6547" y="1211431"/>
            <a:ext cx="135617" cy="135617"/>
          </a:xfrm>
          <a:prstGeom prst="rect">
            <a:avLst/>
          </a:prstGeom>
        </p:spPr>
      </p:pic>
      <p:pic>
        <p:nvPicPr>
          <p:cNvPr id="93" name="Grafika 92" descr="Mężczyzna kontur">
            <a:extLst>
              <a:ext uri="{FF2B5EF4-FFF2-40B4-BE49-F238E27FC236}">
                <a16:creationId xmlns:a16="http://schemas.microsoft.com/office/drawing/2014/main" id="{4041F015-B2C0-EB51-DB0D-BE9DA60A7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4717" y="1406797"/>
            <a:ext cx="135617" cy="135617"/>
          </a:xfrm>
          <a:prstGeom prst="rect">
            <a:avLst/>
          </a:prstGeom>
        </p:spPr>
      </p:pic>
      <p:pic>
        <p:nvPicPr>
          <p:cNvPr id="94" name="Grafika 93" descr="Mężczyzna kontur">
            <a:extLst>
              <a:ext uri="{FF2B5EF4-FFF2-40B4-BE49-F238E27FC236}">
                <a16:creationId xmlns:a16="http://schemas.microsoft.com/office/drawing/2014/main" id="{9B9FD92E-909D-D6D1-D791-E0991794F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691" y="1579277"/>
            <a:ext cx="135617" cy="135617"/>
          </a:xfrm>
          <a:prstGeom prst="rect">
            <a:avLst/>
          </a:prstGeom>
        </p:spPr>
      </p:pic>
      <p:pic>
        <p:nvPicPr>
          <p:cNvPr id="95" name="Grafika 94" descr="Mężczyzna kontur">
            <a:extLst>
              <a:ext uri="{FF2B5EF4-FFF2-40B4-BE49-F238E27FC236}">
                <a16:creationId xmlns:a16="http://schemas.microsoft.com/office/drawing/2014/main" id="{69D39732-DA7F-39FF-DFBB-D32A2C0C0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051" y="1511468"/>
            <a:ext cx="135617" cy="135617"/>
          </a:xfrm>
          <a:prstGeom prst="rect">
            <a:avLst/>
          </a:prstGeom>
        </p:spPr>
      </p:pic>
      <p:pic>
        <p:nvPicPr>
          <p:cNvPr id="96" name="Grafika 95" descr="Mężczyzna kontur">
            <a:extLst>
              <a:ext uri="{FF2B5EF4-FFF2-40B4-BE49-F238E27FC236}">
                <a16:creationId xmlns:a16="http://schemas.microsoft.com/office/drawing/2014/main" id="{DE2A6CA4-E264-19BF-CE35-F11402A50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9224" y="1714894"/>
            <a:ext cx="135617" cy="135617"/>
          </a:xfrm>
          <a:prstGeom prst="rect">
            <a:avLst/>
          </a:prstGeom>
        </p:spPr>
      </p:pic>
      <p:pic>
        <p:nvPicPr>
          <p:cNvPr id="97" name="Grafika 96" descr="Mężczyzna kontur">
            <a:extLst>
              <a:ext uri="{FF2B5EF4-FFF2-40B4-BE49-F238E27FC236}">
                <a16:creationId xmlns:a16="http://schemas.microsoft.com/office/drawing/2014/main" id="{8D9748F7-86B7-DB3F-005F-682299B1A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3634" y="1731013"/>
            <a:ext cx="135617" cy="135617"/>
          </a:xfrm>
          <a:prstGeom prst="rect">
            <a:avLst/>
          </a:prstGeom>
        </p:spPr>
      </p:pic>
      <p:pic>
        <p:nvPicPr>
          <p:cNvPr id="98" name="Grafika 97" descr="Mężczyzna kontur">
            <a:extLst>
              <a:ext uri="{FF2B5EF4-FFF2-40B4-BE49-F238E27FC236}">
                <a16:creationId xmlns:a16="http://schemas.microsoft.com/office/drawing/2014/main" id="{077C1598-1D12-38E4-28AE-5C7136A83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9107" y="1374372"/>
            <a:ext cx="135617" cy="135617"/>
          </a:xfrm>
          <a:prstGeom prst="rect">
            <a:avLst/>
          </a:prstGeom>
        </p:spPr>
      </p:pic>
      <p:pic>
        <p:nvPicPr>
          <p:cNvPr id="99" name="Grafika 98" descr="Mężczyzna kontur">
            <a:extLst>
              <a:ext uri="{FF2B5EF4-FFF2-40B4-BE49-F238E27FC236}">
                <a16:creationId xmlns:a16="http://schemas.microsoft.com/office/drawing/2014/main" id="{361637D7-F780-3A1B-DA69-496AC0076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5792" y="1230695"/>
            <a:ext cx="135617" cy="135617"/>
          </a:xfrm>
          <a:prstGeom prst="rect">
            <a:avLst/>
          </a:prstGeom>
        </p:spPr>
      </p:pic>
      <p:pic>
        <p:nvPicPr>
          <p:cNvPr id="100" name="Grafika 99" descr="Mężczyzna kontur">
            <a:extLst>
              <a:ext uri="{FF2B5EF4-FFF2-40B4-BE49-F238E27FC236}">
                <a16:creationId xmlns:a16="http://schemas.microsoft.com/office/drawing/2014/main" id="{12BE616B-F7A1-FE79-4882-7E1828C73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9651" y="1401696"/>
            <a:ext cx="135617" cy="135617"/>
          </a:xfrm>
          <a:prstGeom prst="rect">
            <a:avLst/>
          </a:prstGeom>
        </p:spPr>
      </p:pic>
      <p:pic>
        <p:nvPicPr>
          <p:cNvPr id="101" name="Grafika 100" descr="Mężczyzna kontur">
            <a:extLst>
              <a:ext uri="{FF2B5EF4-FFF2-40B4-BE49-F238E27FC236}">
                <a16:creationId xmlns:a16="http://schemas.microsoft.com/office/drawing/2014/main" id="{159AFD50-80AA-BCB0-78AE-4BB28626B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5812" y="1238755"/>
            <a:ext cx="135617" cy="135617"/>
          </a:xfrm>
          <a:prstGeom prst="rect">
            <a:avLst/>
          </a:prstGeom>
        </p:spPr>
      </p:pic>
      <p:pic>
        <p:nvPicPr>
          <p:cNvPr id="102" name="Grafika 101" descr="Mężczyzna kontur">
            <a:extLst>
              <a:ext uri="{FF2B5EF4-FFF2-40B4-BE49-F238E27FC236}">
                <a16:creationId xmlns:a16="http://schemas.microsoft.com/office/drawing/2014/main" id="{CC9F461D-CBC7-3383-5C20-C3D7D9F05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3982" y="1434121"/>
            <a:ext cx="135617" cy="135617"/>
          </a:xfrm>
          <a:prstGeom prst="rect">
            <a:avLst/>
          </a:prstGeom>
        </p:spPr>
      </p:pic>
      <p:grpSp>
        <p:nvGrpSpPr>
          <p:cNvPr id="107" name="Grupa 106">
            <a:extLst>
              <a:ext uri="{FF2B5EF4-FFF2-40B4-BE49-F238E27FC236}">
                <a16:creationId xmlns:a16="http://schemas.microsoft.com/office/drawing/2014/main" id="{D5D2EEA0-75B0-CEED-CC67-0579A1A33F22}"/>
              </a:ext>
            </a:extLst>
          </p:cNvPr>
          <p:cNvGrpSpPr/>
          <p:nvPr/>
        </p:nvGrpSpPr>
        <p:grpSpPr>
          <a:xfrm>
            <a:off x="1005906" y="1002495"/>
            <a:ext cx="2342204" cy="3630465"/>
            <a:chOff x="991839" y="1002495"/>
            <a:chExt cx="2342204" cy="3630465"/>
          </a:xfrm>
        </p:grpSpPr>
        <p:sp>
          <p:nvSpPr>
            <p:cNvPr id="105" name="Objaśnienie liniowe 1 104">
              <a:extLst>
                <a:ext uri="{FF2B5EF4-FFF2-40B4-BE49-F238E27FC236}">
                  <a16:creationId xmlns:a16="http://schemas.microsoft.com/office/drawing/2014/main" id="{C002E2A5-696A-2CD0-DFE9-A71987664890}"/>
                </a:ext>
              </a:extLst>
            </p:cNvPr>
            <p:cNvSpPr/>
            <p:nvPr/>
          </p:nvSpPr>
          <p:spPr>
            <a:xfrm>
              <a:off x="2293034" y="1063229"/>
              <a:ext cx="1041009" cy="3569731"/>
            </a:xfrm>
            <a:prstGeom prst="borderCallout1">
              <a:avLst>
                <a:gd name="adj1" fmla="val 18750"/>
                <a:gd name="adj2" fmla="val -8333"/>
                <a:gd name="adj3" fmla="val 3733"/>
                <a:gd name="adj4" fmla="val -53648"/>
              </a:avLst>
            </a:prstGeom>
            <a:noFill/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06" name="pole tekstowe 105">
              <a:extLst>
                <a:ext uri="{FF2B5EF4-FFF2-40B4-BE49-F238E27FC236}">
                  <a16:creationId xmlns:a16="http://schemas.microsoft.com/office/drawing/2014/main" id="{42C69A18-2C98-AA3D-1A53-37069A1540AF}"/>
                </a:ext>
              </a:extLst>
            </p:cNvPr>
            <p:cNvSpPr txBox="1"/>
            <p:nvPr/>
          </p:nvSpPr>
          <p:spPr>
            <a:xfrm>
              <a:off x="991839" y="1002495"/>
              <a:ext cx="8194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100">
                  <a:latin typeface="+mn-lt"/>
                </a:rPr>
                <a:t>population</a:t>
              </a:r>
            </a:p>
          </p:txBody>
        </p:sp>
        <p:sp>
          <p:nvSpPr>
            <p:cNvPr id="108" name="Objaśnienie liniowe 1 107">
              <a:extLst>
                <a:ext uri="{FF2B5EF4-FFF2-40B4-BE49-F238E27FC236}">
                  <a16:creationId xmlns:a16="http://schemas.microsoft.com/office/drawing/2014/main" id="{7FD4FF31-5C75-E224-60BD-E6FE6FA11B77}"/>
                </a:ext>
              </a:extLst>
            </p:cNvPr>
            <p:cNvSpPr/>
            <p:nvPr/>
          </p:nvSpPr>
          <p:spPr>
            <a:xfrm>
              <a:off x="2357668" y="3264896"/>
              <a:ext cx="908784" cy="1337886"/>
            </a:xfrm>
            <a:prstGeom prst="borderCallout1">
              <a:avLst>
                <a:gd name="adj1" fmla="val 18750"/>
                <a:gd name="adj2" fmla="val -8333"/>
                <a:gd name="adj3" fmla="val 22780"/>
                <a:gd name="adj4" fmla="val -43738"/>
              </a:avLst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09" name="pole tekstowe 108">
              <a:extLst>
                <a:ext uri="{FF2B5EF4-FFF2-40B4-BE49-F238E27FC236}">
                  <a16:creationId xmlns:a16="http://schemas.microsoft.com/office/drawing/2014/main" id="{14A68809-AEC6-8DE9-4427-4B7C9CF66E7F}"/>
                </a:ext>
              </a:extLst>
            </p:cNvPr>
            <p:cNvSpPr txBox="1"/>
            <p:nvPr/>
          </p:nvSpPr>
          <p:spPr>
            <a:xfrm>
              <a:off x="1141874" y="3408572"/>
              <a:ext cx="85151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100">
                  <a:latin typeface="+mn-lt"/>
                </a:rPr>
                <a:t>Sample</a:t>
              </a:r>
              <a:br>
                <a:rPr lang="pl-PL" sz="1100">
                  <a:latin typeface="+mn-lt"/>
                </a:rPr>
              </a:br>
              <a:r>
                <a:rPr lang="pl-PL" sz="1100" i="1">
                  <a:latin typeface="+mn-lt"/>
                </a:rPr>
                <a:t>How large?</a:t>
              </a:r>
              <a:endParaRPr lang="pl-PL" sz="1100">
                <a:latin typeface="+mn-lt"/>
              </a:endParaRPr>
            </a:p>
          </p:txBody>
        </p:sp>
      </p:grpSp>
      <p:grpSp>
        <p:nvGrpSpPr>
          <p:cNvPr id="137" name="Grupa 136">
            <a:extLst>
              <a:ext uri="{FF2B5EF4-FFF2-40B4-BE49-F238E27FC236}">
                <a16:creationId xmlns:a16="http://schemas.microsoft.com/office/drawing/2014/main" id="{3BD190B0-1874-658B-B1ED-FF274930EA6C}"/>
              </a:ext>
            </a:extLst>
          </p:cNvPr>
          <p:cNvGrpSpPr/>
          <p:nvPr/>
        </p:nvGrpSpPr>
        <p:grpSpPr>
          <a:xfrm>
            <a:off x="2404559" y="3283666"/>
            <a:ext cx="856277" cy="1280282"/>
            <a:chOff x="2404559" y="3283666"/>
            <a:chExt cx="856277" cy="1280282"/>
          </a:xfrm>
        </p:grpSpPr>
        <p:sp>
          <p:nvSpPr>
            <p:cNvPr id="110" name="Prostokąt 109">
              <a:extLst>
                <a:ext uri="{FF2B5EF4-FFF2-40B4-BE49-F238E27FC236}">
                  <a16:creationId xmlns:a16="http://schemas.microsoft.com/office/drawing/2014/main" id="{EF0809D9-312D-E7EE-96ED-783493333E2A}"/>
                </a:ext>
              </a:extLst>
            </p:cNvPr>
            <p:cNvSpPr/>
            <p:nvPr/>
          </p:nvSpPr>
          <p:spPr>
            <a:xfrm>
              <a:off x="2404559" y="3283666"/>
              <a:ext cx="852515" cy="626792"/>
            </a:xfrm>
            <a:prstGeom prst="rect">
              <a:avLst/>
            </a:prstGeom>
            <a:solidFill>
              <a:schemeClr val="accent3">
                <a:alpha val="2709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11" name="Prostokąt 110">
              <a:extLst>
                <a:ext uri="{FF2B5EF4-FFF2-40B4-BE49-F238E27FC236}">
                  <a16:creationId xmlns:a16="http://schemas.microsoft.com/office/drawing/2014/main" id="{330E0823-9FC8-D901-4786-9BEA693BC76B}"/>
                </a:ext>
              </a:extLst>
            </p:cNvPr>
            <p:cNvSpPr/>
            <p:nvPr/>
          </p:nvSpPr>
          <p:spPr>
            <a:xfrm>
              <a:off x="2408321" y="3937156"/>
              <a:ext cx="852515" cy="626792"/>
            </a:xfrm>
            <a:prstGeom prst="rect">
              <a:avLst/>
            </a:prstGeom>
            <a:solidFill>
              <a:srgbClr val="C00000">
                <a:alpha val="2709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112" name="Grupa 111">
            <a:extLst>
              <a:ext uri="{FF2B5EF4-FFF2-40B4-BE49-F238E27FC236}">
                <a16:creationId xmlns:a16="http://schemas.microsoft.com/office/drawing/2014/main" id="{F808593B-1905-D513-6F01-6D1BB6E815EF}"/>
              </a:ext>
            </a:extLst>
          </p:cNvPr>
          <p:cNvGrpSpPr/>
          <p:nvPr/>
        </p:nvGrpSpPr>
        <p:grpSpPr>
          <a:xfrm>
            <a:off x="3392584" y="3195997"/>
            <a:ext cx="3586073" cy="632012"/>
            <a:chOff x="2909425" y="1906687"/>
            <a:chExt cx="3586073" cy="632012"/>
          </a:xfrm>
        </p:grpSpPr>
        <p:pic>
          <p:nvPicPr>
            <p:cNvPr id="114" name="Grafika 113" descr="Mężczyzna kontur">
              <a:extLst>
                <a:ext uri="{FF2B5EF4-FFF2-40B4-BE49-F238E27FC236}">
                  <a16:creationId xmlns:a16="http://schemas.microsoft.com/office/drawing/2014/main" id="{42A94408-DA54-FA64-00A2-29F84689D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63486" y="1906687"/>
              <a:ext cx="632012" cy="632012"/>
            </a:xfrm>
            <a:prstGeom prst="rect">
              <a:avLst/>
            </a:prstGeom>
          </p:spPr>
        </p:pic>
        <p:grpSp>
          <p:nvGrpSpPr>
            <p:cNvPr id="115" name="Grupa 114">
              <a:extLst>
                <a:ext uri="{FF2B5EF4-FFF2-40B4-BE49-F238E27FC236}">
                  <a16:creationId xmlns:a16="http://schemas.microsoft.com/office/drawing/2014/main" id="{3D9EA801-0AB1-B9AE-105C-C75E3BF1C5B7}"/>
                </a:ext>
              </a:extLst>
            </p:cNvPr>
            <p:cNvGrpSpPr/>
            <p:nvPr/>
          </p:nvGrpSpPr>
          <p:grpSpPr>
            <a:xfrm>
              <a:off x="4092766" y="1983806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pole tekstowe 117">
                    <a:extLst>
                      <a:ext uri="{FF2B5EF4-FFF2-40B4-BE49-F238E27FC236}">
                        <a16:creationId xmlns:a16="http://schemas.microsoft.com/office/drawing/2014/main" id="{5F530673-6227-C692-F8BF-ABEB21FC891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118" name="pole tekstowe 117">
                    <a:extLst>
                      <a:ext uri="{FF2B5EF4-FFF2-40B4-BE49-F238E27FC236}">
                        <a16:creationId xmlns:a16="http://schemas.microsoft.com/office/drawing/2014/main" id="{5F530673-6227-C692-F8BF-ABEB21FC89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9" name="Ramka 118">
                <a:extLst>
                  <a:ext uri="{FF2B5EF4-FFF2-40B4-BE49-F238E27FC236}">
                    <a16:creationId xmlns:a16="http://schemas.microsoft.com/office/drawing/2014/main" id="{FA80B3BE-0FE4-B60D-A5A2-2F38F433E42F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16" name="Łącznik prosty ze strzałką 115">
              <a:extLst>
                <a:ext uri="{FF2B5EF4-FFF2-40B4-BE49-F238E27FC236}">
                  <a16:creationId xmlns:a16="http://schemas.microsoft.com/office/drawing/2014/main" id="{17AF0719-0987-D065-B97D-02E3F502F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425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Łącznik prosty ze strzałką 116">
              <a:extLst>
                <a:ext uri="{FF2B5EF4-FFF2-40B4-BE49-F238E27FC236}">
                  <a16:creationId xmlns:a16="http://schemas.microsoft.com/office/drawing/2014/main" id="{B48F036C-0DDE-CEBD-BFE4-4571348BA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5822" y="2205318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8" name="Grupa 137">
            <a:extLst>
              <a:ext uri="{FF2B5EF4-FFF2-40B4-BE49-F238E27FC236}">
                <a16:creationId xmlns:a16="http://schemas.microsoft.com/office/drawing/2014/main" id="{E78B12BD-0F12-240B-F3D0-36BAA4CD0326}"/>
              </a:ext>
            </a:extLst>
          </p:cNvPr>
          <p:cNvGrpSpPr/>
          <p:nvPr/>
        </p:nvGrpSpPr>
        <p:grpSpPr>
          <a:xfrm>
            <a:off x="3392584" y="4086643"/>
            <a:ext cx="3586073" cy="632012"/>
            <a:chOff x="3392584" y="4086643"/>
            <a:chExt cx="3586073" cy="632012"/>
          </a:xfrm>
        </p:grpSpPr>
        <p:pic>
          <p:nvPicPr>
            <p:cNvPr id="122" name="Grafika 121" descr="Mężczyzna kontur">
              <a:extLst>
                <a:ext uri="{FF2B5EF4-FFF2-40B4-BE49-F238E27FC236}">
                  <a16:creationId xmlns:a16="http://schemas.microsoft.com/office/drawing/2014/main" id="{43BEE20F-BB18-064D-EBBA-B2FF8DFAB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46645" y="4086643"/>
              <a:ext cx="632012" cy="632012"/>
            </a:xfrm>
            <a:prstGeom prst="rect">
              <a:avLst/>
            </a:prstGeom>
          </p:spPr>
        </p:pic>
        <p:grpSp>
          <p:nvGrpSpPr>
            <p:cNvPr id="123" name="Grupa 122">
              <a:extLst>
                <a:ext uri="{FF2B5EF4-FFF2-40B4-BE49-F238E27FC236}">
                  <a16:creationId xmlns:a16="http://schemas.microsoft.com/office/drawing/2014/main" id="{5CF2BC68-0A14-2719-0B60-BCC7A660A79C}"/>
                </a:ext>
              </a:extLst>
            </p:cNvPr>
            <p:cNvGrpSpPr/>
            <p:nvPr/>
          </p:nvGrpSpPr>
          <p:grpSpPr>
            <a:xfrm>
              <a:off x="4575925" y="4163762"/>
              <a:ext cx="586764" cy="483284"/>
              <a:chOff x="4114800" y="2027874"/>
              <a:chExt cx="586764" cy="483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pole tekstowe 125">
                    <a:extLst>
                      <a:ext uri="{FF2B5EF4-FFF2-40B4-BE49-F238E27FC236}">
                        <a16:creationId xmlns:a16="http://schemas.microsoft.com/office/drawing/2014/main" id="{9A13E337-5678-CF46-AD67-AB6D0A65C5F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l-P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b="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l-PL" baseline="-25000"/>
                  </a:p>
                </p:txBody>
              </p:sp>
            </mc:Choice>
            <mc:Fallback xmlns="">
              <p:sp>
                <p:nvSpPr>
                  <p:cNvPr id="126" name="pole tekstowe 125">
                    <a:extLst>
                      <a:ext uri="{FF2B5EF4-FFF2-40B4-BE49-F238E27FC236}">
                        <a16:creationId xmlns:a16="http://schemas.microsoft.com/office/drawing/2014/main" id="{9A13E337-5678-CF46-AD67-AB6D0A65C5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2117912"/>
                    <a:ext cx="58676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pl-P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7" name="Ramka 126">
                <a:extLst>
                  <a:ext uri="{FF2B5EF4-FFF2-40B4-BE49-F238E27FC236}">
                    <a16:creationId xmlns:a16="http://schemas.microsoft.com/office/drawing/2014/main" id="{BC33C134-25F7-3642-25FD-11D17D038FC2}"/>
                  </a:ext>
                </a:extLst>
              </p:cNvPr>
              <p:cNvSpPr/>
              <p:nvPr/>
            </p:nvSpPr>
            <p:spPr>
              <a:xfrm>
                <a:off x="4164375" y="2027874"/>
                <a:ext cx="483284" cy="483284"/>
              </a:xfrm>
              <a:prstGeom prst="frame">
                <a:avLst>
                  <a:gd name="adj1" fmla="val 2041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4" name="Łącznik prosty ze strzałką 123">
              <a:extLst>
                <a:ext uri="{FF2B5EF4-FFF2-40B4-BE49-F238E27FC236}">
                  <a16:creationId xmlns:a16="http://schemas.microsoft.com/office/drawing/2014/main" id="{B3B79AD7-42DF-D056-BF88-C5F4A8656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584" y="4385274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Łącznik prosty ze strzałką 124">
              <a:extLst>
                <a:ext uri="{FF2B5EF4-FFF2-40B4-BE49-F238E27FC236}">
                  <a16:creationId xmlns:a16="http://schemas.microsoft.com/office/drawing/2014/main" id="{31EC2C37-910E-36C9-4BDF-3E97AFBEB5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8981" y="4385274"/>
              <a:ext cx="1078681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upa 135">
            <a:extLst>
              <a:ext uri="{FF2B5EF4-FFF2-40B4-BE49-F238E27FC236}">
                <a16:creationId xmlns:a16="http://schemas.microsoft.com/office/drawing/2014/main" id="{ADECEB70-CCC3-D23E-0D68-C9D012A4CB8B}"/>
              </a:ext>
            </a:extLst>
          </p:cNvPr>
          <p:cNvGrpSpPr/>
          <p:nvPr/>
        </p:nvGrpSpPr>
        <p:grpSpPr>
          <a:xfrm>
            <a:off x="6815074" y="3367082"/>
            <a:ext cx="2505818" cy="1153228"/>
            <a:chOff x="6815074" y="3367082"/>
            <a:chExt cx="2505818" cy="1153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A146DE3E-3175-6AF0-E546-4C628DA4B3F5}"/>
                    </a:ext>
                  </a:extLst>
                </p:cNvPr>
                <p:cNvSpPr txBox="1"/>
                <p:nvPr/>
              </p:nvSpPr>
              <p:spPr>
                <a:xfrm>
                  <a:off x="6815075" y="4157326"/>
                  <a:ext cx="1453085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→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l-PL" baseline="-25000"/>
                </a:p>
              </p:txBody>
            </p:sp>
          </mc:Choice>
          <mc:Fallback xmlns="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A146DE3E-3175-6AF0-E546-4C628DA4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075" y="4157326"/>
                  <a:ext cx="1453085" cy="362984"/>
                </a:xfrm>
                <a:prstGeom prst="rect">
                  <a:avLst/>
                </a:prstGeom>
                <a:blipFill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pole tekstowe 12">
                  <a:extLst>
                    <a:ext uri="{FF2B5EF4-FFF2-40B4-BE49-F238E27FC236}">
                      <a16:creationId xmlns:a16="http://schemas.microsoft.com/office/drawing/2014/main" id="{94E2DEAB-ABA1-F65F-9EA6-A397A31EF3DE}"/>
                    </a:ext>
                  </a:extLst>
                </p:cNvPr>
                <p:cNvSpPr txBox="1"/>
                <p:nvPr/>
              </p:nvSpPr>
              <p:spPr>
                <a:xfrm>
                  <a:off x="6815074" y="3367082"/>
                  <a:ext cx="1453085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→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l-PL" baseline="-25000"/>
                </a:p>
              </p:txBody>
            </p:sp>
          </mc:Choice>
          <mc:Fallback xmlns="">
            <p:sp>
              <p:nvSpPr>
                <p:cNvPr id="13" name="pole tekstowe 12">
                  <a:extLst>
                    <a:ext uri="{FF2B5EF4-FFF2-40B4-BE49-F238E27FC236}">
                      <a16:creationId xmlns:a16="http://schemas.microsoft.com/office/drawing/2014/main" id="{94E2DEAB-ABA1-F65F-9EA6-A397A31EF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074" y="3367082"/>
                  <a:ext cx="1453085" cy="362984"/>
                </a:xfrm>
                <a:prstGeom prst="rect">
                  <a:avLst/>
                </a:prstGeom>
                <a:blipFill>
                  <a:blip r:embed="rId11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pole tekstowe 127">
                  <a:extLst>
                    <a:ext uri="{FF2B5EF4-FFF2-40B4-BE49-F238E27FC236}">
                      <a16:creationId xmlns:a16="http://schemas.microsoft.com/office/drawing/2014/main" id="{34482343-0691-CD79-6D47-9159571AE9C7}"/>
                    </a:ext>
                  </a:extLst>
                </p:cNvPr>
                <p:cNvSpPr txBox="1"/>
                <p:nvPr/>
              </p:nvSpPr>
              <p:spPr>
                <a:xfrm>
                  <a:off x="7867807" y="3792831"/>
                  <a:ext cx="1453085" cy="3629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&gt;? </m:t>
                        </m:r>
                        <m:r>
                          <a:rPr lang="pl-PL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pl-PL" b="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l-PL" baseline="-25000"/>
                </a:p>
              </p:txBody>
            </p:sp>
          </mc:Choice>
          <mc:Fallback xmlns="">
            <p:sp>
              <p:nvSpPr>
                <p:cNvPr id="128" name="pole tekstowe 127">
                  <a:extLst>
                    <a:ext uri="{FF2B5EF4-FFF2-40B4-BE49-F238E27FC236}">
                      <a16:creationId xmlns:a16="http://schemas.microsoft.com/office/drawing/2014/main" id="{34482343-0691-CD79-6D47-9159571AE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7807" y="3792831"/>
                  <a:ext cx="1453085" cy="362984"/>
                </a:xfrm>
                <a:prstGeom prst="rect">
                  <a:avLst/>
                </a:prstGeom>
                <a:blipFill>
                  <a:blip r:embed="rId1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Łącznik prosty ze strzałką 129">
              <a:extLst>
                <a:ext uri="{FF2B5EF4-FFF2-40B4-BE49-F238E27FC236}">
                  <a16:creationId xmlns:a16="http://schemas.microsoft.com/office/drawing/2014/main" id="{5E26A0CC-A854-CB55-4CFF-42721C3F77A1}"/>
                </a:ext>
              </a:extLst>
            </p:cNvPr>
            <p:cNvCxnSpPr>
              <a:cxnSpLocks/>
            </p:cNvCxnSpPr>
            <p:nvPr/>
          </p:nvCxnSpPr>
          <p:spPr>
            <a:xfrm>
              <a:off x="7963278" y="3671560"/>
              <a:ext cx="197946" cy="251581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Łącznik prosty ze strzałką 132">
              <a:extLst>
                <a:ext uri="{FF2B5EF4-FFF2-40B4-BE49-F238E27FC236}">
                  <a16:creationId xmlns:a16="http://schemas.microsoft.com/office/drawing/2014/main" id="{566B82F1-1EC6-7C0C-6E75-4D89B1EB9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1349" y="4076570"/>
              <a:ext cx="199875" cy="22757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631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307D70-7AA6-D110-6842-5C0A919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Determine Your KPIs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8BEE4A8-8B04-E1D7-606C-5E7B75027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/>
              <a:t>Must be calculable from historical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/>
              <a:t>Transactions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/>
              <a:t>Communications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/>
              <a:t>External data</a:t>
            </a:r>
          </a:p>
          <a:p>
            <a:endParaRPr lang="pl-PL"/>
          </a:p>
          <a:p>
            <a:r>
              <a:rPr lang="pl-PL"/>
              <a:t>Should meet the characteristics of OEC (Overall Evaluation Criterion) &gt; </a:t>
            </a:r>
            <a:r>
              <a:rPr lang="pl-PL" i="1"/>
              <a:t>Trustworthy online Controlled Experiments, </a:t>
            </a:r>
            <a:r>
              <a:rPr lang="pl-PL"/>
              <a:t>Kohavi et al.</a:t>
            </a:r>
          </a:p>
          <a:p>
            <a:endParaRPr lang="pl-PL"/>
          </a:p>
          <a:p>
            <a:endParaRPr lang="pl-PL" sz="800"/>
          </a:p>
          <a:p>
            <a:endParaRPr lang="pl-PL" sz="800"/>
          </a:p>
          <a:p>
            <a:endParaRPr lang="pl-PL" sz="800"/>
          </a:p>
          <a:p>
            <a:endParaRPr lang="pl-PL" sz="800"/>
          </a:p>
          <a:p>
            <a:endParaRPr lang="pl-PL" sz="800"/>
          </a:p>
          <a:p>
            <a:r>
              <a:rPr lang="pl-PL" sz="800"/>
              <a:t>Do you know </a:t>
            </a:r>
            <a:r>
              <a:rPr lang="pl-PL" sz="800" i="1"/>
              <a:t>Pirate Metrics?</a:t>
            </a:r>
          </a:p>
          <a:p>
            <a:r>
              <a:rPr lang="pl-PL" sz="800"/>
              <a:t>You can also check e.g. https://startupdevkit.com/types-of-startup-kpis-metrics-to-measure-with-examples/</a:t>
            </a:r>
          </a:p>
          <a:p>
            <a:endParaRPr lang="pl-PL"/>
          </a:p>
          <a:p>
            <a:pPr marL="0" indent="0">
              <a:buNone/>
            </a:pPr>
            <a:endParaRPr lang="pl-PL"/>
          </a:p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FF620EC-F364-0F0E-2A67-584EFBB2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69666"/>
            <a:ext cx="4324934" cy="242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04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307D70-7AA6-D110-6842-5C0A919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Design and run the experiments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8C570AE-56BF-720F-7F44-F0472C27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/>
              <a:t>There are, typically, two types of KPIs:</a:t>
            </a:r>
          </a:p>
          <a:p>
            <a:r>
              <a:rPr lang="pl-PL"/>
              <a:t>- „binary”: </a:t>
            </a:r>
            <a:r>
              <a:rPr lang="pl-PL" i="1"/>
              <a:t>bought/didn’t buy; clicked/didn’t click, …</a:t>
            </a:r>
          </a:p>
          <a:p>
            <a:r>
              <a:rPr lang="pl-PL"/>
              <a:t>- „numerical”: </a:t>
            </a:r>
            <a:r>
              <a:rPr lang="pl-PL" i="1"/>
              <a:t>how much? how many?</a:t>
            </a:r>
          </a:p>
          <a:p>
            <a:endParaRPr lang="pl-PL" i="1"/>
          </a:p>
          <a:p>
            <a:r>
              <a:rPr lang="pl-PL"/>
              <a:t>Your decisions:</a:t>
            </a:r>
          </a:p>
          <a:p>
            <a:pPr marL="228600" indent="-228600">
              <a:buAutoNum type="arabicPeriod"/>
            </a:pPr>
            <a:r>
              <a:rPr lang="pl-PL"/>
              <a:t>How do we measure the success?</a:t>
            </a:r>
            <a:br>
              <a:rPr lang="pl-PL"/>
            </a:br>
            <a:endParaRPr lang="pl-PL"/>
          </a:p>
          <a:p>
            <a:pPr marL="228600" indent="-228600">
              <a:buAutoNum type="arabicPeriod"/>
            </a:pPr>
            <a:r>
              <a:rPr lang="pl-PL"/>
              <a:t>What is the change we suppose to achieve?</a:t>
            </a:r>
            <a:br>
              <a:rPr lang="pl-PL"/>
            </a:br>
            <a:r>
              <a:rPr lang="pl-PL" i="1"/>
              <a:t>e.g. 2% increase in CTR; 10% increase of mean sales</a:t>
            </a:r>
            <a:br>
              <a:rPr lang="pl-PL" i="1"/>
            </a:br>
            <a:endParaRPr lang="pl-PL" i="1"/>
          </a:p>
          <a:p>
            <a:pPr marL="228600" indent="-228600">
              <a:buAutoNum type="arabicPeriod"/>
            </a:pPr>
            <a:r>
              <a:rPr lang="pl-PL"/>
              <a:t>How confident we want to be about the change?</a:t>
            </a:r>
          </a:p>
          <a:p>
            <a:r>
              <a:rPr lang="pl-PL" i="1"/>
              <a:t>Confidence level? Statistical power?</a:t>
            </a:r>
          </a:p>
          <a:p>
            <a:endParaRPr lang="pl-PL"/>
          </a:p>
          <a:p>
            <a:endParaRPr lang="pl-PL"/>
          </a:p>
          <a:p>
            <a:r>
              <a:rPr lang="pl-PL"/>
              <a:t>You can get suport from online calculators, or ChatGPT...</a:t>
            </a:r>
          </a:p>
        </p:txBody>
      </p:sp>
      <p:pic>
        <p:nvPicPr>
          <p:cNvPr id="3" name="Obraz 2">
            <a:hlinkClick r:id="rId2"/>
            <a:extLst>
              <a:ext uri="{FF2B5EF4-FFF2-40B4-BE49-F238E27FC236}">
                <a16:creationId xmlns:a16="http://schemas.microsoft.com/office/drawing/2014/main" id="{8193CA8A-FBBE-7F92-8784-06DA72CB7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75" y="801886"/>
            <a:ext cx="4822737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62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307D70-7AA6-D110-6842-5C0A919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Iterate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8C570AE-56BF-720F-7F44-F0472C27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/>
              <a:t>And never stop…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96FB148-74A6-FB7C-D14C-DD744D857F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792183"/>
              </p:ext>
            </p:extLst>
          </p:nvPr>
        </p:nvGraphicFramePr>
        <p:xfrm>
          <a:off x="2621091" y="1076325"/>
          <a:ext cx="6522909" cy="3148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6795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Over time, the model becomes obsolete</a:t>
            </a:r>
            <a:br>
              <a:rPr lang="pl-PL" sz="2800"/>
            </a:br>
            <a:r>
              <a:rPr lang="pl-PL" sz="2800"/>
              <a:t>in such a case it needs to be re-trained</a:t>
            </a:r>
          </a:p>
        </p:txBody>
      </p:sp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34C08C29-E665-92C3-B411-86F0AD3E7A1F}"/>
              </a:ext>
            </a:extLst>
          </p:cNvPr>
          <p:cNvCxnSpPr>
            <a:cxnSpLocks/>
          </p:cNvCxnSpPr>
          <p:nvPr/>
        </p:nvCxnSpPr>
        <p:spPr>
          <a:xfrm flipV="1">
            <a:off x="3313894" y="1579250"/>
            <a:ext cx="0" cy="23444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6C965FBF-DEDA-1498-FE4E-0620A44DF52D}"/>
              </a:ext>
            </a:extLst>
          </p:cNvPr>
          <p:cNvCxnSpPr>
            <a:cxnSpLocks/>
          </p:cNvCxnSpPr>
          <p:nvPr/>
        </p:nvCxnSpPr>
        <p:spPr>
          <a:xfrm>
            <a:off x="3313894" y="3923658"/>
            <a:ext cx="359831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3C5AF4A-429D-8A07-F2AA-1BCD5FF4F773}"/>
              </a:ext>
            </a:extLst>
          </p:cNvPr>
          <p:cNvSpPr txBox="1"/>
          <p:nvPr/>
        </p:nvSpPr>
        <p:spPr>
          <a:xfrm>
            <a:off x="2721377" y="1613271"/>
            <a:ext cx="6078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B9DEE5B7-61DD-4EBF-9DB6-7F761002CB8D}"/>
              </a:ext>
            </a:extLst>
          </p:cNvPr>
          <p:cNvSpPr/>
          <p:nvPr/>
        </p:nvSpPr>
        <p:spPr>
          <a:xfrm>
            <a:off x="3625590" y="1989197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91D9C782-5C39-3058-50DE-7A77FB6ED43C}"/>
              </a:ext>
            </a:extLst>
          </p:cNvPr>
          <p:cNvSpPr/>
          <p:nvPr/>
        </p:nvSpPr>
        <p:spPr>
          <a:xfrm>
            <a:off x="4101189" y="2452783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F41F432F-28BB-410B-2EFE-5F002C1C3ABE}"/>
              </a:ext>
            </a:extLst>
          </p:cNvPr>
          <p:cNvSpPr/>
          <p:nvPr/>
        </p:nvSpPr>
        <p:spPr>
          <a:xfrm>
            <a:off x="4645228" y="2176737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Owal 9">
            <a:extLst>
              <a:ext uri="{FF2B5EF4-FFF2-40B4-BE49-F238E27FC236}">
                <a16:creationId xmlns:a16="http://schemas.microsoft.com/office/drawing/2014/main" id="{02EB8A62-2DF0-DBB5-C447-64C5D0CC6B1F}"/>
              </a:ext>
            </a:extLst>
          </p:cNvPr>
          <p:cNvSpPr/>
          <p:nvPr/>
        </p:nvSpPr>
        <p:spPr>
          <a:xfrm>
            <a:off x="5189267" y="2405337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1AC46A3C-478B-A81C-7296-E7E67BA99A0D}"/>
              </a:ext>
            </a:extLst>
          </p:cNvPr>
          <p:cNvSpPr/>
          <p:nvPr/>
        </p:nvSpPr>
        <p:spPr>
          <a:xfrm>
            <a:off x="5738986" y="2459999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FD9ABF65-7DDA-79F6-FD27-2D35EDF49932}"/>
              </a:ext>
            </a:extLst>
          </p:cNvPr>
          <p:cNvSpPr/>
          <p:nvPr/>
        </p:nvSpPr>
        <p:spPr>
          <a:xfrm>
            <a:off x="6368217" y="3334316"/>
            <a:ext cx="81951" cy="81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FDA70493-F483-747F-60A5-61362450B3AC}"/>
              </a:ext>
            </a:extLst>
          </p:cNvPr>
          <p:cNvGrpSpPr/>
          <p:nvPr/>
        </p:nvGrpSpPr>
        <p:grpSpPr>
          <a:xfrm>
            <a:off x="2841673" y="2893197"/>
            <a:ext cx="4050101" cy="184666"/>
            <a:chOff x="3600062" y="2743142"/>
            <a:chExt cx="5025153" cy="184666"/>
          </a:xfrm>
        </p:grpSpPr>
        <p:cxnSp>
          <p:nvCxnSpPr>
            <p:cNvPr id="14" name="Łącznik prosty ze strzałką 13">
              <a:extLst>
                <a:ext uri="{FF2B5EF4-FFF2-40B4-BE49-F238E27FC236}">
                  <a16:creationId xmlns:a16="http://schemas.microsoft.com/office/drawing/2014/main" id="{F52BFB7B-1235-D723-776A-E6B77F4D1805}"/>
                </a:ext>
              </a:extLst>
            </p:cNvPr>
            <p:cNvCxnSpPr>
              <a:cxnSpLocks/>
            </p:cNvCxnSpPr>
            <p:nvPr/>
          </p:nvCxnSpPr>
          <p:spPr>
            <a:xfrm>
              <a:off x="4187000" y="2840772"/>
              <a:ext cx="4438215" cy="0"/>
            </a:xfrm>
            <a:prstGeom prst="straightConnector1">
              <a:avLst/>
            </a:prstGeom>
            <a:ln w="6985">
              <a:solidFill>
                <a:srgbClr val="C00000"/>
              </a:solidFill>
              <a:prstDash val="dash"/>
              <a:headEnd w="sm" len="med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DEB51D63-902C-D6CA-74E6-53B0C9B4CD68}"/>
                </a:ext>
              </a:extLst>
            </p:cNvPr>
            <p:cNvSpPr txBox="1"/>
            <p:nvPr/>
          </p:nvSpPr>
          <p:spPr>
            <a:xfrm>
              <a:off x="3600062" y="2743142"/>
              <a:ext cx="49166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600">
                  <a:latin typeface="Arial" panose="020B0604020202020204" pitchFamily="34" charset="0"/>
                  <a:cs typeface="Arial" panose="020B0604020202020204" pitchFamily="34" charset="0"/>
                </a:rPr>
                <a:t>Acc</a:t>
              </a:r>
              <a:r>
                <a:rPr lang="pl-PL" sz="600" baseline="-25000"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endParaRPr lang="pl-PL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76F1B53-39B2-F799-8CAF-0B6BD83F29C0}"/>
              </a:ext>
            </a:extLst>
          </p:cNvPr>
          <p:cNvSpPr txBox="1"/>
          <p:nvPr/>
        </p:nvSpPr>
        <p:spPr>
          <a:xfrm>
            <a:off x="6693643" y="4060607"/>
            <a:ext cx="3609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">
                <a:latin typeface="Arial" panose="020B0604020202020204" pitchFamily="34" charset="0"/>
                <a:cs typeface="Arial" panose="020B0604020202020204" pitchFamily="34" charset="0"/>
              </a:rPr>
              <a:t>Czas</a:t>
            </a:r>
          </a:p>
        </p:txBody>
      </p:sp>
    </p:spTree>
    <p:extLst>
      <p:ext uri="{BB962C8B-B14F-4D97-AF65-F5344CB8AC3E}">
        <p14:creationId xmlns:p14="http://schemas.microsoft.com/office/powerpoint/2010/main" val="62549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1BCED-BA0A-D39E-82FC-9C95D422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/>
              <a:t>Business rules may also become outdated</a:t>
            </a:r>
          </a:p>
        </p:txBody>
      </p:sp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34C08C29-E665-92C3-B411-86F0AD3E7A1F}"/>
              </a:ext>
            </a:extLst>
          </p:cNvPr>
          <p:cNvCxnSpPr>
            <a:cxnSpLocks/>
          </p:cNvCxnSpPr>
          <p:nvPr/>
        </p:nvCxnSpPr>
        <p:spPr>
          <a:xfrm flipV="1">
            <a:off x="4425241" y="1593317"/>
            <a:ext cx="0" cy="234440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6C965FBF-DEDA-1498-FE4E-0620A44DF52D}"/>
              </a:ext>
            </a:extLst>
          </p:cNvPr>
          <p:cNvCxnSpPr>
            <a:cxnSpLocks/>
          </p:cNvCxnSpPr>
          <p:nvPr/>
        </p:nvCxnSpPr>
        <p:spPr>
          <a:xfrm>
            <a:off x="4425241" y="3937725"/>
            <a:ext cx="359831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3C5AF4A-429D-8A07-F2AA-1BCD5FF4F773}"/>
              </a:ext>
            </a:extLst>
          </p:cNvPr>
          <p:cNvSpPr txBox="1"/>
          <p:nvPr/>
        </p:nvSpPr>
        <p:spPr>
          <a:xfrm>
            <a:off x="3832724" y="1627338"/>
            <a:ext cx="3577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800">
                <a:latin typeface="Arial" panose="020B0604020202020204" pitchFamily="34" charset="0"/>
                <a:cs typeface="Arial" panose="020B0604020202020204" pitchFamily="34" charset="0"/>
              </a:rPr>
              <a:t>???</a:t>
            </a:r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B9DEE5B7-61DD-4EBF-9DB6-7F761002CB8D}"/>
              </a:ext>
            </a:extLst>
          </p:cNvPr>
          <p:cNvSpPr/>
          <p:nvPr/>
        </p:nvSpPr>
        <p:spPr>
          <a:xfrm>
            <a:off x="4736937" y="2003264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91D9C782-5C39-3058-50DE-7A77FB6ED43C}"/>
              </a:ext>
            </a:extLst>
          </p:cNvPr>
          <p:cNvSpPr/>
          <p:nvPr/>
        </p:nvSpPr>
        <p:spPr>
          <a:xfrm>
            <a:off x="5212536" y="2466850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F41F432F-28BB-410B-2EFE-5F002C1C3ABE}"/>
              </a:ext>
            </a:extLst>
          </p:cNvPr>
          <p:cNvSpPr/>
          <p:nvPr/>
        </p:nvSpPr>
        <p:spPr>
          <a:xfrm>
            <a:off x="5756575" y="2190804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Owal 9">
            <a:extLst>
              <a:ext uri="{FF2B5EF4-FFF2-40B4-BE49-F238E27FC236}">
                <a16:creationId xmlns:a16="http://schemas.microsoft.com/office/drawing/2014/main" id="{02EB8A62-2DF0-DBB5-C447-64C5D0CC6B1F}"/>
              </a:ext>
            </a:extLst>
          </p:cNvPr>
          <p:cNvSpPr/>
          <p:nvPr/>
        </p:nvSpPr>
        <p:spPr>
          <a:xfrm>
            <a:off x="6300614" y="2419404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1AC46A3C-478B-A81C-7296-E7E67BA99A0D}"/>
              </a:ext>
            </a:extLst>
          </p:cNvPr>
          <p:cNvSpPr/>
          <p:nvPr/>
        </p:nvSpPr>
        <p:spPr>
          <a:xfrm>
            <a:off x="6850333" y="2474066"/>
            <a:ext cx="81951" cy="819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FD9ABF65-7DDA-79F6-FD27-2D35EDF49932}"/>
              </a:ext>
            </a:extLst>
          </p:cNvPr>
          <p:cNvSpPr/>
          <p:nvPr/>
        </p:nvSpPr>
        <p:spPr>
          <a:xfrm>
            <a:off x="7479564" y="3348383"/>
            <a:ext cx="81951" cy="8195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FDA70493-F483-747F-60A5-61362450B3AC}"/>
              </a:ext>
            </a:extLst>
          </p:cNvPr>
          <p:cNvGrpSpPr/>
          <p:nvPr/>
        </p:nvGrpSpPr>
        <p:grpSpPr>
          <a:xfrm>
            <a:off x="3953020" y="2907264"/>
            <a:ext cx="4050101" cy="184666"/>
            <a:chOff x="3600062" y="2743142"/>
            <a:chExt cx="5025153" cy="184666"/>
          </a:xfrm>
        </p:grpSpPr>
        <p:cxnSp>
          <p:nvCxnSpPr>
            <p:cNvPr id="14" name="Łącznik prosty ze strzałką 13">
              <a:extLst>
                <a:ext uri="{FF2B5EF4-FFF2-40B4-BE49-F238E27FC236}">
                  <a16:creationId xmlns:a16="http://schemas.microsoft.com/office/drawing/2014/main" id="{F52BFB7B-1235-D723-776A-E6B77F4D1805}"/>
                </a:ext>
              </a:extLst>
            </p:cNvPr>
            <p:cNvCxnSpPr>
              <a:cxnSpLocks/>
            </p:cNvCxnSpPr>
            <p:nvPr/>
          </p:nvCxnSpPr>
          <p:spPr>
            <a:xfrm>
              <a:off x="4187000" y="2840772"/>
              <a:ext cx="4438215" cy="0"/>
            </a:xfrm>
            <a:prstGeom prst="straightConnector1">
              <a:avLst/>
            </a:prstGeom>
            <a:ln w="6985">
              <a:solidFill>
                <a:srgbClr val="C00000"/>
              </a:solidFill>
              <a:prstDash val="dash"/>
              <a:headEnd w="sm" len="med"/>
              <a:tailEnd type="non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DEB51D63-902C-D6CA-74E6-53B0C9B4CD68}"/>
                </a:ext>
              </a:extLst>
            </p:cNvPr>
            <p:cNvSpPr txBox="1"/>
            <p:nvPr/>
          </p:nvSpPr>
          <p:spPr>
            <a:xfrm>
              <a:off x="3600062" y="2743142"/>
              <a:ext cx="49365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600">
                  <a:latin typeface="Arial" panose="020B0604020202020204" pitchFamily="34" charset="0"/>
                  <a:cs typeface="Arial" panose="020B0604020202020204" pitchFamily="34" charset="0"/>
                </a:rPr>
                <a:t>???</a:t>
              </a:r>
              <a:r>
                <a:rPr lang="pl-PL" sz="600" baseline="-25000"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endParaRPr lang="pl-PL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76F1B53-39B2-F799-8CAF-0B6BD83F29C0}"/>
              </a:ext>
            </a:extLst>
          </p:cNvPr>
          <p:cNvSpPr txBox="1"/>
          <p:nvPr/>
        </p:nvSpPr>
        <p:spPr>
          <a:xfrm>
            <a:off x="7804990" y="4074674"/>
            <a:ext cx="3609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600">
                <a:latin typeface="Arial" panose="020B0604020202020204" pitchFamily="34" charset="0"/>
                <a:cs typeface="Arial" panose="020B0604020202020204" pitchFamily="34" charset="0"/>
              </a:rPr>
              <a:t>Czas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F314411B-22BC-8B0C-A0EA-FD59237DB8D1}"/>
              </a:ext>
            </a:extLst>
          </p:cNvPr>
          <p:cNvSpPr txBox="1"/>
          <p:nvPr/>
        </p:nvSpPr>
        <p:spPr>
          <a:xfrm>
            <a:off x="3413760" y="4463296"/>
            <a:ext cx="220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>
                <a:solidFill>
                  <a:srgbClr val="C00000"/>
                </a:solidFill>
                <a:latin typeface="+mn-lt"/>
              </a:rPr>
              <a:t>But how to check it?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8F9982B3-E536-B640-8675-FC47972A3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48" y="2044239"/>
            <a:ext cx="1981686" cy="156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307D70-7AA6-D110-6842-5C0A919E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Costs?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8C570AE-56BF-720F-7F44-F0472C27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/>
              <a:t>After some time Your products will be close to perfection</a:t>
            </a:r>
          </a:p>
          <a:p>
            <a:endParaRPr lang="pl-PL"/>
          </a:p>
          <a:p>
            <a:r>
              <a:rPr lang="pl-PL"/>
              <a:t>That means that even 90% of Your new ideas will be worse than Your </a:t>
            </a:r>
            <a:r>
              <a:rPr lang="pl-PL" i="1"/>
              <a:t>current way of doing things.</a:t>
            </a:r>
          </a:p>
          <a:p>
            <a:endParaRPr lang="pl-PL" i="1"/>
          </a:p>
          <a:p>
            <a:r>
              <a:rPr lang="pl-PL"/>
              <a:t>In that case, Your main cost of running experiments will be Your customers (un)satisfaction with worse products (</a:t>
            </a:r>
            <a:r>
              <a:rPr lang="pl-PL" i="1"/>
              <a:t>new way </a:t>
            </a:r>
            <a:r>
              <a:rPr lang="pl-PL"/>
              <a:t>will be worse than </a:t>
            </a:r>
            <a:r>
              <a:rPr lang="pl-PL" i="1"/>
              <a:t>old way</a:t>
            </a:r>
            <a:r>
              <a:rPr lang="pl-PL"/>
              <a:t>).</a:t>
            </a:r>
          </a:p>
          <a:p>
            <a:endParaRPr lang="pl-PL"/>
          </a:p>
          <a:p>
            <a:r>
              <a:rPr lang="pl-PL"/>
              <a:t>What to do?</a:t>
            </a:r>
          </a:p>
          <a:p>
            <a:endParaRPr lang="pl-PL"/>
          </a:p>
          <a:p>
            <a:r>
              <a:rPr lang="pl-PL"/>
              <a:t>Optimize Your experiments. </a:t>
            </a:r>
          </a:p>
          <a:p>
            <a:r>
              <a:rPr lang="pl-PL" i="1"/>
              <a:t>Thompson Sampling, Reinforcement Learning, etc.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9A0EEC8-41EC-D831-7634-E0986AC7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934" y="716158"/>
            <a:ext cx="3008117" cy="387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969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5B0F3E1B-4831-904A-8BC2-157256303858}" vid="{70C755EA-EA7D-B845-BB03-4F149B639B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407</TotalTime>
  <Words>861</Words>
  <Application>Microsoft Macintosh PowerPoint</Application>
  <PresentationFormat>Pokaz na ekranie (16:9)</PresentationFormat>
  <Paragraphs>202</Paragraphs>
  <Slides>30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7" baseType="lpstr">
      <vt:lpstr>Arial</vt:lpstr>
      <vt:lpstr>Cambria Math</vt:lpstr>
      <vt:lpstr>Franklin Gothic Book</vt:lpstr>
      <vt:lpstr>Helvetica Neue</vt:lpstr>
      <vt:lpstr>Helvetica Neue Condensed</vt:lpstr>
      <vt:lpstr>Trebuchet MS</vt:lpstr>
      <vt:lpstr>Default Theme</vt:lpstr>
      <vt:lpstr>Experiment Design</vt:lpstr>
      <vt:lpstr>There are many strategies for dealing with customers</vt:lpstr>
      <vt:lpstr>Strategy = assignment of an action to a state</vt:lpstr>
      <vt:lpstr>S : possible states</vt:lpstr>
      <vt:lpstr>a : possible actions</vt:lpstr>
      <vt:lpstr>We design a new way of doing things</vt:lpstr>
      <vt:lpstr>Our system recommends action a based on the state of the customer S</vt:lpstr>
      <vt:lpstr>Its operation usually boils down to data transformation and application of business rules</vt:lpstr>
      <vt:lpstr>Example models</vt:lpstr>
      <vt:lpstr>Example rules</vt:lpstr>
      <vt:lpstr>Models</vt:lpstr>
      <vt:lpstr>The model is just one of several components of the recommendation engine</vt:lpstr>
      <vt:lpstr>It is trained and evaluated on historical data</vt:lpstr>
      <vt:lpstr>Requires a precise definition of the dependent variable...  What do we want to predict?</vt:lpstr>
      <vt:lpstr>… and the selection and engineering of features</vt:lpstr>
      <vt:lpstr>As a result of training, we get many models.  We choose the best one using some statistical measures</vt:lpstr>
      <vt:lpstr>But model is only a part of the whole story</vt:lpstr>
      <vt:lpstr>The strategy generates only  a recommendation for action....</vt:lpstr>
      <vt:lpstr>This recommendation should be implemented, and information about the implementation transferred to the system</vt:lpstr>
      <vt:lpstr>Prezentacja programu PowerPoint</vt:lpstr>
      <vt:lpstr>OK. But how to check if it really works?</vt:lpstr>
      <vt:lpstr>How to check if the change is REALLY for good?</vt:lpstr>
      <vt:lpstr>First, we need to define the success…</vt:lpstr>
      <vt:lpstr>Next, design, run, and evaluate the experiment</vt:lpstr>
      <vt:lpstr>Determine Your KPIs</vt:lpstr>
      <vt:lpstr>Design and run the experiments</vt:lpstr>
      <vt:lpstr>Iterate</vt:lpstr>
      <vt:lpstr>Over time, the model becomes obsolete in such a case it needs to be re-trained</vt:lpstr>
      <vt:lpstr>Business rules may also become outdated</vt:lpstr>
      <vt:lpstr>Costs?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Uczenie Maszynowe w CRM</dc:title>
  <dc:creator>Wodecki Andrzej</dc:creator>
  <cp:lastModifiedBy>Andrzej Wodecki</cp:lastModifiedBy>
  <cp:revision>51</cp:revision>
  <dcterms:created xsi:type="dcterms:W3CDTF">2023-01-16T07:42:43Z</dcterms:created>
  <dcterms:modified xsi:type="dcterms:W3CDTF">2025-11-21T12:04:30Z</dcterms:modified>
</cp:coreProperties>
</file>